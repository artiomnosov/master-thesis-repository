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embeddedFontLst>
    <p:embeddedFont>
      <p:font typeface="Arial Black" panose="020B0A04020102020204" pitchFamily="34" charset="0"/>
      <p:regular r:id="rId23"/>
      <p:bold r:id="rId24"/>
    </p:embeddedFont>
    <p:embeddedFont>
      <p:font typeface="Roboto Mono" panose="00000009000000000000" pitchFamily="49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h8/6FgH6baeAMsTcsN+n++Cew/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DB8C37-9DD7-4D3C-9DAE-6CFC98C3CE59}">
  <a:tblStyle styleId="{EEDB8C37-9DD7-4D3C-9DAE-6CFC98C3CE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7097C21-5E8D-44ED-B5D9-4BA08D20CD4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53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0" y="14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Добрый день, уважаемые члены комиссии. Меня зовут Носов Артём Иванович. Доклад посвящен итогам производственной практики: разработке и отладке интеллектуального модуля ранжирования кандидатов для ATS.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8" name="Google Shape;1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-RU"/>
              <a:t>Актуальность работы связана с тем, что рекрутерам всё сложнее вручную обрабатывать большой поток откликов, поэтому нужны точные и справедливые инструменты автоматического сопоставления вакансий и резюме. На слайде представлены примеры таких систем, уже применяемых в индустрии для автоматизации оценки, поиска и подбора кандидатов.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75" name="Google Shape;1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/>
              <a:t>Целью данной работы является разработка и внедрение интеллектуального модуля ранжирования кандидатов на основе семантического анализа резюме и вакансий в систему автоматизированного подбора персонала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Были выполнены задачи: анализ области, выбор моделей, подготовка данных, разработка модуля ранжирования и оценка его качества. </a:t>
            </a:r>
            <a:endParaRPr/>
          </a:p>
        </p:txBody>
      </p:sp>
      <p:sp>
        <p:nvSpPr>
          <p:cNvPr id="198" name="Google Shape;1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Здесь показано основное узкое место подбора — первичный скрининг кандидатов. Именно на этом этапе рекрутеру приходится вручную просматривать большой поток откликов, и с ростом числа кандидатов трудозатраты растут линейно</a:t>
            </a:r>
            <a:endParaRPr/>
          </a:p>
        </p:txBody>
      </p:sp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каждому резюме для конкретной вакансии присваивается оценка релевантности, после чего кандидаты ранжируются по этой оценке и выбираются лучшие </a:t>
            </a:r>
            <a:endParaRPr/>
          </a:p>
        </p:txBody>
      </p:sp>
      <p:sp>
        <p:nvSpPr>
          <p:cNvPr id="212" name="Google Shape;2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на слайде архитектура системы в нотации C4 – на следующем слайде посморим именно разрабатываемую в данной работе часть</a:t>
            </a: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Я рассматривал четыре класса методов. TF-IDF и BM25 быстрые, но не учитывают смысл. Word2Vec даёт частичную семантику, но качество недостаточное для HR-задачи. Cross-encoder — полноценный BERT, который обрабатывает пару «вакансия + резюме» совместно — даёт высокое качество, но при базе в тысячу резюме требует тысячи обращений к модели на каждый запрос, что неприемлемо по скорости. Bi-encoder решает эту проблему: вакансия и резюме кодируются независимо, резюме индексируются один раз, а ранжирование — это просто косинусное сходство между векторами, что занимает миллисекунды. В качестве базовой модели я выбрал </a:t>
            </a:r>
            <a:r>
              <a:rPr lang="ru-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rubert-tiny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— это лёгкая русскоязычная модель на 29 миллионов параметров, которая разворачивается на обычном CPU-сервере без GPU</a:t>
            </a: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ru-RU"/>
              <a:t>Данные получены из агрегатора вакансий. Объём сырых данных — около 17 гигабайт резюме и 44 гигабайта вакансий. Разметка построена на основе реальных HR-событий: если рекрутер пригласил кандидата по данной вакансии — это позитивная пара, отказ — негативная. Перед обучением я провёл предобработку: маскирование персональных данных, нормализацию текста, формирование сплитов. Обучение проводилось с функцией потерь ContrastiveLoss (</a:t>
            </a:r>
            <a:r>
              <a:rPr lang="ru-RU" sz="1100" b="1">
                <a:latin typeface="Arial"/>
                <a:ea typeface="Arial"/>
                <a:cs typeface="Arial"/>
                <a:sym typeface="Arial"/>
              </a:rPr>
              <a:t>подходящие пары имели близкие векторы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, а </a:t>
            </a:r>
            <a:r>
              <a:rPr lang="ru-RU" sz="1100" b="1">
                <a:latin typeface="Arial"/>
                <a:ea typeface="Arial"/>
                <a:cs typeface="Arial"/>
                <a:sym typeface="Arial"/>
              </a:rPr>
              <a:t>неподходящие — далёкие векторы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/>
              <a:t>) — она учит модель сближать эмбеддинги релевантных пар и разводить нерелевантные. Уже после первой эпохи Average Precision вырос с 26 процентов до 89 процентов. После трёх эпох модель достигает средняя точность  = 98 процентов</a:t>
            </a: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Оценка проводилась по двум задачам. Первая — бинарная классификация: нужно отличить релевантное резюме от нерелевантного. Baseline — это та же модель до fine-tuning: Average Precision всего 26 процентов, то есть модель практически случайная. После обучения точность = 98 процентов, F1 = 96 процентов. Вторая задача — ранжирование: для каждой вакансии дан набор кандидатов, нужно поставить релевантного на первое место. Результат — NDCG@1 равен 1.0 (</a:t>
            </a:r>
            <a:r>
              <a:rPr lang="ru-RU" sz="1100" i="1">
                <a:latin typeface="Arial"/>
                <a:ea typeface="Arial"/>
                <a:cs typeface="Arial"/>
                <a:sym typeface="Arial"/>
              </a:rPr>
              <a:t>Normalized Discounted Cumulative Gain at 1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, по-русски: </a:t>
            </a:r>
            <a:r>
              <a:rPr lang="ru-RU" sz="1100" b="1">
                <a:latin typeface="Arial"/>
                <a:ea typeface="Arial"/>
                <a:cs typeface="Arial"/>
                <a:sym typeface="Arial"/>
              </a:rPr>
              <a:t>нормализованная дисконтированная кумулятивная выгода на первой позиции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ru-RU"/>
              <a:t>), MRR равен 1.0 (</a:t>
            </a:r>
            <a:r>
              <a:rPr lang="ru-RU" sz="1100" i="1">
                <a:latin typeface="Arial"/>
                <a:ea typeface="Arial"/>
                <a:cs typeface="Arial"/>
                <a:sym typeface="Arial"/>
              </a:rPr>
              <a:t>Mean Reciprocal Rank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, по-русски: </a:t>
            </a:r>
            <a:r>
              <a:rPr lang="ru-RU" sz="1100" b="1">
                <a:latin typeface="Arial"/>
                <a:ea typeface="Arial"/>
                <a:cs typeface="Arial"/>
                <a:sym typeface="Arial"/>
              </a:rPr>
              <a:t>средний обратный ранг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ru-RU"/>
              <a:t>). Это означает, что во всех тестовых случаях модель поставила правильного кандидата на первое место.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В работе реализован и интегрирован в систему подбора персонала модуль семантического ранжирования кандидатов. После дообучения качество модели существенно выросло, что позволяет ускорить первичный скрининг и сократить затраты на LLM-скоринг.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ru-RU"/>
              <a:t>Дальше планируется масштабирование через Vector DB и приближённый поиск ближайших соседей (ANN), добавление Learning-to-Rank, а также развитие объяснимости результатов модели , справедливости и дообучение на новых данных</a:t>
            </a:r>
            <a:endParaRPr/>
          </a:p>
        </p:txBody>
      </p:sp>
      <p:sp>
        <p:nvSpPr>
          <p:cNvPr id="269" name="Google Shape;2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ef068bf5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ef068bf5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def068bf5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ef068bf5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def068bf5d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3def068bf5d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ef068bf5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def068bf5d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def068bf5d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ef068bf5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def068bf5d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3def068bf5d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ef068bf5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ef068bf5d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3def068bf5d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ef068bf5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def068bf5d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def068bf5d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1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51" name="Google Shape;51;p21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>
            <a:spLocks noGrp="1"/>
          </p:cNvSpPr>
          <p:nvPr>
            <p:ph type="title"/>
          </p:nvPr>
        </p:nvSpPr>
        <p:spPr>
          <a:xfrm>
            <a:off x="1499294" y="3435698"/>
            <a:ext cx="9144001" cy="105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/>
          <p:nvPr/>
        </p:nvSpPr>
        <p:spPr>
          <a:xfrm>
            <a:off x="239349" y="1132515"/>
            <a:ext cx="11952651" cy="147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ИНСТИТУТ ИНТЕЛЛЕКТУАЛЬНЫХ КИБЕРНЕТИЧЕСКИХ СИСТЕМ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КАФЕДРА КИБЕРНЕТИКИ (№ 22)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НАПРАВЛЕНИЕ ПОДГОТОВКИ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" name="Google Shape;55;p22"/>
          <p:cNvGraphicFramePr/>
          <p:nvPr/>
        </p:nvGraphicFramePr>
        <p:xfrm>
          <a:off x="6341333" y="4581951"/>
          <a:ext cx="5796625" cy="1164225"/>
        </p:xfrm>
        <a:graphic>
          <a:graphicData uri="http://schemas.openxmlformats.org/drawingml/2006/table">
            <a:tbl>
              <a:tblPr firstRow="1" bandRow="1">
                <a:noFill/>
                <a:tableStyleId>{EEDB8C37-9DD7-4D3C-9DAE-6CFC98C3CE59}</a:tableStyleId>
              </a:tblPr>
              <a:tblGrid>
                <a:gridCol w="306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Студент: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Группа: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Научный руководитель: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Google Shape;56;p22"/>
          <p:cNvSpPr txBox="1"/>
          <p:nvPr/>
        </p:nvSpPr>
        <p:spPr>
          <a:xfrm>
            <a:off x="3316581" y="2883132"/>
            <a:ext cx="52485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Учебно-исследовательская работа на тему: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2"/>
          <p:cNvSpPr txBox="1"/>
          <p:nvPr/>
        </p:nvSpPr>
        <p:spPr>
          <a:xfrm>
            <a:off x="5261024" y="6232783"/>
            <a:ext cx="13596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Москва, 2025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2"/>
          <p:cNvSpPr/>
          <p:nvPr/>
        </p:nvSpPr>
        <p:spPr>
          <a:xfrm>
            <a:off x="595618" y="-2691"/>
            <a:ext cx="1153486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МИНИСТЕРСТВО НАУКИ И ВЫСШЕГО ОБРАЗОВАНИЯ РОССИЙСКОЙ  ФЕДЕРАЦИИ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Федеральное государственное автономное образовательное учреждение высшего образования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«Национальный исследовательский ядерный университет «МИФИ»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2"/>
          <p:cNvSpPr txBox="1"/>
          <p:nvPr/>
        </p:nvSpPr>
        <p:spPr>
          <a:xfrm>
            <a:off x="6329492" y="2262494"/>
            <a:ext cx="4257414" cy="35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09.04.04 ПРОГРАММНАЯ ИНЖЕНЕРИЯ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9328287" y="4641277"/>
            <a:ext cx="2184400" cy="285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9328287" y="4996083"/>
            <a:ext cx="2184400" cy="299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3"/>
          </p:nvPr>
        </p:nvSpPr>
        <p:spPr>
          <a:xfrm>
            <a:off x="9323524" y="5462042"/>
            <a:ext cx="2184400" cy="58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Титульный слайд">
  <p:cSld name="3_Титульный слайд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>
            <a:spLocks noGrp="1"/>
          </p:cNvSpPr>
          <p:nvPr>
            <p:ph type="title"/>
          </p:nvPr>
        </p:nvSpPr>
        <p:spPr>
          <a:xfrm>
            <a:off x="1499294" y="3435698"/>
            <a:ext cx="9144001" cy="105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/>
          <p:nvPr/>
        </p:nvSpPr>
        <p:spPr>
          <a:xfrm>
            <a:off x="239349" y="1132515"/>
            <a:ext cx="11952651" cy="147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ИНСТИТУТ ИНТЕЛЛЕКТУАЛЬНЫХ КИБЕРНЕТИЧЕСКИХ СИСТЕМ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КАФЕДРА КИБЕРНЕТИКИ (№ 22)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НАПРАВЛЕНИЕ ПОДГОТОВКИ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23"/>
          <p:cNvGraphicFramePr/>
          <p:nvPr/>
        </p:nvGraphicFramePr>
        <p:xfrm>
          <a:off x="6341333" y="4581951"/>
          <a:ext cx="5796625" cy="1164225"/>
        </p:xfrm>
        <a:graphic>
          <a:graphicData uri="http://schemas.openxmlformats.org/drawingml/2006/table">
            <a:tbl>
              <a:tblPr firstRow="1" bandRow="1">
                <a:noFill/>
                <a:tableStyleId>{EEDB8C37-9DD7-4D3C-9DAE-6CFC98C3CE59}</a:tableStyleId>
              </a:tblPr>
              <a:tblGrid>
                <a:gridCol w="306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Студент: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Группа: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Научный руководитель: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7" name="Google Shape;67;p23"/>
          <p:cNvSpPr txBox="1"/>
          <p:nvPr/>
        </p:nvSpPr>
        <p:spPr>
          <a:xfrm>
            <a:off x="3088154" y="2883132"/>
            <a:ext cx="57054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Выпускная квалификационная работа на тему: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3"/>
          <p:cNvSpPr txBox="1"/>
          <p:nvPr/>
        </p:nvSpPr>
        <p:spPr>
          <a:xfrm>
            <a:off x="5261024" y="6232783"/>
            <a:ext cx="13596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Москва, 2025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3"/>
          <p:cNvSpPr/>
          <p:nvPr/>
        </p:nvSpPr>
        <p:spPr>
          <a:xfrm>
            <a:off x="595618" y="-2691"/>
            <a:ext cx="1153486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МИНИСТЕРСТВО НАУКИ И ВЫСШЕГО ОБРАЗОВАНИЯ РОССИЙСКОЙ  ФЕДЕРАЦИИ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Федеральное государственное автономное образовательное учреждение высшего образования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«Национальный исследовательский ядерный университет «МИФИ»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3"/>
          <p:cNvSpPr txBox="1"/>
          <p:nvPr/>
        </p:nvSpPr>
        <p:spPr>
          <a:xfrm>
            <a:off x="9344867" y="4570806"/>
            <a:ext cx="2366164" cy="35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Носов А.И.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3"/>
          <p:cNvSpPr txBox="1"/>
          <p:nvPr/>
        </p:nvSpPr>
        <p:spPr>
          <a:xfrm>
            <a:off x="9344867" y="4925534"/>
            <a:ext cx="2366164" cy="35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М24-534</a:t>
            </a:r>
            <a:endParaRPr sz="1600" b="0" i="0" u="none" strike="noStrike" cap="non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3"/>
          <p:cNvSpPr txBox="1"/>
          <p:nvPr/>
        </p:nvSpPr>
        <p:spPr>
          <a:xfrm>
            <a:off x="9344867" y="5298218"/>
            <a:ext cx="2366164" cy="666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к.т.н., доцент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Киреев В.С.</a:t>
            </a:r>
            <a:endParaRPr sz="1600" b="0" i="0" u="none" strike="noStrike" cap="non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3"/>
          <p:cNvSpPr txBox="1"/>
          <p:nvPr/>
        </p:nvSpPr>
        <p:spPr>
          <a:xfrm>
            <a:off x="6329492" y="2262494"/>
            <a:ext cx="4257414" cy="35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09.04.04 ПРОГРАММНАЯ ИНЖЕНЕРИЯ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6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body" idx="1"/>
          </p:nvPr>
        </p:nvSpPr>
        <p:spPr>
          <a:xfrm>
            <a:off x="838200" y="878365"/>
            <a:ext cx="5181600" cy="52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6"/>
          <p:cNvSpPr txBox="1">
            <a:spLocks noGrp="1"/>
          </p:cNvSpPr>
          <p:nvPr>
            <p:ph type="body" idx="2"/>
          </p:nvPr>
        </p:nvSpPr>
        <p:spPr>
          <a:xfrm>
            <a:off x="6172200" y="878365"/>
            <a:ext cx="5181600" cy="52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6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6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6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7"/>
          <p:cNvSpPr txBox="1">
            <a:spLocks noGrp="1"/>
          </p:cNvSpPr>
          <p:nvPr>
            <p:ph type="title"/>
          </p:nvPr>
        </p:nvSpPr>
        <p:spPr>
          <a:xfrm>
            <a:off x="839788" y="40807"/>
            <a:ext cx="10515600" cy="760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7"/>
          <p:cNvSpPr txBox="1">
            <a:spLocks noGrp="1"/>
          </p:cNvSpPr>
          <p:nvPr>
            <p:ph type="body" idx="1"/>
          </p:nvPr>
        </p:nvSpPr>
        <p:spPr>
          <a:xfrm>
            <a:off x="839788" y="897402"/>
            <a:ext cx="5157787" cy="66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" name="Google Shape;98;p27"/>
          <p:cNvSpPr txBox="1">
            <a:spLocks noGrp="1"/>
          </p:cNvSpPr>
          <p:nvPr>
            <p:ph type="body" idx="2"/>
          </p:nvPr>
        </p:nvSpPr>
        <p:spPr>
          <a:xfrm>
            <a:off x="839788" y="1563038"/>
            <a:ext cx="5157787" cy="462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7"/>
          <p:cNvSpPr txBox="1">
            <a:spLocks noGrp="1"/>
          </p:cNvSpPr>
          <p:nvPr>
            <p:ph type="body" idx="3"/>
          </p:nvPr>
        </p:nvSpPr>
        <p:spPr>
          <a:xfrm>
            <a:off x="6172200" y="897402"/>
            <a:ext cx="5183188" cy="66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0" name="Google Shape;100;p27"/>
          <p:cNvSpPr txBox="1">
            <a:spLocks noGrp="1"/>
          </p:cNvSpPr>
          <p:nvPr>
            <p:ph type="body" idx="4"/>
          </p:nvPr>
        </p:nvSpPr>
        <p:spPr>
          <a:xfrm>
            <a:off x="6172200" y="1563038"/>
            <a:ext cx="5183188" cy="462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7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7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8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8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8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9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15" name="Google Shape;115;p29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6" name="Google Shape;116;p29"/>
          <p:cNvCxnSpPr/>
          <p:nvPr/>
        </p:nvCxnSpPr>
        <p:spPr>
          <a:xfrm>
            <a:off x="838200" y="887210"/>
            <a:ext cx="3933825" cy="0"/>
          </a:xfrm>
          <a:prstGeom prst="straightConnector1">
            <a:avLst/>
          </a:prstGeom>
          <a:noFill/>
          <a:ln w="222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29"/>
          <p:cNvSpPr txBox="1">
            <a:spLocks noGrp="1"/>
          </p:cNvSpPr>
          <p:nvPr>
            <p:ph type="title"/>
          </p:nvPr>
        </p:nvSpPr>
        <p:spPr>
          <a:xfrm>
            <a:off x="839788" y="175210"/>
            <a:ext cx="3932237" cy="69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 txBox="1">
            <a:spLocks noGrp="1"/>
          </p:cNvSpPr>
          <p:nvPr>
            <p:ph type="body" idx="1"/>
          </p:nvPr>
        </p:nvSpPr>
        <p:spPr>
          <a:xfrm>
            <a:off x="4905328" y="175210"/>
            <a:ext cx="6450060" cy="568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body" idx="2"/>
          </p:nvPr>
        </p:nvSpPr>
        <p:spPr>
          <a:xfrm>
            <a:off x="839788" y="905391"/>
            <a:ext cx="3932237" cy="496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Объект с подписью">
  <p:cSld name="1_Объект с подписью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0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0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25" name="Google Shape;125;p30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6" name="Google Shape;126;p30"/>
          <p:cNvCxnSpPr/>
          <p:nvPr/>
        </p:nvCxnSpPr>
        <p:spPr>
          <a:xfrm>
            <a:off x="838200" y="887210"/>
            <a:ext cx="3530937" cy="0"/>
          </a:xfrm>
          <a:prstGeom prst="straightConnector1">
            <a:avLst/>
          </a:prstGeom>
          <a:noFill/>
          <a:ln w="222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7" name="Google Shape;127;p30"/>
          <p:cNvSpPr txBox="1">
            <a:spLocks noGrp="1"/>
          </p:cNvSpPr>
          <p:nvPr>
            <p:ph type="title"/>
          </p:nvPr>
        </p:nvSpPr>
        <p:spPr>
          <a:xfrm>
            <a:off x="839789" y="175210"/>
            <a:ext cx="3529512" cy="69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body" idx="1"/>
          </p:nvPr>
        </p:nvSpPr>
        <p:spPr>
          <a:xfrm>
            <a:off x="4450386" y="175210"/>
            <a:ext cx="3350123" cy="568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body" idx="2"/>
          </p:nvPr>
        </p:nvSpPr>
        <p:spPr>
          <a:xfrm>
            <a:off x="839789" y="905391"/>
            <a:ext cx="3529512" cy="496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0" name="Google Shape;130;p30"/>
          <p:cNvSpPr txBox="1">
            <a:spLocks noGrp="1"/>
          </p:cNvSpPr>
          <p:nvPr>
            <p:ph type="body" idx="3"/>
          </p:nvPr>
        </p:nvSpPr>
        <p:spPr>
          <a:xfrm>
            <a:off x="7881594" y="175209"/>
            <a:ext cx="3353922" cy="568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31" name="Google Shape;131;p30"/>
          <p:cNvCxnSpPr/>
          <p:nvPr/>
        </p:nvCxnSpPr>
        <p:spPr>
          <a:xfrm>
            <a:off x="4369137" y="175209"/>
            <a:ext cx="0" cy="720000"/>
          </a:xfrm>
          <a:prstGeom prst="straightConnector1">
            <a:avLst/>
          </a:prstGeom>
          <a:noFill/>
          <a:ln w="222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1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1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37" name="Google Shape;137;p31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8" name="Google Shape;138;p31"/>
          <p:cNvCxnSpPr/>
          <p:nvPr/>
        </p:nvCxnSpPr>
        <p:spPr>
          <a:xfrm>
            <a:off x="838200" y="874800"/>
            <a:ext cx="3933825" cy="0"/>
          </a:xfrm>
          <a:prstGeom prst="straightConnector1">
            <a:avLst/>
          </a:prstGeom>
          <a:noFill/>
          <a:ln w="222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" name="Google Shape;139;p31"/>
          <p:cNvSpPr txBox="1">
            <a:spLocks noGrp="1"/>
          </p:cNvSpPr>
          <p:nvPr>
            <p:ph type="title"/>
          </p:nvPr>
        </p:nvSpPr>
        <p:spPr>
          <a:xfrm>
            <a:off x="839788" y="176400"/>
            <a:ext cx="3932237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1"/>
          <p:cNvSpPr>
            <a:spLocks noGrp="1"/>
          </p:cNvSpPr>
          <p:nvPr>
            <p:ph type="pic" idx="2"/>
          </p:nvPr>
        </p:nvSpPr>
        <p:spPr>
          <a:xfrm>
            <a:off x="5183188" y="176400"/>
            <a:ext cx="6172200" cy="5684651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31"/>
          <p:cNvSpPr txBox="1">
            <a:spLocks noGrp="1"/>
          </p:cNvSpPr>
          <p:nvPr>
            <p:ph type="body" idx="1"/>
          </p:nvPr>
        </p:nvSpPr>
        <p:spPr>
          <a:xfrm>
            <a:off x="839788" y="874801"/>
            <a:ext cx="3932237" cy="4994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2"/>
          <p:cNvSpPr txBox="1">
            <a:spLocks noGrp="1"/>
          </p:cNvSpPr>
          <p:nvPr>
            <p:ph type="body" idx="1"/>
          </p:nvPr>
        </p:nvSpPr>
        <p:spPr>
          <a:xfrm rot="5400000">
            <a:off x="3442853" y="-1733985"/>
            <a:ext cx="5306295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32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2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2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33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3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3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рисунка">
  <p:cSld name="Два рисунка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4"/>
          <p:cNvSpPr/>
          <p:nvPr/>
        </p:nvSpPr>
        <p:spPr>
          <a:xfrm>
            <a:off x="5789928" y="6599750"/>
            <a:ext cx="698869" cy="280800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4"/>
          <p:cNvSpPr txBox="1">
            <a:spLocks noGrp="1"/>
          </p:cNvSpPr>
          <p:nvPr>
            <p:ph type="sldNum" idx="12"/>
          </p:nvPr>
        </p:nvSpPr>
        <p:spPr>
          <a:xfrm>
            <a:off x="5846043" y="6591826"/>
            <a:ext cx="570000" cy="28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8" name="Google Shape;158;p34"/>
          <p:cNvSpPr>
            <a:spLocks noGrp="1"/>
          </p:cNvSpPr>
          <p:nvPr>
            <p:ph type="pic" idx="2"/>
          </p:nvPr>
        </p:nvSpPr>
        <p:spPr>
          <a:xfrm>
            <a:off x="838200" y="903600"/>
            <a:ext cx="5181600" cy="509233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34"/>
          <p:cNvSpPr>
            <a:spLocks noGrp="1"/>
          </p:cNvSpPr>
          <p:nvPr>
            <p:ph type="pic" idx="3"/>
          </p:nvPr>
        </p:nvSpPr>
        <p:spPr>
          <a:xfrm>
            <a:off x="6172200" y="903600"/>
            <a:ext cx="5181600" cy="50923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4_Титульный слайд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0;p18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11;p18"/>
          <p:cNvSpPr/>
          <p:nvPr/>
        </p:nvSpPr>
        <p:spPr>
          <a:xfrm>
            <a:off x="-2880" y="8280"/>
            <a:ext cx="356760" cy="673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0" rIns="18000" anchor="t">
            <a:sp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ru-RU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0101010001001001001010101010101000000101010101111110101010101011111111111001001001010100010100101010100101001010100101001000000100001110010010010000101000010111111111111010101010010010111111001000100010101111100000010010110101010101010100001111000110000100101010010111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16;p18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17;p18"/>
          <p:cNvSpPr/>
          <p:nvPr/>
        </p:nvSpPr>
        <p:spPr>
          <a:xfrm>
            <a:off x="-8640" y="6562440"/>
            <a:ext cx="12195360" cy="37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0" rIns="18000" anchor="t">
            <a:sp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ru-RU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0000100101001001001000010100001011111111111101010101001001011111100100010001010111110000001001011010101010101010000111100011000010010101001011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18;p18"/>
          <p:cNvSpPr/>
          <p:nvPr/>
        </p:nvSpPr>
        <p:spPr>
          <a:xfrm>
            <a:off x="10351440" y="6541920"/>
            <a:ext cx="9234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www.kaf22.ru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19;p18"/>
          <p:cNvSpPr/>
          <p:nvPr/>
        </p:nvSpPr>
        <p:spPr>
          <a:xfrm>
            <a:off x="9489600" y="6355440"/>
            <a:ext cx="182736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1000" b="0" u="none" strike="noStrike">
                <a:solidFill>
                  <a:srgbClr val="537599"/>
                </a:solidFill>
                <a:effectLst/>
                <a:uFillTx/>
                <a:latin typeface="Calibri"/>
                <a:ea typeface="Calibri"/>
              </a:rPr>
              <a:t>Кафедра №22 «Кибернетика»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0;p18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Google Shape;21;p18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Google Shape;22;p18"/>
          <p:cNvSpPr/>
          <p:nvPr/>
        </p:nvSpPr>
        <p:spPr>
          <a:xfrm>
            <a:off x="914760" y="6576120"/>
            <a:ext cx="9648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www.mephi.ru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3;p18"/>
          <p:cNvSpPr/>
          <p:nvPr/>
        </p:nvSpPr>
        <p:spPr>
          <a:xfrm>
            <a:off x="916200" y="6374520"/>
            <a:ext cx="87516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1000" b="0" u="none" strike="noStrike">
                <a:solidFill>
                  <a:srgbClr val="537599"/>
                </a:solidFill>
                <a:effectLst/>
                <a:uFillTx/>
                <a:latin typeface="Calibri"/>
                <a:ea typeface="Calibri"/>
              </a:rPr>
              <a:t>НИЯУ МИФИ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2" name="Google Shape;25;p18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  <a:miter/>
          </a:ln>
        </p:spPr>
      </p:cxnSp>
      <p:sp>
        <p:nvSpPr>
          <p:cNvPr id="193" name="Google Shape;26;p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Google Shape;27;p18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499400" y="3435840"/>
            <a:ext cx="9143640" cy="105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6" name="Google Shape;30;p19"/>
          <p:cNvSpPr/>
          <p:nvPr/>
        </p:nvSpPr>
        <p:spPr>
          <a:xfrm>
            <a:off x="239400" y="1132560"/>
            <a:ext cx="11952360" cy="147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9999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ИНСТИТУТ ИНТЕЛЛЕКТУАЛЬНЫХ КИБЕРНЕТИЧЕСКИХ СИСТЕМ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-RU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КАФЕДРА КИБЕРНЕТИКИ (№ 22)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			НАПРАВЛЕНИЕ ПОДГОТОВКИ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7" name="Google Shape;31;p19"/>
          <p:cNvGraphicFramePr/>
          <p:nvPr/>
        </p:nvGraphicFramePr>
        <p:xfrm>
          <a:off x="6341400" y="4582080"/>
          <a:ext cx="5796000" cy="1163880"/>
        </p:xfrm>
        <a:graphic>
          <a:graphicData uri="http://schemas.openxmlformats.org/drawingml/2006/table">
            <a:tbl>
              <a:tblPr/>
              <a:tblGrid>
                <a:gridCol w="30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Студент: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680" marR="1216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680" marR="1216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Группа: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680" marR="1216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680" marR="1216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Руководитель практики: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680" marR="1216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680" marR="12168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8" name="Google Shape;32;p19"/>
          <p:cNvSpPr/>
          <p:nvPr/>
        </p:nvSpPr>
        <p:spPr>
          <a:xfrm>
            <a:off x="3305520" y="2883240"/>
            <a:ext cx="52707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Производственная практика на тему: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33;p19"/>
          <p:cNvSpPr/>
          <p:nvPr/>
        </p:nvSpPr>
        <p:spPr>
          <a:xfrm>
            <a:off x="5261040" y="6232680"/>
            <a:ext cx="13593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Москва,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34;p19"/>
          <p:cNvSpPr/>
          <p:nvPr/>
        </p:nvSpPr>
        <p:spPr>
          <a:xfrm>
            <a:off x="595440" y="-2520"/>
            <a:ext cx="11534400" cy="83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-RU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МИНИСТЕРСТВО НАУКИ И ВЫСШЕГО ОБРАЗОВАНИЯ РОССИЙСКОЙ  ФЕДЕРАЦИИ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-RU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Федеральное государственное автономное образовательное учреждение высшего образования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-RU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«Национальный исследовательский ядерный университет «МИФИ»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35;p19"/>
          <p:cNvSpPr/>
          <p:nvPr/>
        </p:nvSpPr>
        <p:spPr>
          <a:xfrm>
            <a:off x="9344880" y="4570920"/>
            <a:ext cx="2365920" cy="35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Носов А.И.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36;p19"/>
          <p:cNvSpPr/>
          <p:nvPr/>
        </p:nvSpPr>
        <p:spPr>
          <a:xfrm>
            <a:off x="9344880" y="4925520"/>
            <a:ext cx="2365920" cy="35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М24-534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37;p19"/>
          <p:cNvSpPr/>
          <p:nvPr/>
        </p:nvSpPr>
        <p:spPr>
          <a:xfrm>
            <a:off x="9344880" y="5298120"/>
            <a:ext cx="2365920" cy="66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к.т.н., доцент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Киреев В.С.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38;p19"/>
          <p:cNvSpPr/>
          <p:nvPr/>
        </p:nvSpPr>
        <p:spPr>
          <a:xfrm>
            <a:off x="6329520" y="2262600"/>
            <a:ext cx="4257000" cy="35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-RU" sz="11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09.04.04 ПРОГРАММНАЯ ИНЖЕНЕРИЯ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989244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 rot="5400000">
            <a:off x="-3277366" y="3268602"/>
            <a:ext cx="6906537" cy="369332"/>
          </a:xfrm>
          <a:prstGeom prst="rect">
            <a:avLst/>
          </a:prstGeom>
          <a:solidFill>
            <a:srgbClr val="537599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8"/>
          <p:cNvSpPr txBox="1"/>
          <p:nvPr/>
        </p:nvSpPr>
        <p:spPr>
          <a:xfrm>
            <a:off x="-2880" y="8307"/>
            <a:ext cx="357238" cy="6740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5700" rIns="18000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-RU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0101010001001001001010101010101000000101010101111110101010101011111111111001001001010100010100101010100101001010100101001000000100001110010010010000101000010111111111111010101010010010111111001000100010101111100000010010110101010101010100001111000110000100101010010111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8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8"/>
          <p:cNvSpPr/>
          <p:nvPr/>
        </p:nvSpPr>
        <p:spPr>
          <a:xfrm>
            <a:off x="0" y="6556718"/>
            <a:ext cx="12192000" cy="369332"/>
          </a:xfrm>
          <a:prstGeom prst="rect">
            <a:avLst/>
          </a:prstGeom>
          <a:solidFill>
            <a:srgbClr val="537599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8"/>
          <p:cNvSpPr txBox="1"/>
          <p:nvPr/>
        </p:nvSpPr>
        <p:spPr>
          <a:xfrm>
            <a:off x="-8763" y="6562550"/>
            <a:ext cx="12195661" cy="377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5700" rIns="18000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-RU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000010010100100100100001010000101111111111110101010100100101111110010001000101011111000000100101101010101010101000011110001100001001010100101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8"/>
          <p:cNvSpPr txBox="1"/>
          <p:nvPr/>
        </p:nvSpPr>
        <p:spPr>
          <a:xfrm>
            <a:off x="10351455" y="6541811"/>
            <a:ext cx="9236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www.kaf22.ru</a:t>
            </a:r>
            <a:endParaRPr sz="1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8"/>
          <p:cNvSpPr txBox="1"/>
          <p:nvPr/>
        </p:nvSpPr>
        <p:spPr>
          <a:xfrm>
            <a:off x="9489631" y="6355403"/>
            <a:ext cx="182761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rgbClr val="537599"/>
                </a:solidFill>
                <a:latin typeface="Calibri"/>
                <a:ea typeface="Calibri"/>
                <a:cs typeface="Calibri"/>
                <a:sym typeface="Calibri"/>
              </a:rPr>
              <a:t>Кафедра №22 «Кибернетика»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8"/>
          <p:cNvSpPr/>
          <p:nvPr/>
        </p:nvSpPr>
        <p:spPr>
          <a:xfrm>
            <a:off x="16257" y="6006534"/>
            <a:ext cx="900000" cy="9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18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8857" y="6021278"/>
            <a:ext cx="874800" cy="87300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8"/>
          <p:cNvSpPr txBox="1"/>
          <p:nvPr/>
        </p:nvSpPr>
        <p:spPr>
          <a:xfrm>
            <a:off x="914728" y="6576252"/>
            <a:ext cx="9653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www.mephi.ru</a:t>
            </a:r>
            <a:endParaRPr sz="1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8"/>
          <p:cNvSpPr txBox="1"/>
          <p:nvPr/>
        </p:nvSpPr>
        <p:spPr>
          <a:xfrm>
            <a:off x="916191" y="6374510"/>
            <a:ext cx="87556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rgbClr val="537599"/>
                </a:solidFill>
                <a:latin typeface="Calibri"/>
                <a:ea typeface="Calibri"/>
                <a:cs typeface="Calibri"/>
                <a:sym typeface="Calibri"/>
              </a:rPr>
              <a:t>НИЯУ МИФИ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25" name="Google Shape;25;p18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w="222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" name="Google Shape;26;p18"/>
          <p:cNvSpPr/>
          <p:nvPr/>
        </p:nvSpPr>
        <p:spPr>
          <a:xfrm>
            <a:off x="11271693" y="6006534"/>
            <a:ext cx="900000" cy="9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18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244943" y="6021278"/>
            <a:ext cx="926750" cy="792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hyperlink" Target="https://www.textkernel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1499400" y="3435840"/>
            <a:ext cx="9143640" cy="105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Разработка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и </a:t>
            </a:r>
            <a:r>
              <a:rPr lang="en-US" sz="16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отладка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интеллектуального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модуля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ранжирования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кандидатов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165;p1"/>
          <p:cNvSpPr/>
          <p:nvPr/>
        </p:nvSpPr>
        <p:spPr>
          <a:xfrm>
            <a:off x="5044320" y="6083280"/>
            <a:ext cx="1767960" cy="46116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Москва,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Реферат</a:t>
            </a:r>
            <a:endParaRPr/>
          </a:p>
        </p:txBody>
      </p:sp>
      <p:sp>
        <p:nvSpPr>
          <p:cNvPr id="171" name="Google Shape;171;p2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 dirty="0"/>
              <a:t>Отчет по производственной практике посвящен разработке и проверке интеллектуального модуля ранжирования кандидатов для ATS.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 dirty="0"/>
              <a:t>В ходе практики реализован воспроизводимый контур: подготовка данных, обучение </a:t>
            </a:r>
            <a:r>
              <a:rPr lang="ru-RU" sz="2000" dirty="0" err="1"/>
              <a:t>bi-encoder</a:t>
            </a:r>
            <a:r>
              <a:rPr lang="ru-RU" sz="2000" dirty="0"/>
              <a:t> модели, расчет метрик, разработка </a:t>
            </a:r>
            <a:r>
              <a:rPr lang="ru-RU" sz="2000" dirty="0" err="1"/>
              <a:t>FastAPI</a:t>
            </a:r>
            <a:r>
              <a:rPr lang="ru-RU" sz="2000" dirty="0"/>
              <a:t>-сервиса и интеграционная проверка.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 dirty="0"/>
              <a:t>Экспериментальная часть выполнена на тестовом срезе из 521 пары «вакансия–резюме», 423 вакансий и 510 резюме; 177 пар размечены как релевантные.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 dirty="0"/>
              <a:t>Ключевые слова: ATS, ранжирование кандидатов, </a:t>
            </a:r>
            <a:r>
              <a:rPr lang="ru-RU" sz="2000" dirty="0" err="1"/>
              <a:t>bi-encoder</a:t>
            </a:r>
            <a:r>
              <a:rPr lang="ru-RU" sz="2000" dirty="0"/>
              <a:t>, rubert-tiny2, </a:t>
            </a:r>
            <a:r>
              <a:rPr lang="ru-RU" sz="2000" dirty="0" err="1"/>
              <a:t>cosine</a:t>
            </a:r>
            <a:r>
              <a:rPr lang="ru-RU" sz="2000" dirty="0"/>
              <a:t> </a:t>
            </a:r>
            <a:r>
              <a:rPr lang="ru-RU" sz="2000" dirty="0" err="1"/>
              <a:t>similarity</a:t>
            </a:r>
            <a:r>
              <a:rPr lang="ru-RU" sz="2000" dirty="0"/>
              <a:t>, NDCG, </a:t>
            </a:r>
            <a:r>
              <a:rPr lang="ru-RU" sz="2000" dirty="0" err="1"/>
              <a:t>Precision@K</a:t>
            </a:r>
            <a:r>
              <a:rPr lang="ru-RU" sz="2000" dirty="0"/>
              <a:t>, </a:t>
            </a:r>
            <a:r>
              <a:rPr lang="ru-RU" sz="2000" dirty="0" err="1"/>
              <a:t>Recall@K</a:t>
            </a:r>
            <a:r>
              <a:rPr lang="ru-RU" sz="2000" dirty="0"/>
              <a:t>, MRR, </a:t>
            </a:r>
            <a:r>
              <a:rPr lang="ru-RU" sz="2000" dirty="0" err="1"/>
              <a:t>FastAPI</a:t>
            </a:r>
            <a:r>
              <a:rPr lang="ru-RU" sz="2000" dirty="0"/>
              <a:t>.</a:t>
            </a:r>
          </a:p>
        </p:txBody>
      </p:sp>
      <p:sp>
        <p:nvSpPr>
          <p:cNvPr id="172" name="Google Shape;172;p2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2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 sz="2800"/>
              <a:t>Актуальность работы</a:t>
            </a:r>
            <a:endParaRPr/>
          </a:p>
        </p:txBody>
      </p:sp>
      <p:sp>
        <p:nvSpPr>
          <p:cNvPr id="178" name="Google Shape;178;p3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3</a:t>
            </a:fld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661226" y="2810816"/>
            <a:ext cx="4515964" cy="703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Инструменты видеоинтервью и оценки компетенций с использованием AI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3" descr="Picture backgrou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6000" y="873193"/>
            <a:ext cx="1994294" cy="199429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" descr="Textkernel">
            <a:hlinkClick r:id="rId4"/>
          </p:cNvPr>
          <p:cNvSpPr/>
          <p:nvPr/>
        </p:nvSpPr>
        <p:spPr>
          <a:xfrm>
            <a:off x="42863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 descr="Textkernel">
            <a:hlinkClick r:id="rId4"/>
          </p:cNvPr>
          <p:cNvSpPr/>
          <p:nvPr/>
        </p:nvSpPr>
        <p:spPr>
          <a:xfrm>
            <a:off x="42863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57747" y="1304008"/>
            <a:ext cx="4287916" cy="1114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"/>
          <p:cNvSpPr txBox="1"/>
          <p:nvPr/>
        </p:nvSpPr>
        <p:spPr>
          <a:xfrm>
            <a:off x="6683318" y="2787429"/>
            <a:ext cx="5127044" cy="703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Парсинг резюме, вакансий и семантический поиск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3" descr="Picture backgroun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8509" y="3511839"/>
            <a:ext cx="3643138" cy="190354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"/>
          <p:cNvSpPr txBox="1"/>
          <p:nvPr/>
        </p:nvSpPr>
        <p:spPr>
          <a:xfrm>
            <a:off x="646205" y="5229175"/>
            <a:ext cx="4515964" cy="703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Поиск талантов на основе искусственного интеллекта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3" descr="Picture backgroun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1719" y="3636287"/>
            <a:ext cx="5090449" cy="134237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"/>
          <p:cNvSpPr txBox="1"/>
          <p:nvPr/>
        </p:nvSpPr>
        <p:spPr>
          <a:xfrm>
            <a:off x="6676673" y="5221393"/>
            <a:ext cx="4515964" cy="703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Платформа на основе AI для подбора, удержания и развития талантов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600"/>
            </a:pPr>
            <a:r>
              <a:rPr lang="en-US" dirty="0" err="1">
                <a:latin typeface="Arial"/>
              </a:rPr>
              <a:t>Цель</a:t>
            </a:r>
            <a:r>
              <a:rPr lang="en-US" dirty="0">
                <a:latin typeface="Arial"/>
              </a:rPr>
              <a:t> </a:t>
            </a:r>
            <a:r>
              <a:rPr lang="en-US" dirty="0" err="1">
                <a:latin typeface="Arial"/>
              </a:rPr>
              <a:t>производственной</a:t>
            </a:r>
            <a:r>
              <a:rPr lang="en-US" dirty="0">
                <a:latin typeface="Arial"/>
              </a:rPr>
              <a:t> </a:t>
            </a:r>
            <a:r>
              <a:rPr lang="en-US" dirty="0" err="1">
                <a:latin typeface="Arial"/>
              </a:rPr>
              <a:t>практики</a:t>
            </a:r>
            <a:endParaRPr dirty="0"/>
          </a:p>
        </p:txBody>
      </p:sp>
      <p:sp>
        <p:nvSpPr>
          <p:cNvPr id="194" name="Google Shape;194;p4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 dirty="0"/>
              <a:t>Цель производственной практики — разработать и апробировать модуль семантического ранжирования кандидатов, который принимает описание вакансии и набор резюме, применяет обязательные фильтры, вычисляет степень соответствия и возвращает </a:t>
            </a:r>
            <a:r>
              <a:rPr lang="ru-RU" sz="2000" dirty="0" err="1"/>
              <a:t>top</a:t>
            </a:r>
            <a:r>
              <a:rPr lang="ru-RU" sz="2000" dirty="0"/>
              <a:t>-K кандидатов в формате, пригодном для интеграции с ATS.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</p:txBody>
      </p:sp>
      <p:sp>
        <p:nvSpPr>
          <p:cNvPr id="195" name="Google Shape;195;p4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Задачи НИР</a:t>
            </a:r>
            <a:endParaRPr/>
          </a:p>
        </p:txBody>
      </p:sp>
      <p:sp>
        <p:nvSpPr>
          <p:cNvPr id="201" name="Google Shape;201;p5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 dirty="0"/>
              <a:t>Проанализировать предметную область ATS и требования к модулю ранжирования кандидатов.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 dirty="0"/>
              <a:t>Формализовать задачу сопоставления «вакансия–резюме» и выбрать метрики качества ранжирования.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 dirty="0"/>
              <a:t>Подготовить воспроизводимый </a:t>
            </a:r>
            <a:r>
              <a:rPr lang="ru-RU" sz="2000" dirty="0" err="1"/>
              <a:t>пайплайн</a:t>
            </a:r>
            <a:r>
              <a:rPr lang="ru-RU" sz="2000" dirty="0"/>
              <a:t> обработки данных, обучения и оценки </a:t>
            </a:r>
            <a:r>
              <a:rPr lang="ru-RU" sz="2000" dirty="0" err="1"/>
              <a:t>bi-encoder</a:t>
            </a:r>
            <a:r>
              <a:rPr lang="ru-RU" sz="2000" dirty="0"/>
              <a:t> модели.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 dirty="0"/>
              <a:t>Реализовать модуль </a:t>
            </a:r>
            <a:r>
              <a:rPr lang="ru-RU" sz="2000" dirty="0" err="1"/>
              <a:t>ATSRanker</a:t>
            </a:r>
            <a:r>
              <a:rPr lang="ru-RU" sz="2000" dirty="0"/>
              <a:t>: </a:t>
            </a:r>
            <a:r>
              <a:rPr lang="ru-RU" sz="2000" dirty="0" err="1"/>
              <a:t>hard</a:t>
            </a:r>
            <a:r>
              <a:rPr lang="ru-RU" sz="2000" dirty="0"/>
              <a:t> </a:t>
            </a:r>
            <a:r>
              <a:rPr lang="ru-RU" sz="2000" dirty="0" err="1"/>
              <a:t>filtering</a:t>
            </a:r>
            <a:r>
              <a:rPr lang="ru-RU" sz="2000" dirty="0"/>
              <a:t> + </a:t>
            </a:r>
            <a:r>
              <a:rPr lang="ru-RU" sz="2000" dirty="0" err="1"/>
              <a:t>dense</a:t>
            </a:r>
            <a:r>
              <a:rPr lang="ru-RU" sz="2000" dirty="0"/>
              <a:t> </a:t>
            </a:r>
            <a:r>
              <a:rPr lang="ru-RU" sz="2000" dirty="0" err="1"/>
              <a:t>reranking</a:t>
            </a:r>
            <a:r>
              <a:rPr lang="ru-RU" sz="2000" dirty="0"/>
              <a:t> по косинусной близости </a:t>
            </a:r>
            <a:r>
              <a:rPr lang="ru-RU" sz="2000" dirty="0" err="1"/>
              <a:t>эмбеддингов</a:t>
            </a:r>
            <a:r>
              <a:rPr lang="ru-RU" sz="2000" dirty="0"/>
              <a:t>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 dirty="0"/>
              <a:t>Подготовить </a:t>
            </a:r>
            <a:r>
              <a:rPr lang="ru-RU" sz="2000" dirty="0" err="1"/>
              <a:t>FastAPI</a:t>
            </a:r>
            <a:r>
              <a:rPr lang="ru-RU" sz="2000" dirty="0"/>
              <a:t>-контур, выполнить e2e-интеграционную проверку и зафиксировать ограничения решения.</a:t>
            </a:r>
          </a:p>
        </p:txBody>
      </p:sp>
      <p:sp>
        <p:nvSpPr>
          <p:cNvPr id="202" name="Google Shape;202;p5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Введение и проблематика</a:t>
            </a:r>
            <a:endParaRPr/>
          </a:p>
        </p:txBody>
      </p:sp>
      <p:sp>
        <p:nvSpPr>
          <p:cNvPr id="208" name="Google Shape;208;p6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6</a:t>
            </a:fld>
            <a:endParaRPr/>
          </a:p>
        </p:txBody>
      </p:sp>
      <p:sp>
        <p:nvSpPr>
          <p:cNvPr id="2" name="TextBox 208">
            <a:extLst>
              <a:ext uri="{FF2B5EF4-FFF2-40B4-BE49-F238E27FC236}">
                <a16:creationId xmlns:a16="http://schemas.microsoft.com/office/drawing/2014/main" id="{71E0B8B6-9420-25C7-2761-2997E7EC3259}"/>
              </a:ext>
            </a:extLst>
          </p:cNvPr>
          <p:cNvSpPr/>
          <p:nvPr/>
        </p:nvSpPr>
        <p:spPr>
          <a:xfrm>
            <a:off x="868680" y="868680"/>
            <a:ext cx="10149480" cy="3524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45000" rIns="7308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700" dirty="0">
                <a:solidFill>
                  <a:srgbClr val="282828"/>
                </a:solidFill>
                <a:latin typeface="Arial"/>
                <a:ea typeface="Arial"/>
              </a:rPr>
              <a:t>Практика посвящена </a:t>
            </a:r>
            <a:r>
              <a:rPr lang="en-US" sz="17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доведени</a:t>
            </a:r>
            <a:r>
              <a:rPr lang="ru-RU" sz="17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ю </a:t>
            </a:r>
            <a:r>
              <a:rPr lang="en-US" sz="17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прототипа</a:t>
            </a:r>
            <a:r>
              <a:rPr lang="en-US" sz="17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7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ранжирования</a:t>
            </a:r>
            <a:r>
              <a:rPr lang="en-US" sz="17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7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до</a:t>
            </a:r>
            <a:r>
              <a:rPr lang="en-US" sz="17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7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проверяемого</a:t>
            </a:r>
            <a:r>
              <a:rPr lang="en-US" sz="17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7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инженерного</a:t>
            </a:r>
            <a:r>
              <a:rPr lang="en-US" sz="17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7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контура</a:t>
            </a:r>
            <a:r>
              <a:rPr lang="en-US" sz="17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Connector 209">
            <a:extLst>
              <a:ext uri="{FF2B5EF4-FFF2-40B4-BE49-F238E27FC236}">
                <a16:creationId xmlns:a16="http://schemas.microsoft.com/office/drawing/2014/main" id="{36B635C1-18ED-38FF-BAFA-D5F905214869}"/>
              </a:ext>
            </a:extLst>
          </p:cNvPr>
          <p:cNvCxnSpPr/>
          <p:nvPr/>
        </p:nvCxnSpPr>
        <p:spPr>
          <a:xfrm>
            <a:off x="2697480" y="2057400"/>
            <a:ext cx="1189080" cy="360"/>
          </a:xfrm>
          <a:prstGeom prst="straightConnector1">
            <a:avLst/>
          </a:prstGeom>
          <a:ln w="17780">
            <a:solidFill>
              <a:srgbClr val="8296AA"/>
            </a:solidFill>
            <a:round/>
          </a:ln>
        </p:spPr>
      </p:cxnSp>
      <p:cxnSp>
        <p:nvCxnSpPr>
          <p:cNvPr id="4" name="Connector 210">
            <a:extLst>
              <a:ext uri="{FF2B5EF4-FFF2-40B4-BE49-F238E27FC236}">
                <a16:creationId xmlns:a16="http://schemas.microsoft.com/office/drawing/2014/main" id="{B5FEBE72-F098-72D0-043E-4756A35A555E}"/>
              </a:ext>
            </a:extLst>
          </p:cNvPr>
          <p:cNvCxnSpPr/>
          <p:nvPr/>
        </p:nvCxnSpPr>
        <p:spPr>
          <a:xfrm>
            <a:off x="5989320" y="2057400"/>
            <a:ext cx="1189080" cy="360"/>
          </a:xfrm>
          <a:prstGeom prst="straightConnector1">
            <a:avLst/>
          </a:prstGeom>
          <a:ln w="17780">
            <a:solidFill>
              <a:srgbClr val="8296AA"/>
            </a:solidFill>
            <a:round/>
          </a:ln>
        </p:spPr>
      </p:cxnSp>
      <p:sp>
        <p:nvSpPr>
          <p:cNvPr id="5" name="Rounded Rectangle 211">
            <a:extLst>
              <a:ext uri="{FF2B5EF4-FFF2-40B4-BE49-F238E27FC236}">
                <a16:creationId xmlns:a16="http://schemas.microsoft.com/office/drawing/2014/main" id="{4191FB94-FCB7-4839-3374-99DFD70244A6}"/>
              </a:ext>
            </a:extLst>
          </p:cNvPr>
          <p:cNvSpPr/>
          <p:nvPr/>
        </p:nvSpPr>
        <p:spPr>
          <a:xfrm>
            <a:off x="868680" y="1600200"/>
            <a:ext cx="2422800" cy="914040"/>
          </a:xfrm>
          <a:prstGeom prst="roundRect">
            <a:avLst>
              <a:gd name="adj" fmla="val 16667"/>
            </a:avLst>
          </a:prstGeom>
          <a:solidFill>
            <a:srgbClr val="EBEEF2"/>
          </a:solidFill>
          <a:ln w="12700">
            <a:solidFill>
              <a:srgbClr val="8296A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Исходный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исследовательский прототип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Rounded Rectangle 212">
            <a:extLst>
              <a:ext uri="{FF2B5EF4-FFF2-40B4-BE49-F238E27FC236}">
                <a16:creationId xmlns:a16="http://schemas.microsoft.com/office/drawing/2014/main" id="{B219E31C-FC89-CCE6-F94E-E5C596CC372E}"/>
              </a:ext>
            </a:extLst>
          </p:cNvPr>
          <p:cNvSpPr/>
          <p:nvPr/>
        </p:nvSpPr>
        <p:spPr>
          <a:xfrm>
            <a:off x="3749040" y="1508760"/>
            <a:ext cx="2514240" cy="109692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BE963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Задача практики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сделать воспроизводимый контур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Rounded Rectangle 213">
            <a:extLst>
              <a:ext uri="{FF2B5EF4-FFF2-40B4-BE49-F238E27FC236}">
                <a16:creationId xmlns:a16="http://schemas.microsoft.com/office/drawing/2014/main" id="{ADC1FC61-F7D2-8EA6-63BE-20C6B3BAC289}"/>
              </a:ext>
            </a:extLst>
          </p:cNvPr>
          <p:cNvSpPr/>
          <p:nvPr/>
        </p:nvSpPr>
        <p:spPr>
          <a:xfrm>
            <a:off x="7040880" y="1600200"/>
            <a:ext cx="2925720" cy="914040"/>
          </a:xfrm>
          <a:prstGeom prst="roundRect">
            <a:avLst>
              <a:gd name="adj" fmla="val 16667"/>
            </a:avLst>
          </a:prstGeom>
          <a:solidFill>
            <a:srgbClr val="DBE8F6"/>
          </a:solidFill>
          <a:ln w="12700">
            <a:solidFill>
              <a:srgbClr val="4D81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Проверяемый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ATS-сервис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Box 214">
            <a:extLst>
              <a:ext uri="{FF2B5EF4-FFF2-40B4-BE49-F238E27FC236}">
                <a16:creationId xmlns:a16="http://schemas.microsoft.com/office/drawing/2014/main" id="{F3FA1FD8-8D9F-3CEB-57F1-F7048BAA468A}"/>
              </a:ext>
            </a:extLst>
          </p:cNvPr>
          <p:cNvSpPr/>
          <p:nvPr/>
        </p:nvSpPr>
        <p:spPr>
          <a:xfrm>
            <a:off x="3337560" y="18655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45000" rIns="7308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505050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Box 215">
            <a:extLst>
              <a:ext uri="{FF2B5EF4-FFF2-40B4-BE49-F238E27FC236}">
                <a16:creationId xmlns:a16="http://schemas.microsoft.com/office/drawing/2014/main" id="{7552ED58-16C8-536C-4776-19393E00749D}"/>
              </a:ext>
            </a:extLst>
          </p:cNvPr>
          <p:cNvSpPr/>
          <p:nvPr/>
        </p:nvSpPr>
        <p:spPr>
          <a:xfrm>
            <a:off x="6473880" y="18655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45000" rIns="7308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505050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Box 216">
            <a:extLst>
              <a:ext uri="{FF2B5EF4-FFF2-40B4-BE49-F238E27FC236}">
                <a16:creationId xmlns:a16="http://schemas.microsoft.com/office/drawing/2014/main" id="{428CEC7B-4C04-E7B5-FF3F-2E1C36979522}"/>
              </a:ext>
            </a:extLst>
          </p:cNvPr>
          <p:cNvSpPr/>
          <p:nvPr/>
        </p:nvSpPr>
        <p:spPr>
          <a:xfrm>
            <a:off x="960120" y="2999160"/>
            <a:ext cx="992088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18360" rIns="45720" bIns="1836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•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модель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должна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работать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не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только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в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скрипте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но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и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через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устойчивый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API-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контракт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;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•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до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нейросетевого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score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необходимо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применять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обязательные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бизнес-фильтры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;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•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качество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нужно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проверять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не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субъективно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, а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через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метрики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и e2e-сценарий;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•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результат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практики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должен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быть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воспроизводимым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данные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→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модель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→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метрики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→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интеграционный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тест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Постановка задачи</a:t>
            </a:r>
            <a:endParaRPr/>
          </a:p>
        </p:txBody>
      </p:sp>
      <p:sp>
        <p:nvSpPr>
          <p:cNvPr id="216" name="Google Shape;216;p7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7</a:t>
            </a:fld>
            <a:endParaRPr/>
          </a:p>
        </p:txBody>
      </p:sp>
      <p:sp>
        <p:nvSpPr>
          <p:cNvPr id="4" name="TextBox 216">
            <a:extLst>
              <a:ext uri="{FF2B5EF4-FFF2-40B4-BE49-F238E27FC236}">
                <a16:creationId xmlns:a16="http://schemas.microsoft.com/office/drawing/2014/main" id="{A391CFD2-7213-3A2F-783E-8E83BA14997B}"/>
              </a:ext>
            </a:extLst>
          </p:cNvPr>
          <p:cNvSpPr/>
          <p:nvPr/>
        </p:nvSpPr>
        <p:spPr>
          <a:xfrm>
            <a:off x="868680" y="841320"/>
            <a:ext cx="10149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45000" rIns="7308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В рамках практики была реализована конкретная цепочка обработки для одной вакансии и заданного пула кандидатов.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" name="Connector 217">
            <a:extLst>
              <a:ext uri="{FF2B5EF4-FFF2-40B4-BE49-F238E27FC236}">
                <a16:creationId xmlns:a16="http://schemas.microsoft.com/office/drawing/2014/main" id="{D79943BD-FCEB-FAFA-D50E-B1FD1E5829AE}"/>
              </a:ext>
            </a:extLst>
          </p:cNvPr>
          <p:cNvCxnSpPr/>
          <p:nvPr/>
        </p:nvCxnSpPr>
        <p:spPr>
          <a:xfrm>
            <a:off x="2788920" y="3221254"/>
            <a:ext cx="1097640" cy="360"/>
          </a:xfrm>
          <a:prstGeom prst="straightConnector1">
            <a:avLst/>
          </a:prstGeom>
          <a:ln w="16510">
            <a:solidFill>
              <a:srgbClr val="8296AA"/>
            </a:solidFill>
            <a:round/>
          </a:ln>
        </p:spPr>
      </p:cxnSp>
      <p:cxnSp>
        <p:nvCxnSpPr>
          <p:cNvPr id="6" name="Connector 218">
            <a:extLst>
              <a:ext uri="{FF2B5EF4-FFF2-40B4-BE49-F238E27FC236}">
                <a16:creationId xmlns:a16="http://schemas.microsoft.com/office/drawing/2014/main" id="{2779D918-DB60-C004-3278-B145652693DF}"/>
              </a:ext>
            </a:extLst>
          </p:cNvPr>
          <p:cNvCxnSpPr/>
          <p:nvPr/>
        </p:nvCxnSpPr>
        <p:spPr>
          <a:xfrm>
            <a:off x="7269480" y="3221254"/>
            <a:ext cx="1006200" cy="360"/>
          </a:xfrm>
          <a:prstGeom prst="straightConnector1">
            <a:avLst/>
          </a:prstGeom>
          <a:ln w="16510">
            <a:solidFill>
              <a:srgbClr val="8296AA"/>
            </a:solidFill>
            <a:round/>
          </a:ln>
        </p:spPr>
      </p:cxnSp>
      <p:sp>
        <p:nvSpPr>
          <p:cNvPr id="7" name="Rounded Rectangle 219">
            <a:extLst>
              <a:ext uri="{FF2B5EF4-FFF2-40B4-BE49-F238E27FC236}">
                <a16:creationId xmlns:a16="http://schemas.microsoft.com/office/drawing/2014/main" id="{8F92FFA1-664D-3B2F-F80C-501A254EED1B}"/>
              </a:ext>
            </a:extLst>
          </p:cNvPr>
          <p:cNvSpPr/>
          <p:nvPr/>
        </p:nvSpPr>
        <p:spPr>
          <a:xfrm>
            <a:off x="731520" y="2626894"/>
            <a:ext cx="2422800" cy="1142640"/>
          </a:xfrm>
          <a:prstGeom prst="roundRect">
            <a:avLst>
              <a:gd name="adj" fmla="val 16667"/>
            </a:avLst>
          </a:prstGeom>
          <a:solidFill>
            <a:srgbClr val="EBEEF2"/>
          </a:solidFill>
          <a:ln w="12700">
            <a:solidFill>
              <a:srgbClr val="8296A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r>
              <a:rPr lang="en-US" sz="1300" b="1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Вход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вакансия</a:t>
            </a:r>
            <a:r>
              <a:rPr lang="en-US" sz="1300" b="1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v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пул</a:t>
            </a:r>
            <a:r>
              <a:rPr lang="en-US" sz="1300" b="1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300" b="1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кандидатов</a:t>
            </a:r>
            <a:r>
              <a:rPr lang="en-US" sz="1300" b="1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C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00" b="1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обязательные</a:t>
            </a:r>
            <a:r>
              <a:rPr lang="en-US" sz="1300" b="1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300" b="1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поля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Rounded Rectangle 220">
            <a:extLst>
              <a:ext uri="{FF2B5EF4-FFF2-40B4-BE49-F238E27FC236}">
                <a16:creationId xmlns:a16="http://schemas.microsoft.com/office/drawing/2014/main" id="{E153BEF2-0DE4-A9E6-539B-EF3F27BEBC1E}"/>
              </a:ext>
            </a:extLst>
          </p:cNvPr>
          <p:cNvSpPr/>
          <p:nvPr/>
        </p:nvSpPr>
        <p:spPr>
          <a:xfrm>
            <a:off x="3703320" y="2325214"/>
            <a:ext cx="3794400" cy="1782720"/>
          </a:xfrm>
          <a:prstGeom prst="roundRect">
            <a:avLst>
              <a:gd name="adj" fmla="val 16667"/>
            </a:avLst>
          </a:prstGeom>
          <a:solidFill>
            <a:srgbClr val="DBE8F6"/>
          </a:solidFill>
          <a:ln w="15240">
            <a:solidFill>
              <a:srgbClr val="4D81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Реализуемая обработка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1) F(v,c): hard filtering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2) emb(v), emb(c)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3) cosine similarity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4) сортировка top-K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Rounded Rectangle 221">
            <a:extLst>
              <a:ext uri="{FF2B5EF4-FFF2-40B4-BE49-F238E27FC236}">
                <a16:creationId xmlns:a16="http://schemas.microsoft.com/office/drawing/2014/main" id="{53C8CCE4-9069-3553-8250-E35E83446E1E}"/>
              </a:ext>
            </a:extLst>
          </p:cNvPr>
          <p:cNvSpPr/>
          <p:nvPr/>
        </p:nvSpPr>
        <p:spPr>
          <a:xfrm>
            <a:off x="8092440" y="2626894"/>
            <a:ext cx="2514240" cy="1142640"/>
          </a:xfrm>
          <a:prstGeom prst="roundRect">
            <a:avLst>
              <a:gd name="adj" fmla="val 16667"/>
            </a:avLst>
          </a:prstGeom>
          <a:solidFill>
            <a:srgbClr val="DDF0E1"/>
          </a:solidFill>
          <a:ln w="12700">
            <a:solidFill>
              <a:srgbClr val="5F96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Выход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JSON top-K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score кандидатов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latency + model version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Box 222">
            <a:extLst>
              <a:ext uri="{FF2B5EF4-FFF2-40B4-BE49-F238E27FC236}">
                <a16:creationId xmlns:a16="http://schemas.microsoft.com/office/drawing/2014/main" id="{38214E2A-5566-E0DF-5EA6-0B0B04389C80}"/>
              </a:ext>
            </a:extLst>
          </p:cNvPr>
          <p:cNvSpPr/>
          <p:nvPr/>
        </p:nvSpPr>
        <p:spPr>
          <a:xfrm>
            <a:off x="3246120" y="3029374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45000" rIns="7308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505050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Box 223">
            <a:extLst>
              <a:ext uri="{FF2B5EF4-FFF2-40B4-BE49-F238E27FC236}">
                <a16:creationId xmlns:a16="http://schemas.microsoft.com/office/drawing/2014/main" id="{E1D6F088-306F-94D0-25A8-E1BA2088C8EE}"/>
              </a:ext>
            </a:extLst>
          </p:cNvPr>
          <p:cNvSpPr/>
          <p:nvPr/>
        </p:nvSpPr>
        <p:spPr>
          <a:xfrm>
            <a:off x="7635240" y="3029374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45000" rIns="7308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505050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Box 224">
            <a:extLst>
              <a:ext uri="{FF2B5EF4-FFF2-40B4-BE49-F238E27FC236}">
                <a16:creationId xmlns:a16="http://schemas.microsoft.com/office/drawing/2014/main" id="{74191278-1321-CBDD-4815-C898BF38E800}"/>
              </a:ext>
            </a:extLst>
          </p:cNvPr>
          <p:cNvSpPr/>
          <p:nvPr/>
        </p:nvSpPr>
        <p:spPr>
          <a:xfrm>
            <a:off x="960120" y="5098983"/>
            <a:ext cx="1005804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45000" rIns="7308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600" dirty="0">
                <a:solidFill>
                  <a:srgbClr val="282828"/>
                </a:solidFill>
                <a:latin typeface="Arial"/>
                <a:ea typeface="Arial"/>
              </a:rPr>
              <a:t>К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андидаты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сначала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ограничиваются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бизнес-правилами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затем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ранжируются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по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близости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эмбеддингов</a:t>
            </a:r>
            <a:r>
              <a:rPr lang="en-US" sz="1600" b="0" u="none" strike="noStrike" dirty="0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600"/>
            </a:pPr>
            <a:r>
              <a:rPr lang="en-US" dirty="0" err="1">
                <a:solidFill>
                  <a:srgbClr val="000000"/>
                </a:solidFill>
                <a:latin typeface="Arial"/>
              </a:rPr>
              <a:t>Разрабатываемый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модуль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в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контуре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ATS</a:t>
            </a:r>
            <a:endParaRPr dirty="0"/>
          </a:p>
        </p:txBody>
      </p:sp>
      <p:sp>
        <p:nvSpPr>
          <p:cNvPr id="225" name="Google Shape;225;p8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8</a:t>
            </a:fld>
            <a:endParaRPr/>
          </a:p>
        </p:txBody>
      </p:sp>
      <p:sp>
        <p:nvSpPr>
          <p:cNvPr id="2" name="TextBox 225">
            <a:extLst>
              <a:ext uri="{FF2B5EF4-FFF2-40B4-BE49-F238E27FC236}">
                <a16:creationId xmlns:a16="http://schemas.microsoft.com/office/drawing/2014/main" id="{34F8B01F-0CB3-79EC-1B1E-DFC8764F6195}"/>
              </a:ext>
            </a:extLst>
          </p:cNvPr>
          <p:cNvSpPr/>
          <p:nvPr/>
        </p:nvSpPr>
        <p:spPr>
          <a:xfrm>
            <a:off x="868680" y="822960"/>
            <a:ext cx="10149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45000" rIns="7308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На схеме выделен только тот компонент, который был доведен в рамках производственной практики: FastAPI-сервис ранжирования и его модельный пайплайн.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Connector 226">
            <a:extLst>
              <a:ext uri="{FF2B5EF4-FFF2-40B4-BE49-F238E27FC236}">
                <a16:creationId xmlns:a16="http://schemas.microsoft.com/office/drawing/2014/main" id="{4FA66F7B-FAA9-A8D5-86D9-8A906E6FEDA9}"/>
              </a:ext>
            </a:extLst>
          </p:cNvPr>
          <p:cNvCxnSpPr/>
          <p:nvPr/>
        </p:nvCxnSpPr>
        <p:spPr>
          <a:xfrm>
            <a:off x="2148840" y="2743200"/>
            <a:ext cx="914760" cy="360"/>
          </a:xfrm>
          <a:prstGeom prst="straightConnector1">
            <a:avLst/>
          </a:prstGeom>
          <a:ln w="16510">
            <a:solidFill>
              <a:srgbClr val="8296AA"/>
            </a:solidFill>
            <a:round/>
          </a:ln>
        </p:spPr>
      </p:cxnSp>
      <p:cxnSp>
        <p:nvCxnSpPr>
          <p:cNvPr id="4" name="Connector 227">
            <a:extLst>
              <a:ext uri="{FF2B5EF4-FFF2-40B4-BE49-F238E27FC236}">
                <a16:creationId xmlns:a16="http://schemas.microsoft.com/office/drawing/2014/main" id="{C384D09F-8927-B45A-207C-54ED38A328CD}"/>
              </a:ext>
            </a:extLst>
          </p:cNvPr>
          <p:cNvCxnSpPr/>
          <p:nvPr/>
        </p:nvCxnSpPr>
        <p:spPr>
          <a:xfrm>
            <a:off x="8183520" y="2743200"/>
            <a:ext cx="1006560" cy="360"/>
          </a:xfrm>
          <a:prstGeom prst="straightConnector1">
            <a:avLst/>
          </a:prstGeom>
          <a:ln w="16510">
            <a:solidFill>
              <a:srgbClr val="8296AA"/>
            </a:solidFill>
            <a:round/>
          </a:ln>
        </p:spPr>
      </p:cxnSp>
      <p:cxnSp>
        <p:nvCxnSpPr>
          <p:cNvPr id="5" name="Connector 228">
            <a:extLst>
              <a:ext uri="{FF2B5EF4-FFF2-40B4-BE49-F238E27FC236}">
                <a16:creationId xmlns:a16="http://schemas.microsoft.com/office/drawing/2014/main" id="{66C07925-EC65-D9EB-8A64-7500AF588672}"/>
              </a:ext>
            </a:extLst>
          </p:cNvPr>
          <p:cNvCxnSpPr/>
          <p:nvPr/>
        </p:nvCxnSpPr>
        <p:spPr>
          <a:xfrm flipV="1">
            <a:off x="5623560" y="3611880"/>
            <a:ext cx="360" cy="823320"/>
          </a:xfrm>
          <a:prstGeom prst="straightConnector1">
            <a:avLst/>
          </a:prstGeom>
          <a:ln w="16510">
            <a:solidFill>
              <a:srgbClr val="8296AA"/>
            </a:solidFill>
            <a:round/>
          </a:ln>
        </p:spPr>
      </p:cxnSp>
      <p:sp>
        <p:nvSpPr>
          <p:cNvPr id="6" name="Rounded Rectangle 229">
            <a:extLst>
              <a:ext uri="{FF2B5EF4-FFF2-40B4-BE49-F238E27FC236}">
                <a16:creationId xmlns:a16="http://schemas.microsoft.com/office/drawing/2014/main" id="{1E0ADC87-0C14-3974-598E-8BAA18DCCF27}"/>
              </a:ext>
            </a:extLst>
          </p:cNvPr>
          <p:cNvSpPr/>
          <p:nvPr/>
        </p:nvSpPr>
        <p:spPr>
          <a:xfrm>
            <a:off x="713160" y="2103120"/>
            <a:ext cx="1782720" cy="1234080"/>
          </a:xfrm>
          <a:prstGeom prst="roundRect">
            <a:avLst>
              <a:gd name="adj" fmla="val 16667"/>
            </a:avLst>
          </a:prstGeom>
          <a:solidFill>
            <a:srgbClr val="EBEEF2"/>
          </a:solidFill>
          <a:ln w="12700">
            <a:solidFill>
              <a:srgbClr val="8296A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ATS UI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страница вакансии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карточки кандидатов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Rounded Rectangle 230">
            <a:extLst>
              <a:ext uri="{FF2B5EF4-FFF2-40B4-BE49-F238E27FC236}">
                <a16:creationId xmlns:a16="http://schemas.microsoft.com/office/drawing/2014/main" id="{D399C016-C308-7219-D92E-24A291A3FAA5}"/>
              </a:ext>
            </a:extLst>
          </p:cNvPr>
          <p:cNvSpPr/>
          <p:nvPr/>
        </p:nvSpPr>
        <p:spPr>
          <a:xfrm>
            <a:off x="9189720" y="2103120"/>
            <a:ext cx="1828440" cy="1234080"/>
          </a:xfrm>
          <a:prstGeom prst="roundRect">
            <a:avLst>
              <a:gd name="adj" fmla="val 16667"/>
            </a:avLst>
          </a:prstGeom>
          <a:solidFill>
            <a:srgbClr val="EBEEF2"/>
          </a:solidFill>
          <a:ln w="12700">
            <a:solidFill>
              <a:srgbClr val="8296A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ATS backend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получает top-K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и отображает результат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Rounded Rectangle 231">
            <a:extLst>
              <a:ext uri="{FF2B5EF4-FFF2-40B4-BE49-F238E27FC236}">
                <a16:creationId xmlns:a16="http://schemas.microsoft.com/office/drawing/2014/main" id="{B46F360E-35D3-741E-C176-2522B954FA04}"/>
              </a:ext>
            </a:extLst>
          </p:cNvPr>
          <p:cNvSpPr/>
          <p:nvPr/>
        </p:nvSpPr>
        <p:spPr>
          <a:xfrm>
            <a:off x="4206240" y="4617720"/>
            <a:ext cx="2834280" cy="776880"/>
          </a:xfrm>
          <a:prstGeom prst="roundRect">
            <a:avLst>
              <a:gd name="adj" fmla="val 16667"/>
            </a:avLst>
          </a:prstGeom>
          <a:solidFill>
            <a:srgbClr val="F6F6F6"/>
          </a:solidFill>
          <a:ln w="12700">
            <a:solidFill>
              <a:srgbClr val="8296A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Артефакты: модель rubert-tiny2, конфигурации, метрики, тестовый набор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Rounded Rectangle 232">
            <a:extLst>
              <a:ext uri="{FF2B5EF4-FFF2-40B4-BE49-F238E27FC236}">
                <a16:creationId xmlns:a16="http://schemas.microsoft.com/office/drawing/2014/main" id="{046D96C8-59AB-EAC9-CA64-72D93AE14343}"/>
              </a:ext>
            </a:extLst>
          </p:cNvPr>
          <p:cNvSpPr/>
          <p:nvPr/>
        </p:nvSpPr>
        <p:spPr>
          <a:xfrm>
            <a:off x="2971800" y="1755720"/>
            <a:ext cx="5303160" cy="1919880"/>
          </a:xfrm>
          <a:prstGeom prst="roundRect">
            <a:avLst>
              <a:gd name="adj" fmla="val 16667"/>
            </a:avLst>
          </a:prstGeom>
          <a:solidFill>
            <a:srgbClr val="1F5383"/>
          </a:solidFill>
          <a:ln w="22860">
            <a:solidFill>
              <a:srgbClr val="15365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РАЗРАБОТАНО В ПРАКТИКЕ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FastAPI ML-сервис + ATSRanker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hard filtering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bi-encoder embeddings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cosine similarity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• top-K JSON + telemetry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Box 233">
            <a:extLst>
              <a:ext uri="{FF2B5EF4-FFF2-40B4-BE49-F238E27FC236}">
                <a16:creationId xmlns:a16="http://schemas.microsoft.com/office/drawing/2014/main" id="{8AD78A01-669B-BF31-C18D-67C3827CFE1B}"/>
              </a:ext>
            </a:extLst>
          </p:cNvPr>
          <p:cNvSpPr/>
          <p:nvPr/>
        </p:nvSpPr>
        <p:spPr>
          <a:xfrm>
            <a:off x="2541960" y="25419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45000" rIns="7308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505050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Box 234">
            <a:extLst>
              <a:ext uri="{FF2B5EF4-FFF2-40B4-BE49-F238E27FC236}">
                <a16:creationId xmlns:a16="http://schemas.microsoft.com/office/drawing/2014/main" id="{023FED08-C423-A114-8C92-F2D7A05F0AEE}"/>
              </a:ext>
            </a:extLst>
          </p:cNvPr>
          <p:cNvSpPr/>
          <p:nvPr/>
        </p:nvSpPr>
        <p:spPr>
          <a:xfrm>
            <a:off x="8275320" y="25419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45000" rIns="7308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505050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Box 235">
            <a:extLst>
              <a:ext uri="{FF2B5EF4-FFF2-40B4-BE49-F238E27FC236}">
                <a16:creationId xmlns:a16="http://schemas.microsoft.com/office/drawing/2014/main" id="{116FE9FF-440F-7D3B-D659-7C80DA008A14}"/>
              </a:ext>
            </a:extLst>
          </p:cNvPr>
          <p:cNvSpPr/>
          <p:nvPr/>
        </p:nvSpPr>
        <p:spPr>
          <a:xfrm>
            <a:off x="5440680" y="40050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45000" rIns="7308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505050"/>
                </a:solidFill>
                <a:effectLst/>
                <a:uFillTx/>
                <a:latin typeface="Arial"/>
                <a:ea typeface="Arial"/>
              </a:rPr>
              <a:t>↑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Rounded Rectangle 236">
            <a:extLst>
              <a:ext uri="{FF2B5EF4-FFF2-40B4-BE49-F238E27FC236}">
                <a16:creationId xmlns:a16="http://schemas.microsoft.com/office/drawing/2014/main" id="{E90F04B2-31CC-85A2-A105-6EDDDF062A31}"/>
              </a:ext>
            </a:extLst>
          </p:cNvPr>
          <p:cNvSpPr/>
          <p:nvPr/>
        </p:nvSpPr>
        <p:spPr>
          <a:xfrm>
            <a:off x="868680" y="5623560"/>
            <a:ext cx="10012320" cy="43848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BE963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282828"/>
                </a:solidFill>
                <a:effectLst/>
                <a:uFillTx/>
                <a:latin typeface="Arial"/>
                <a:ea typeface="Arial"/>
              </a:rPr>
              <a:t>Что проверялось: корректность API-контракта, наличие latency/model-version, воспроизводимость расчета и устойчивость top-K выдачи.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Обзор методов и обоснование выбора</a:t>
            </a:r>
            <a:endParaRPr/>
          </a:p>
        </p:txBody>
      </p:sp>
      <p:sp>
        <p:nvSpPr>
          <p:cNvPr id="239" name="Google Shape;239;p10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9</a:t>
            </a:fld>
            <a:endParaRPr/>
          </a:p>
        </p:txBody>
      </p:sp>
      <p:graphicFrame>
        <p:nvGraphicFramePr>
          <p:cNvPr id="2" name="Google Shape;240;p10">
            <a:extLst>
              <a:ext uri="{FF2B5EF4-FFF2-40B4-BE49-F238E27FC236}">
                <a16:creationId xmlns:a16="http://schemas.microsoft.com/office/drawing/2014/main" id="{3FE654D0-7FD7-70BC-17F3-26D7BE9700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9362171"/>
              </p:ext>
            </p:extLst>
          </p:nvPr>
        </p:nvGraphicFramePr>
        <p:xfrm>
          <a:off x="2541666" y="2078317"/>
          <a:ext cx="6409800" cy="1965960"/>
        </p:xfrm>
        <a:graphic>
          <a:graphicData uri="http://schemas.openxmlformats.org/drawingml/2006/table">
            <a:tbl>
              <a:tblPr/>
              <a:tblGrid>
                <a:gridCol w="193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9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Метод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Семантика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Скорость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Вывод для практики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TF-IDF / BM25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Низкая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Высокая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Базовая линия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Word2Vec / FastText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Частичная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Высокая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Недостаточно контекста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Cross-Encoder BERT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Высокая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Низкая при N резюме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Дорогой reranking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Bi-Encoder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Высокая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Высокая после индексации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Выбранный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подход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Подготовка данных и обучение модели</a:t>
            </a:r>
            <a:endParaRPr/>
          </a:p>
        </p:txBody>
      </p:sp>
      <p:sp>
        <p:nvSpPr>
          <p:cNvPr id="246" name="Google Shape;246;p11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10</a:t>
            </a:fld>
            <a:endParaRPr/>
          </a:p>
        </p:txBody>
      </p:sp>
      <p:graphicFrame>
        <p:nvGraphicFramePr>
          <p:cNvPr id="247" name="Google Shape;247;p11"/>
          <p:cNvGraphicFramePr/>
          <p:nvPr/>
        </p:nvGraphicFramePr>
        <p:xfrm>
          <a:off x="644450" y="1697750"/>
          <a:ext cx="2831100" cy="2317314"/>
        </p:xfrm>
        <a:graphic>
          <a:graphicData uri="http://schemas.openxmlformats.org/drawingml/2006/table">
            <a:tbl>
              <a:tblPr>
                <a:noFill/>
                <a:tableStyleId>{27097C21-5E8D-44ED-B5D9-4BA08D20CD41}</a:tableStyleId>
              </a:tblPr>
              <a:tblGrid>
                <a:gridCol w="108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Параметр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Значение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Функция потерь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ContrastiveLoss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Базовая модель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cointegrated/rubert-tiny2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Эпохи / шаги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3 эпохи / 1 566 шагов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48" name="Google Shape;24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950" y="926115"/>
            <a:ext cx="8411651" cy="500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Результаты экспериментальной оценки</a:t>
            </a:r>
            <a:endParaRPr/>
          </a:p>
        </p:txBody>
      </p:sp>
      <p:sp>
        <p:nvSpPr>
          <p:cNvPr id="262" name="Google Shape;262;p13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11</a:t>
            </a:fld>
            <a:endParaRPr/>
          </a:p>
        </p:txBody>
      </p:sp>
      <p:graphicFrame>
        <p:nvGraphicFramePr>
          <p:cNvPr id="263" name="Google Shape;263;p13"/>
          <p:cNvGraphicFramePr/>
          <p:nvPr/>
        </p:nvGraphicFramePr>
        <p:xfrm>
          <a:off x="959675" y="2528100"/>
          <a:ext cx="3891550" cy="2019372"/>
        </p:xfrm>
        <a:graphic>
          <a:graphicData uri="http://schemas.openxmlformats.org/drawingml/2006/table">
            <a:tbl>
              <a:tblPr>
                <a:noFill/>
                <a:tableStyleId>{27097C21-5E8D-44ED-B5D9-4BA08D20CD41}</a:tableStyleId>
              </a:tblPr>
              <a:tblGrid>
                <a:gridCol w="120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Метрика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Baseline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Fine-Tuned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Прирост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Average Precision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0.259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0.987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+281%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F1-score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—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0.960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—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Accuracy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—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0.973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—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4" name="Google Shape;264;p13"/>
          <p:cNvSpPr txBox="1"/>
          <p:nvPr/>
        </p:nvSpPr>
        <p:spPr>
          <a:xfrm>
            <a:off x="612575" y="466250"/>
            <a:ext cx="50163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500" b="1"/>
              <a:t>Задача 1: Бинарная классификация</a:t>
            </a:r>
            <a:r>
              <a:rPr lang="ru-RU" sz="1500"/>
              <a:t> </a:t>
            </a:r>
            <a:r>
              <a:rPr lang="ru-RU" sz="1500" i="1"/>
              <a:t>(val-выборка)</a:t>
            </a:r>
            <a:endParaRPr sz="1500" i="1"/>
          </a:p>
        </p:txBody>
      </p:sp>
      <p:graphicFrame>
        <p:nvGraphicFramePr>
          <p:cNvPr id="265" name="Google Shape;265;p13"/>
          <p:cNvGraphicFramePr/>
          <p:nvPr/>
        </p:nvGraphicFramePr>
        <p:xfrm>
          <a:off x="7321788" y="2528100"/>
          <a:ext cx="3263225" cy="1581222"/>
        </p:xfrm>
        <a:graphic>
          <a:graphicData uri="http://schemas.openxmlformats.org/drawingml/2006/table">
            <a:tbl>
              <a:tblPr>
                <a:noFill/>
                <a:tableStyleId>{27097C21-5E8D-44ED-B5D9-4BA08D20CD41}</a:tableStyleId>
              </a:tblPr>
              <a:tblGrid>
                <a:gridCol w="237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Метрика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Значение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DCNG@1 / @3 / @5 / @10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1.000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MRR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1.000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Precision@3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0.9958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6" name="Google Shape;266;p13"/>
          <p:cNvSpPr txBox="1"/>
          <p:nvPr/>
        </p:nvSpPr>
        <p:spPr>
          <a:xfrm>
            <a:off x="6096000" y="466250"/>
            <a:ext cx="59526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500" b="1"/>
              <a:t>Задача 2: Ранжирование</a:t>
            </a:r>
            <a:r>
              <a:rPr lang="ru-RU" sz="1500"/>
              <a:t> </a:t>
            </a:r>
            <a:r>
              <a:rPr lang="ru-RU" sz="1500" i="1"/>
              <a:t>(521 тестовая пара, 423 вакансии)</a:t>
            </a:r>
            <a:endParaRPr sz="1500"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272" name="Google Shape;272;p15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300" dirty="0"/>
              <a:t>В ходе производственной практики разработан и проверен интеллектуальный модуль ранжирования кандидатов для ATS. Реализован воспроизводимый путь от подготовки данных и обучения </a:t>
            </a:r>
            <a:r>
              <a:rPr lang="ru-RU" sz="2300" dirty="0" err="1"/>
              <a:t>bi-encoder</a:t>
            </a:r>
            <a:r>
              <a:rPr lang="ru-RU" sz="2300" dirty="0"/>
              <a:t> модели до API-сервиса и e2e-интеграционного теста</a:t>
            </a:r>
          </a:p>
          <a:p>
            <a:pPr marL="228600" lvl="0" indent="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300" dirty="0"/>
              <a:t>Архитектура </a:t>
            </a:r>
            <a:r>
              <a:rPr lang="ru-RU" sz="2300" dirty="0" err="1"/>
              <a:t>hard</a:t>
            </a:r>
            <a:r>
              <a:rPr lang="ru-RU" sz="2300" dirty="0"/>
              <a:t> </a:t>
            </a:r>
            <a:r>
              <a:rPr lang="ru-RU" sz="2300" dirty="0" err="1"/>
              <a:t>filtering</a:t>
            </a:r>
            <a:r>
              <a:rPr lang="ru-RU" sz="2300" dirty="0"/>
              <a:t> + </a:t>
            </a:r>
            <a:r>
              <a:rPr lang="ru-RU" sz="2300" dirty="0" err="1"/>
              <a:t>dense</a:t>
            </a:r>
            <a:r>
              <a:rPr lang="ru-RU" sz="2300" dirty="0"/>
              <a:t> </a:t>
            </a:r>
            <a:r>
              <a:rPr lang="ru-RU" sz="2300" dirty="0" err="1"/>
              <a:t>reranking</a:t>
            </a:r>
            <a:r>
              <a:rPr lang="ru-RU" sz="2300" dirty="0"/>
              <a:t> позволяет совместить обязательные бизнес-ограничения и семантическое сопоставление вакансий с резюме. На текущем тестовом срезе получены высокие значения NDCG, MRR и </a:t>
            </a:r>
            <a:r>
              <a:rPr lang="ru-RU" sz="2300" dirty="0" err="1"/>
              <a:t>Precision@K</a:t>
            </a:r>
            <a:r>
              <a:rPr lang="ru-RU" sz="2300" dirty="0"/>
              <a:t>, однако результаты интерпретируются с учетом ограниченного объема и структуры выборки.</a:t>
            </a:r>
          </a:p>
          <a:p>
            <a:pPr marL="228600" lvl="0" indent="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300" dirty="0"/>
              <a:t>Дальнейшее развитие: расширение датасета, сравнение с </a:t>
            </a:r>
            <a:r>
              <a:rPr lang="ru-RU" sz="2300" dirty="0" err="1"/>
              <a:t>baseline</a:t>
            </a:r>
            <a:r>
              <a:rPr lang="ru-RU" sz="2300" dirty="0"/>
              <a:t>-моделями, </a:t>
            </a:r>
            <a:r>
              <a:rPr lang="ru-RU" sz="2300" dirty="0" err="1"/>
              <a:t>Vector</a:t>
            </a:r>
            <a:r>
              <a:rPr lang="ru-RU" sz="2300" dirty="0"/>
              <a:t> DB / ANN для масштабирования, Learning-</a:t>
            </a:r>
            <a:r>
              <a:rPr lang="ru-RU" sz="2300" dirty="0" err="1"/>
              <a:t>to</a:t>
            </a:r>
            <a:r>
              <a:rPr lang="ru-RU" sz="2300" dirty="0"/>
              <a:t>-</a:t>
            </a:r>
            <a:r>
              <a:rPr lang="ru-RU" sz="2300" dirty="0" err="1"/>
              <a:t>Rank</a:t>
            </a:r>
            <a:r>
              <a:rPr lang="ru-RU" sz="2300" dirty="0"/>
              <a:t>, </a:t>
            </a:r>
            <a:r>
              <a:rPr lang="ru-RU" sz="2300" dirty="0" err="1"/>
              <a:t>explainability</a:t>
            </a:r>
            <a:r>
              <a:rPr lang="ru-RU" sz="2300" dirty="0"/>
              <a:t> и мониторинг качества в эксплуатации.</a:t>
            </a:r>
          </a:p>
        </p:txBody>
      </p:sp>
      <p:sp>
        <p:nvSpPr>
          <p:cNvPr id="273" name="Google Shape;273;p15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Список литературы</a:t>
            </a:r>
            <a:endParaRPr/>
          </a:p>
        </p:txBody>
      </p:sp>
      <p:sp>
        <p:nvSpPr>
          <p:cNvPr id="279" name="Google Shape;279;p16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 dirty="0" err="1"/>
              <a:t>Rosenberger</a:t>
            </a:r>
            <a:r>
              <a:rPr lang="ru-RU" sz="2000" dirty="0"/>
              <a:t> J., </a:t>
            </a:r>
            <a:r>
              <a:rPr lang="ru-RU" sz="2000" dirty="0" err="1"/>
              <a:t>Wolfrum</a:t>
            </a:r>
            <a:r>
              <a:rPr lang="ru-RU" sz="2000" dirty="0"/>
              <a:t> L., </a:t>
            </a:r>
            <a:r>
              <a:rPr lang="ru-RU" sz="2000" dirty="0" err="1"/>
              <a:t>Weinzierl</a:t>
            </a:r>
            <a:r>
              <a:rPr lang="ru-RU" sz="2000" dirty="0"/>
              <a:t> S., </a:t>
            </a:r>
            <a:r>
              <a:rPr lang="ru-RU" sz="2000" dirty="0" err="1"/>
              <a:t>Kraus</a:t>
            </a:r>
            <a:r>
              <a:rPr lang="ru-RU" sz="2000" dirty="0"/>
              <a:t> M., </a:t>
            </a:r>
            <a:r>
              <a:rPr lang="ru-RU" sz="2000" dirty="0" err="1"/>
              <a:t>Zschech</a:t>
            </a:r>
            <a:r>
              <a:rPr lang="ru-RU" sz="2000" dirty="0"/>
              <a:t> P. </a:t>
            </a:r>
            <a:r>
              <a:rPr lang="ru-RU" sz="2000" dirty="0" err="1"/>
              <a:t>CareerBERT</a:t>
            </a:r>
            <a:r>
              <a:rPr lang="ru-RU" sz="2000" dirty="0"/>
              <a:t>: </a:t>
            </a:r>
            <a:r>
              <a:rPr lang="ru-RU" sz="2000" dirty="0" err="1"/>
              <a:t>Matching</a:t>
            </a:r>
            <a:r>
              <a:rPr lang="ru-RU" sz="2000" dirty="0"/>
              <a:t> </a:t>
            </a:r>
            <a:r>
              <a:rPr lang="ru-RU" sz="2000" dirty="0" err="1"/>
              <a:t>Resumes</a:t>
            </a:r>
            <a:r>
              <a:rPr lang="ru-RU" sz="2000" dirty="0"/>
              <a:t> </a:t>
            </a:r>
            <a:r>
              <a:rPr lang="ru-RU" sz="2000" dirty="0" err="1"/>
              <a:t>to</a:t>
            </a:r>
            <a:r>
              <a:rPr lang="ru-RU" sz="2000" dirty="0"/>
              <a:t> ESCO </a:t>
            </a:r>
            <a:r>
              <a:rPr lang="ru-RU" sz="2000" dirty="0" err="1"/>
              <a:t>Jobs</a:t>
            </a:r>
            <a:r>
              <a:rPr lang="ru-RU" sz="2000" dirty="0"/>
              <a:t> </a:t>
            </a:r>
            <a:r>
              <a:rPr lang="ru-RU" sz="2000" dirty="0" err="1"/>
              <a:t>in</a:t>
            </a:r>
            <a:r>
              <a:rPr lang="ru-RU" sz="2000" dirty="0"/>
              <a:t> a </a:t>
            </a:r>
            <a:r>
              <a:rPr lang="ru-RU" sz="2000" dirty="0" err="1"/>
              <a:t>Shared</a:t>
            </a:r>
            <a:r>
              <a:rPr lang="ru-RU" sz="2000" dirty="0"/>
              <a:t> </a:t>
            </a:r>
            <a:r>
              <a:rPr lang="ru-RU" sz="2000" dirty="0" err="1"/>
              <a:t>Embedding</a:t>
            </a:r>
            <a:r>
              <a:rPr lang="ru-RU" sz="2000" dirty="0"/>
              <a:t> Space </a:t>
            </a:r>
            <a:r>
              <a:rPr lang="ru-RU" sz="2000" dirty="0" err="1"/>
              <a:t>for</a:t>
            </a:r>
            <a:r>
              <a:rPr lang="ru-RU" sz="2000" dirty="0"/>
              <a:t> </a:t>
            </a:r>
            <a:r>
              <a:rPr lang="ru-RU" sz="2000" dirty="0" err="1"/>
              <a:t>Generic</a:t>
            </a:r>
            <a:r>
              <a:rPr lang="ru-RU" sz="2000" dirty="0"/>
              <a:t> </a:t>
            </a:r>
            <a:r>
              <a:rPr lang="ru-RU" sz="2000" dirty="0" err="1"/>
              <a:t>Job</a:t>
            </a:r>
            <a:r>
              <a:rPr lang="ru-RU" sz="2000" dirty="0"/>
              <a:t> </a:t>
            </a:r>
            <a:r>
              <a:rPr lang="ru-RU" sz="2000" dirty="0" err="1"/>
              <a:t>Recommendations</a:t>
            </a:r>
            <a:r>
              <a:rPr lang="ru-RU" sz="2000" dirty="0"/>
              <a:t>. Expert Systems </a:t>
            </a:r>
            <a:r>
              <a:rPr lang="ru-RU" sz="2000" dirty="0" err="1"/>
              <a:t>with</a:t>
            </a:r>
            <a:r>
              <a:rPr lang="ru-RU" sz="2000" dirty="0"/>
              <a:t> Applications, 2025 (arXiv:2503.02056).</a:t>
            </a:r>
            <a:endParaRPr sz="2000"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 dirty="0" err="1"/>
              <a:t>Devlin</a:t>
            </a:r>
            <a:r>
              <a:rPr lang="ru-RU" sz="2000" dirty="0"/>
              <a:t> J., </a:t>
            </a:r>
            <a:r>
              <a:rPr lang="ru-RU" sz="2000" dirty="0" err="1"/>
              <a:t>Chang</a:t>
            </a:r>
            <a:r>
              <a:rPr lang="ru-RU" sz="2000"/>
              <a:t> M.-W., Lee K., </a:t>
            </a:r>
            <a:r>
              <a:rPr lang="ru-RU" sz="2000" dirty="0" err="1"/>
              <a:t>Toutanova</a:t>
            </a:r>
            <a:r>
              <a:rPr lang="ru-RU" sz="2000" dirty="0"/>
              <a:t> K. BERT: </a:t>
            </a:r>
            <a:r>
              <a:rPr lang="ru-RU" sz="2000" dirty="0" err="1"/>
              <a:t>Pre-training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Deep </a:t>
            </a:r>
            <a:r>
              <a:rPr lang="ru-RU" sz="2000" dirty="0" err="1"/>
              <a:t>Bidirectional</a:t>
            </a:r>
            <a:r>
              <a:rPr lang="ru-RU" sz="2000" dirty="0"/>
              <a:t> </a:t>
            </a:r>
            <a:r>
              <a:rPr lang="ru-RU" sz="2000" dirty="0" err="1"/>
              <a:t>Transformers</a:t>
            </a:r>
            <a:r>
              <a:rPr lang="ru-RU" sz="2000" dirty="0"/>
              <a:t> </a:t>
            </a:r>
            <a:r>
              <a:rPr lang="ru-RU" sz="2000" dirty="0" err="1"/>
              <a:t>for</a:t>
            </a:r>
            <a:r>
              <a:rPr lang="ru-RU" sz="2000" dirty="0"/>
              <a:t> Language </a:t>
            </a:r>
            <a:r>
              <a:rPr lang="ru-RU" sz="2000" dirty="0" err="1"/>
              <a:t>Understanding</a:t>
            </a:r>
            <a:r>
              <a:rPr lang="ru-RU" sz="2000" dirty="0"/>
              <a:t>. arXiv:1810.04805.</a:t>
            </a:r>
            <a:endParaRPr sz="2000"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 dirty="0" err="1"/>
              <a:t>Reimers</a:t>
            </a:r>
            <a:r>
              <a:rPr lang="ru-RU" sz="2000" dirty="0"/>
              <a:t> N., </a:t>
            </a:r>
            <a:r>
              <a:rPr lang="ru-RU" sz="2000" dirty="0" err="1"/>
              <a:t>Gurevych</a:t>
            </a:r>
            <a:r>
              <a:rPr lang="ru-RU" sz="2000" dirty="0"/>
              <a:t> I. </a:t>
            </a:r>
            <a:r>
              <a:rPr lang="ru-RU" sz="2000" dirty="0" err="1"/>
              <a:t>Sentence</a:t>
            </a:r>
            <a:r>
              <a:rPr lang="ru-RU" sz="2000" dirty="0"/>
              <a:t>-BERT: </a:t>
            </a:r>
            <a:r>
              <a:rPr lang="ru-RU" sz="2000" dirty="0" err="1"/>
              <a:t>Sentence</a:t>
            </a:r>
            <a:r>
              <a:rPr lang="ru-RU" sz="2000" dirty="0"/>
              <a:t> </a:t>
            </a:r>
            <a:r>
              <a:rPr lang="ru-RU" sz="2000" dirty="0" err="1"/>
              <a:t>Embeddings</a:t>
            </a:r>
            <a:r>
              <a:rPr lang="ru-RU" sz="2000" dirty="0"/>
              <a:t> </a:t>
            </a:r>
            <a:r>
              <a:rPr lang="ru-RU" sz="2000" dirty="0" err="1"/>
              <a:t>using</a:t>
            </a:r>
            <a:r>
              <a:rPr lang="ru-RU" sz="2000" dirty="0"/>
              <a:t> </a:t>
            </a:r>
            <a:r>
              <a:rPr lang="ru-RU" sz="2000" dirty="0" err="1"/>
              <a:t>Siamese</a:t>
            </a:r>
            <a:r>
              <a:rPr lang="ru-RU" sz="2000" dirty="0"/>
              <a:t> BERT-Networks. arXiv:1908.10084.</a:t>
            </a:r>
            <a:endParaRPr sz="2000"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 dirty="0" err="1"/>
              <a:t>Liu</a:t>
            </a:r>
            <a:r>
              <a:rPr lang="ru-RU" sz="2000" dirty="0"/>
              <a:t> T.-Y. Learning </a:t>
            </a:r>
            <a:r>
              <a:rPr lang="ru-RU" sz="2000" dirty="0" err="1"/>
              <a:t>to</a:t>
            </a:r>
            <a:r>
              <a:rPr lang="ru-RU" sz="2000" dirty="0"/>
              <a:t> </a:t>
            </a:r>
            <a:r>
              <a:rPr lang="ru-RU" sz="2000" dirty="0" err="1"/>
              <a:t>Rank</a:t>
            </a:r>
            <a:r>
              <a:rPr lang="ru-RU" sz="2000" dirty="0"/>
              <a:t> </a:t>
            </a:r>
            <a:r>
              <a:rPr lang="ru-RU" sz="2000" dirty="0" err="1"/>
              <a:t>for</a:t>
            </a:r>
            <a:r>
              <a:rPr lang="ru-RU" sz="2000" dirty="0"/>
              <a:t> Information </a:t>
            </a:r>
            <a:r>
              <a:rPr lang="ru-RU" sz="2000" dirty="0" err="1"/>
              <a:t>Retrieval</a:t>
            </a:r>
            <a:r>
              <a:rPr lang="ru-RU" sz="2000" dirty="0"/>
              <a:t>. </a:t>
            </a:r>
            <a:r>
              <a:rPr lang="ru-RU" sz="2000" dirty="0" err="1"/>
              <a:t>Foundations</a:t>
            </a:r>
            <a:r>
              <a:rPr lang="ru-RU" sz="2000" dirty="0"/>
              <a:t> and </a:t>
            </a:r>
            <a:r>
              <a:rPr lang="ru-RU" sz="2000" dirty="0" err="1"/>
              <a:t>Trends</a:t>
            </a:r>
            <a:r>
              <a:rPr lang="ru-RU" sz="2000" dirty="0"/>
              <a:t> </a:t>
            </a:r>
            <a:r>
              <a:rPr lang="ru-RU" sz="2000" dirty="0" err="1"/>
              <a:t>in</a:t>
            </a:r>
            <a:r>
              <a:rPr lang="ru-RU" sz="2000" dirty="0"/>
              <a:t> Information </a:t>
            </a:r>
            <a:r>
              <a:rPr lang="ru-RU" sz="2000" dirty="0" err="1"/>
              <a:t>Retrieval</a:t>
            </a:r>
            <a:r>
              <a:rPr lang="ru-RU" sz="2000" dirty="0"/>
              <a:t>, 3(3), 2009, </a:t>
            </a:r>
            <a:r>
              <a:rPr lang="ru-RU" sz="2000" dirty="0" err="1"/>
              <a:t>pp</a:t>
            </a:r>
            <a:r>
              <a:rPr lang="ru-RU" sz="2000" dirty="0"/>
              <a:t>. 225–331.</a:t>
            </a:r>
            <a:endParaRPr sz="2000"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 dirty="0" err="1"/>
              <a:t>Järvelin</a:t>
            </a:r>
            <a:r>
              <a:rPr lang="ru-RU" sz="2000" dirty="0"/>
              <a:t> K., </a:t>
            </a:r>
            <a:r>
              <a:rPr lang="ru-RU" sz="2000" dirty="0" err="1"/>
              <a:t>Kekäläinen</a:t>
            </a:r>
            <a:r>
              <a:rPr lang="ru-RU" sz="2000" dirty="0"/>
              <a:t> J. </a:t>
            </a:r>
            <a:r>
              <a:rPr lang="ru-RU" sz="2000" dirty="0" err="1"/>
              <a:t>Cumulated</a:t>
            </a:r>
            <a:r>
              <a:rPr lang="ru-RU" sz="2000" dirty="0"/>
              <a:t> </a:t>
            </a:r>
            <a:r>
              <a:rPr lang="ru-RU" sz="2000" dirty="0" err="1"/>
              <a:t>Gain-based</a:t>
            </a:r>
            <a:r>
              <a:rPr lang="ru-RU" sz="2000" dirty="0"/>
              <a:t> </a:t>
            </a:r>
            <a:r>
              <a:rPr lang="ru-RU" sz="2000" dirty="0" err="1"/>
              <a:t>Evaluation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IR </a:t>
            </a:r>
            <a:r>
              <a:rPr lang="ru-RU" sz="2000" dirty="0" err="1"/>
              <a:t>Techniques</a:t>
            </a:r>
            <a:r>
              <a:rPr lang="ru-RU" sz="2000" dirty="0"/>
              <a:t>. ACM </a:t>
            </a:r>
            <a:r>
              <a:rPr lang="ru-RU" sz="2000" dirty="0" err="1"/>
              <a:t>Transactions</a:t>
            </a:r>
            <a:r>
              <a:rPr lang="ru-RU" sz="2000" dirty="0"/>
              <a:t> </a:t>
            </a:r>
            <a:r>
              <a:rPr lang="ru-RU" sz="2000" dirty="0" err="1"/>
              <a:t>on</a:t>
            </a:r>
            <a:r>
              <a:rPr lang="ru-RU" sz="2000" dirty="0"/>
              <a:t> Information Systems, 20(4), 2002, </a:t>
            </a:r>
            <a:r>
              <a:rPr lang="ru-RU" sz="2000" dirty="0" err="1"/>
              <a:t>pp</a:t>
            </a:r>
            <a:r>
              <a:rPr lang="ru-RU" sz="2000" dirty="0"/>
              <a:t>. 422–446.</a:t>
            </a:r>
            <a:endParaRPr sz="2000" dirty="0"/>
          </a:p>
        </p:txBody>
      </p:sp>
      <p:sp>
        <p:nvSpPr>
          <p:cNvPr id="280" name="Google Shape;280;p16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13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14</a:t>
            </a:fld>
            <a:endParaRPr/>
          </a:p>
        </p:txBody>
      </p:sp>
      <p:sp>
        <p:nvSpPr>
          <p:cNvPr id="286" name="Google Shape;286;p17"/>
          <p:cNvSpPr txBox="1"/>
          <p:nvPr/>
        </p:nvSpPr>
        <p:spPr>
          <a:xfrm>
            <a:off x="4228176" y="2739377"/>
            <a:ext cx="378821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ru-RU" sz="2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Спасибо за внимание!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ef068bf5d_0_0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  <p:pic>
        <p:nvPicPr>
          <p:cNvPr id="293" name="Google Shape;293;g3def068bf5d_0_0" title="reqcore auth sign-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228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ef068bf5d_0_6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  <p:pic>
        <p:nvPicPr>
          <p:cNvPr id="300" name="Google Shape;300;g3def068bf5d_0_6" title="reqcore dashboard jobs 483c8e0e-ab8f-424d-b0cb-c7625addd73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239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ef068bf5d_0_12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  <p:pic>
        <p:nvPicPr>
          <p:cNvPr id="307" name="Google Shape;307;g3def068bf5d_0_12" title="reqcore dashboard settings a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222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ef068bf5d_0_18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  <p:pic>
        <p:nvPicPr>
          <p:cNvPr id="314" name="Google Shape;314;g3def068bf5d_0_18" title="reqcore 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29376" cy="6261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ef068bf5d_0_24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  <p:pic>
        <p:nvPicPr>
          <p:cNvPr id="321" name="Google Shape;321;g3def068bf5d_0_24" title="reqcore main p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51238" cy="626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ef068bf5d_0_30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  <p:pic>
        <p:nvPicPr>
          <p:cNvPr id="328" name="Google Shape;328;g3def068bf5d_0_30" title="minio lo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222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1509</Words>
  <Application>Microsoft Office PowerPoint</Application>
  <PresentationFormat>Широкоэкранный</PresentationFormat>
  <Paragraphs>180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Wingdings</vt:lpstr>
      <vt:lpstr>Arial Black</vt:lpstr>
      <vt:lpstr>Roboto Mono</vt:lpstr>
      <vt:lpstr>Calibri</vt:lpstr>
      <vt:lpstr>Symbol</vt:lpstr>
      <vt:lpstr>Тема Office</vt:lpstr>
      <vt:lpstr>Разработка и отладка интеллектуального модуля ранжирования кандидатов</vt:lpstr>
      <vt:lpstr>Реферат</vt:lpstr>
      <vt:lpstr>Актуальность работы</vt:lpstr>
      <vt:lpstr>Цель производственной практики</vt:lpstr>
      <vt:lpstr>Задачи НИР</vt:lpstr>
      <vt:lpstr>Введение и проблематика</vt:lpstr>
      <vt:lpstr>Постановка задачи</vt:lpstr>
      <vt:lpstr>Разрабатываемый модуль в контуре ATS</vt:lpstr>
      <vt:lpstr>Обзор методов и обоснование выбора</vt:lpstr>
      <vt:lpstr>Подготовка данных и обучение модели</vt:lpstr>
      <vt:lpstr>Результаты экспериментальной оценки</vt:lpstr>
      <vt:lpstr>Заключение</vt:lpstr>
      <vt:lpstr>Список литературы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V. R.</dc:creator>
  <cp:lastModifiedBy>Артём Носов</cp:lastModifiedBy>
  <cp:revision>2</cp:revision>
  <dcterms:created xsi:type="dcterms:W3CDTF">2017-09-30T21:27:42Z</dcterms:created>
  <dcterms:modified xsi:type="dcterms:W3CDTF">2026-05-20T18:46:15Z</dcterms:modified>
</cp:coreProperties>
</file>
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4" roundtripDataSignature="AMtx7mj46NV3r8MQx2rADgkXEkSsTxd1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48A582-2F52-4600-A0AA-E4B3F9C686BB}">
  <a:tblStyle styleId="{1148A582-2F52-4600-A0AA-E4B3F9C686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64EFC6D-C6C4-483B-8C06-D60C02C3F345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" name="Google Shape;31;p19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{1148A582-2F52-4600-A0AA-E4B3F9C686BB}</a:tableStyleId>
              </a:tblPr>
              <a:tblGrid>
                <a:gridCol w="3063925"/>
                <a:gridCol w="273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32" name="Google Shape;32;p19"/>
          <p:cNvSpPr txBox="1"/>
          <p:nvPr/>
        </p:nvSpPr>
        <p:spPr>
          <a:xfrm>
            <a:off x="3305360" y="2883132"/>
            <a:ext cx="52709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Научно-исследовательская работа на тему: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9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9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0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1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51" name="Google Shape;51;p2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" name="Google Shape;55;p22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{1148A582-2F52-4600-A0AA-E4B3F9C686BB}</a:tableStyleId>
              </a:tblPr>
              <a:tblGrid>
                <a:gridCol w="3063925"/>
                <a:gridCol w="273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56" name="Google Shape;56;p22"/>
          <p:cNvSpPr txBox="1"/>
          <p:nvPr/>
        </p:nvSpPr>
        <p:spPr>
          <a:xfrm>
            <a:off x="3316581" y="2883132"/>
            <a:ext cx="524855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Учебно-исследовательская работа на тему: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9328287" y="4641277"/>
            <a:ext cx="2184400" cy="2852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9328287" y="4996083"/>
            <a:ext cx="2184400" cy="2995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3" type="body"/>
          </p:nvPr>
        </p:nvSpPr>
        <p:spPr>
          <a:xfrm>
            <a:off x="9323524" y="5462042"/>
            <a:ext cx="2184400" cy="58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23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{1148A582-2F52-4600-A0AA-E4B3F9C686BB}</a:tableStyleId>
              </a:tblPr>
              <a:tblGrid>
                <a:gridCol w="3063925"/>
                <a:gridCol w="2732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42252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ru-RU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121925" marL="1219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/>
                </a:tc>
              </a:tr>
            </a:tbl>
          </a:graphicData>
        </a:graphic>
      </p:graphicFrame>
      <p:sp>
        <p:nvSpPr>
          <p:cNvPr id="67" name="Google Shape;67;p23"/>
          <p:cNvSpPr txBox="1"/>
          <p:nvPr/>
        </p:nvSpPr>
        <p:spPr>
          <a:xfrm>
            <a:off x="3088154" y="2883132"/>
            <a:ext cx="57054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Выпускная квалификационная работа на тему: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3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3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3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3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b="0" i="0" sz="16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3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b="0" i="0" sz="16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3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25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6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>
            <a:off x="838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2" type="body"/>
          </p:nvPr>
        </p:nvSpPr>
        <p:spPr>
          <a:xfrm>
            <a:off x="6172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7"/>
          <p:cNvSpPr txBox="1"/>
          <p:nvPr>
            <p:ph type="title"/>
          </p:nvPr>
        </p:nvSpPr>
        <p:spPr>
          <a:xfrm>
            <a:off x="839788" y="40807"/>
            <a:ext cx="10515600" cy="7609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" type="body"/>
          </p:nvPr>
        </p:nvSpPr>
        <p:spPr>
          <a:xfrm>
            <a:off x="839788" y="897402"/>
            <a:ext cx="5157787" cy="6656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8" name="Google Shape;98;p27"/>
          <p:cNvSpPr txBox="1"/>
          <p:nvPr>
            <p:ph idx="2" type="body"/>
          </p:nvPr>
        </p:nvSpPr>
        <p:spPr>
          <a:xfrm>
            <a:off x="839788" y="1563038"/>
            <a:ext cx="5157787" cy="462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3" type="body"/>
          </p:nvPr>
        </p:nvSpPr>
        <p:spPr>
          <a:xfrm>
            <a:off x="6172200" y="897402"/>
            <a:ext cx="5183188" cy="6656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0" name="Google Shape;100;p27"/>
          <p:cNvSpPr txBox="1"/>
          <p:nvPr>
            <p:ph idx="4" type="body"/>
          </p:nvPr>
        </p:nvSpPr>
        <p:spPr>
          <a:xfrm>
            <a:off x="6172200" y="1563038"/>
            <a:ext cx="5183188" cy="462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8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9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9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5" name="Google Shape;115;p29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" name="Google Shape;116;p29"/>
          <p:cNvCxnSpPr/>
          <p:nvPr/>
        </p:nvCxnSpPr>
        <p:spPr>
          <a:xfrm>
            <a:off x="838200" y="887210"/>
            <a:ext cx="3933825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29"/>
          <p:cNvSpPr txBox="1"/>
          <p:nvPr>
            <p:ph type="title"/>
          </p:nvPr>
        </p:nvSpPr>
        <p:spPr>
          <a:xfrm>
            <a:off x="839788" y="175210"/>
            <a:ext cx="3932237" cy="698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9"/>
          <p:cNvSpPr txBox="1"/>
          <p:nvPr>
            <p:ph idx="1" type="body"/>
          </p:nvPr>
        </p:nvSpPr>
        <p:spPr>
          <a:xfrm>
            <a:off x="4905328" y="175210"/>
            <a:ext cx="6450060" cy="568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9" name="Google Shape;119;p29"/>
          <p:cNvSpPr txBox="1"/>
          <p:nvPr>
            <p:ph idx="2" type="body"/>
          </p:nvPr>
        </p:nvSpPr>
        <p:spPr>
          <a:xfrm>
            <a:off x="839788" y="905391"/>
            <a:ext cx="3932237" cy="49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бъект с подписью">
  <p:cSld name="1_Объект с подписью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0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25" name="Google Shape;125;p30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" name="Google Shape;126;p30"/>
          <p:cNvCxnSpPr/>
          <p:nvPr/>
        </p:nvCxnSpPr>
        <p:spPr>
          <a:xfrm>
            <a:off x="838200" y="887210"/>
            <a:ext cx="3530937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30"/>
          <p:cNvSpPr txBox="1"/>
          <p:nvPr>
            <p:ph type="title"/>
          </p:nvPr>
        </p:nvSpPr>
        <p:spPr>
          <a:xfrm>
            <a:off x="839789" y="175210"/>
            <a:ext cx="3529512" cy="6984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4450386" y="175210"/>
            <a:ext cx="3350123" cy="568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9" name="Google Shape;129;p30"/>
          <p:cNvSpPr txBox="1"/>
          <p:nvPr>
            <p:ph idx="2" type="body"/>
          </p:nvPr>
        </p:nvSpPr>
        <p:spPr>
          <a:xfrm>
            <a:off x="839789" y="905391"/>
            <a:ext cx="3529512" cy="4963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30"/>
          <p:cNvSpPr txBox="1"/>
          <p:nvPr>
            <p:ph idx="3" type="body"/>
          </p:nvPr>
        </p:nvSpPr>
        <p:spPr>
          <a:xfrm>
            <a:off x="7881594" y="175209"/>
            <a:ext cx="3353922" cy="5685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31" name="Google Shape;131;p30"/>
          <p:cNvCxnSpPr/>
          <p:nvPr/>
        </p:nvCxnSpPr>
        <p:spPr>
          <a:xfrm>
            <a:off x="4369137" y="175209"/>
            <a:ext cx="0" cy="72000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1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37" name="Google Shape;137;p3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8" name="Google Shape;138;p31"/>
          <p:cNvCxnSpPr/>
          <p:nvPr/>
        </p:nvCxnSpPr>
        <p:spPr>
          <a:xfrm>
            <a:off x="838200" y="874800"/>
            <a:ext cx="3933825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31"/>
          <p:cNvSpPr txBox="1"/>
          <p:nvPr>
            <p:ph type="title"/>
          </p:nvPr>
        </p:nvSpPr>
        <p:spPr>
          <a:xfrm>
            <a:off x="839788" y="176400"/>
            <a:ext cx="3932237" cy="6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1"/>
          <p:cNvSpPr/>
          <p:nvPr>
            <p:ph idx="2" type="pic"/>
          </p:nvPr>
        </p:nvSpPr>
        <p:spPr>
          <a:xfrm>
            <a:off x="5183188" y="176400"/>
            <a:ext cx="6172200" cy="5684651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839788" y="874801"/>
            <a:ext cx="3932237" cy="4994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2"/>
          <p:cNvSpPr txBox="1"/>
          <p:nvPr>
            <p:ph idx="1" type="body"/>
          </p:nvPr>
        </p:nvSpPr>
        <p:spPr>
          <a:xfrm rot="5400000">
            <a:off x="3442853" y="-1733985"/>
            <a:ext cx="530629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3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рисунка">
  <p:cSld name="Два рисунка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4"/>
          <p:cNvSpPr/>
          <p:nvPr/>
        </p:nvSpPr>
        <p:spPr>
          <a:xfrm>
            <a:off x="5789928" y="6599750"/>
            <a:ext cx="698869" cy="280800"/>
          </a:xfrm>
          <a:prstGeom prst="diamond">
            <a:avLst/>
          </a:prstGeom>
          <a:solidFill>
            <a:schemeClr val="lt1"/>
          </a:solidFill>
          <a:ln cap="flat" cmpd="sng" w="95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4"/>
          <p:cNvSpPr txBox="1"/>
          <p:nvPr>
            <p:ph idx="12" type="sldNum"/>
          </p:nvPr>
        </p:nvSpPr>
        <p:spPr>
          <a:xfrm>
            <a:off x="5846043" y="6591826"/>
            <a:ext cx="570000" cy="287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8" name="Google Shape;158;p34"/>
          <p:cNvSpPr/>
          <p:nvPr>
            <p:ph idx="2" type="pic"/>
          </p:nvPr>
        </p:nvSpPr>
        <p:spPr>
          <a:xfrm>
            <a:off x="838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4"/>
          <p:cNvSpPr/>
          <p:nvPr>
            <p:ph idx="3" type="pic"/>
          </p:nvPr>
        </p:nvSpPr>
        <p:spPr>
          <a:xfrm>
            <a:off x="6172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rot="5400000">
            <a:off x="-3277366" y="3268602"/>
            <a:ext cx="6906537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 txBox="1"/>
          <p:nvPr/>
        </p:nvSpPr>
        <p:spPr>
          <a:xfrm>
            <a:off x="-2880" y="8307"/>
            <a:ext cx="357238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" spcFirstLastPara="1" rIns="18000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0101010001001001001010101010101000000101010101111110101010101011111111111001001001010100010100101010100101001010100101001000000100001110010010010000101000010111111111111010101010010010111111001000100010101111100000010010110101010101010100001111000110000100101010010111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8"/>
          <p:cNvSpPr/>
          <p:nvPr/>
        </p:nvSpPr>
        <p:spPr>
          <a:xfrm>
            <a:off x="0" y="6556718"/>
            <a:ext cx="12192000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 txBox="1"/>
          <p:nvPr/>
        </p:nvSpPr>
        <p:spPr>
          <a:xfrm>
            <a:off x="-8763" y="6562550"/>
            <a:ext cx="12195661" cy="377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000" spcFirstLastPara="1" rIns="18000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001001010010010010000101000010111111111111010101010010010111111001000100010101111100000010010110101010101010100001111000110000100101010010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 txBox="1"/>
          <p:nvPr/>
        </p:nvSpPr>
        <p:spPr>
          <a:xfrm>
            <a:off x="10351455" y="6541811"/>
            <a:ext cx="92365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www.kaf22.ru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 txBox="1"/>
          <p:nvPr/>
        </p:nvSpPr>
        <p:spPr>
          <a:xfrm>
            <a:off x="9489631" y="6355403"/>
            <a:ext cx="182761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Кафедра №22 «Кибернетика»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16257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857" y="6021278"/>
            <a:ext cx="874800" cy="87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/>
          <p:nvPr/>
        </p:nvSpPr>
        <p:spPr>
          <a:xfrm>
            <a:off x="914728" y="6576252"/>
            <a:ext cx="9653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www.mephi.ru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/>
        </p:nvSpPr>
        <p:spPr>
          <a:xfrm>
            <a:off x="916191" y="6374510"/>
            <a:ext cx="87556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5" name="Google Shape;25;p18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cap="flat" cmpd="sng" w="22225">
            <a:solidFill>
              <a:srgbClr val="5375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18"/>
          <p:cNvSpPr/>
          <p:nvPr/>
        </p:nvSpPr>
        <p:spPr>
          <a:xfrm>
            <a:off x="11271693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44943" y="6021278"/>
            <a:ext cx="926750" cy="79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hyperlink" Target="https://www.textkernel.com/" TargetMode="External"/><Relationship Id="rId5" Type="http://schemas.openxmlformats.org/officeDocument/2006/relationships/hyperlink" Target="https://www.textkernel.com/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4.jpg"/><Relationship Id="rId8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1.png"/><Relationship Id="rId1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4model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/>
              <a:t>Разработка модели ранжирования резюме на основе ИИ-подходов в рамках рефакторинга сервиса  автоматизированного отбора кандидатов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Реферат</a:t>
            </a:r>
            <a:endParaRPr/>
          </a:p>
        </p:txBody>
      </p:sp>
      <p:sp>
        <p:nvSpPr>
          <p:cNvPr id="170" name="Google Shape;170;p2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Пояснительная записка содержит: </a:t>
            </a:r>
            <a:r>
              <a:rPr lang="ru-RU" sz="2000">
                <a:highlight>
                  <a:srgbClr val="FFFF00"/>
                </a:highlight>
              </a:rPr>
              <a:t>41</a:t>
            </a:r>
            <a:r>
              <a:rPr lang="ru-RU" sz="2000"/>
              <a:t> страницу, </a:t>
            </a:r>
            <a:r>
              <a:rPr lang="ru-RU" sz="2000">
                <a:highlight>
                  <a:srgbClr val="FFFF00"/>
                </a:highlight>
              </a:rPr>
              <a:t>11 </a:t>
            </a:r>
            <a:r>
              <a:rPr lang="ru-RU" sz="2000"/>
              <a:t>рисунков, 36 источников.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Ключевые слова: ранжирование резюме, ИИ-подходы, обработка естественного языка, ruBERT, рефакторинг сервиса, автоматизированный отбор кандидатов, HR-tech.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Целью данной работы является разработка модели ранжирования резюме на основе ИИ-подходов в рамках рефакторинга сервиса автоматизированного отбора кандидатов.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Работа охватывает анализ методов NLP (TF-IDF, Word2Vec, BERT, FastText, ruBERT), экспериментальное тестирование моделей ранжирования (включая Learning to Rank, NDCG-метрики), а также программную реализацию улучшенной системы с использованием FastAPI, Weaviate и кэшированием в Redis для повышения точности и скорости рекрутинга.</a:t>
            </a:r>
            <a:endParaRPr sz="2000"/>
          </a:p>
        </p:txBody>
      </p:sp>
      <p:sp>
        <p:nvSpPr>
          <p:cNvPr id="171" name="Google Shape;171;p2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800"/>
              <a:t>Актуальность работы</a:t>
            </a:r>
            <a:endParaRPr/>
          </a:p>
        </p:txBody>
      </p:sp>
      <p:sp>
        <p:nvSpPr>
          <p:cNvPr id="177" name="Google Shape;177;p3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661226" y="2810816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Инструменты видеоинтервью и оценки компетенций с использованием AI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6000" y="873193"/>
            <a:ext cx="1994294" cy="1994294"/>
          </a:xfrm>
          <a:prstGeom prst="rect">
            <a:avLst/>
          </a:prstGeom>
          <a:noFill/>
          <a:ln>
            <a:noFill/>
          </a:ln>
        </p:spPr>
      </p:pic>
      <p:sp>
        <p:nvSpPr>
          <p:cNvPr descr="Textkernel" id="180" name="Google Shape;180;p3">
            <a:hlinkClick r:id="rId4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extkernel" id="181" name="Google Shape;181;p3">
            <a:hlinkClick r:id="rId5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7747" y="1304008"/>
            <a:ext cx="4287916" cy="111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"/>
          <p:cNvSpPr txBox="1"/>
          <p:nvPr/>
        </p:nvSpPr>
        <p:spPr>
          <a:xfrm>
            <a:off x="6683318" y="2787429"/>
            <a:ext cx="5127044" cy="70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Парсинг резюме, вакансий и семантический поиск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184" name="Google Shape;18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8509" y="3511839"/>
            <a:ext cx="3643138" cy="19035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"/>
          <p:cNvSpPr txBox="1"/>
          <p:nvPr/>
        </p:nvSpPr>
        <p:spPr>
          <a:xfrm>
            <a:off x="646205" y="5229175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 талантов на основе искусственного интеллекта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background" id="186" name="Google Shape;186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51719" y="3636287"/>
            <a:ext cx="5090449" cy="1342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"/>
          <p:cNvSpPr txBox="1"/>
          <p:nvPr/>
        </p:nvSpPr>
        <p:spPr>
          <a:xfrm>
            <a:off x="6676673" y="5221393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Платформа на основе AI для подбора, удержания и развития талантов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Цель НИР</a:t>
            </a:r>
            <a:endParaRPr/>
          </a:p>
        </p:txBody>
      </p:sp>
      <p:sp>
        <p:nvSpPr>
          <p:cNvPr id="193" name="Google Shape;193;p4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Целью данной работы является разработка модели ранжирования резюме на основе ИИ-подходов в рамках рефакторинга существующего сервиса автоматизированного отбора кандидатов.</a:t>
            </a:r>
            <a:endParaRPr/>
          </a:p>
        </p:txBody>
      </p:sp>
      <p:sp>
        <p:nvSpPr>
          <p:cNvPr id="194" name="Google Shape;194;p4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Задачи НИР</a:t>
            </a:r>
            <a:endParaRPr/>
          </a:p>
        </p:txBody>
      </p:sp>
      <p:sp>
        <p:nvSpPr>
          <p:cNvPr id="200" name="Google Shape;200;p5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Провести обзор предметной области HR-tech и методов ранжирования резюме с применением ИИ-подходов, включая алгоритмы векторизации (TF-IDF, Word2Vec, BERT, FastText).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Обосновать выбор ИИ-методов и инструментов (ruBERT, Learning to Rank, Weaviate) для рефакторинга сервиса автоматизированного отбора кандидатов.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Сделать сравнительный анализ моделей векторизации и ранжирования текстовых признаков резюме и вакансий.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Разработать модуль программного обеспечения для ранжирования резюме на основе ИИ в рамках рефакторинга сервиса, включая NER, REST API на FastAPI и векторное хранилище.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Произвести функциональное, нагрузочное тестирование и оценку качества (NDCG, MAP, F1-score) разработанного модуля на реальных данных из hh.ru и других источников.</a:t>
            </a:r>
            <a:endParaRPr sz="2000"/>
          </a:p>
        </p:txBody>
      </p:sp>
      <p:sp>
        <p:nvSpPr>
          <p:cNvPr id="201" name="Google Shape;201;p5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Векторизация признаков</a:t>
            </a:r>
            <a:endParaRPr/>
          </a:p>
        </p:txBody>
      </p:sp>
      <p:sp>
        <p:nvSpPr>
          <p:cNvPr id="207" name="Google Shape;207;p6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08" name="Google Shape;2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4199" y="862645"/>
            <a:ext cx="8636510" cy="5476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Постановка задачи</a:t>
            </a:r>
            <a:endParaRPr/>
          </a:p>
        </p:txBody>
      </p:sp>
      <p:sp>
        <p:nvSpPr>
          <p:cNvPr id="214" name="Google Shape;214;p7"/>
          <p:cNvSpPr txBox="1"/>
          <p:nvPr>
            <p:ph idx="1" type="body"/>
          </p:nvPr>
        </p:nvSpPr>
        <p:spPr>
          <a:xfrm>
            <a:off x="838200" y="870668"/>
            <a:ext cx="10515600" cy="1510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	Задача сопоставления вакансий и резюме, как частный случай явного сопоставления, может быть формализована как нахождение правильного отображения множества V (вакансий) в множество R (резюме):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15" name="Google Shape;215;p7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16" name="Google Shape;2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9470" y="1923779"/>
            <a:ext cx="2096219" cy="73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1078298" y="2756976"/>
            <a:ext cx="10324381" cy="15102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сценарии отбора кандидатов после их отклика задача формализуется как проблема ранжирования (при условии, что множество кандидатов ограничено k-мя лучшими по значению функции r, т.е. выбираются k наиболее подходящих элементов):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2507" y="3897798"/>
            <a:ext cx="6306988" cy="767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C4 Container</a:t>
            </a:r>
            <a:endParaRPr/>
          </a:p>
        </p:txBody>
      </p:sp>
      <p:sp>
        <p:nvSpPr>
          <p:cNvPr id="224" name="Google Shape;224;p8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7477" y="815149"/>
            <a:ext cx="5301133" cy="573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C4 Container: разрабатываемая система</a:t>
            </a:r>
            <a:endParaRPr/>
          </a:p>
        </p:txBody>
      </p:sp>
      <p:sp>
        <p:nvSpPr>
          <p:cNvPr id="231" name="Google Shape;231;p9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560" y="893174"/>
            <a:ext cx="10320020" cy="5256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Инструментальные средства</a:t>
            </a:r>
            <a:endParaRPr/>
          </a:p>
        </p:txBody>
      </p:sp>
      <p:sp>
        <p:nvSpPr>
          <p:cNvPr id="238" name="Google Shape;238;p10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1960925" y="848900"/>
            <a:ext cx="2201100" cy="30441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2025650" y="3142025"/>
            <a:ext cx="1996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Язык программирования и ide, используемые при разработке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7575375" y="891350"/>
            <a:ext cx="2261700" cy="300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407513" y="4288675"/>
            <a:ext cx="2959200" cy="18495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756275" y="891350"/>
            <a:ext cx="2261700" cy="3001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1946" y="4382761"/>
            <a:ext cx="1050349" cy="89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4659550" y="3108683"/>
            <a:ext cx="24183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Платформы для использования и обучения нейросетевых моделей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7507900" y="3277600"/>
            <a:ext cx="24183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Хранилища данных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4692650" y="5371463"/>
            <a:ext cx="25527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Приложение для развертывания программной системы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5762" y="2212319"/>
            <a:ext cx="943849" cy="943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249" name="Google Shape;24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05425" y="1037344"/>
            <a:ext cx="1847080" cy="1038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250" name="Google Shape;25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37714" y="2578759"/>
            <a:ext cx="1728907" cy="8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78403" y="1596949"/>
            <a:ext cx="1069920" cy="977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76090" y="927606"/>
            <a:ext cx="1429071" cy="843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51384" y="1640741"/>
            <a:ext cx="1016419" cy="9641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254" name="Google Shape;25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5251" y="1760748"/>
            <a:ext cx="1582912" cy="610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48302" y="2444912"/>
            <a:ext cx="1459968" cy="73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07193" y="1174458"/>
            <a:ext cx="2209534" cy="3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Отобранные модели</a:t>
            </a:r>
            <a:endParaRPr/>
          </a:p>
        </p:txBody>
      </p:sp>
      <p:sp>
        <p:nvSpPr>
          <p:cNvPr id="262" name="Google Shape;262;p11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graphicFrame>
        <p:nvGraphicFramePr>
          <p:cNvPr id="263" name="Google Shape;263;p11"/>
          <p:cNvGraphicFramePr/>
          <p:nvPr/>
        </p:nvGraphicFramePr>
        <p:xfrm>
          <a:off x="1656078" y="211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{164EFC6D-C6C4-483B-8C06-D60C02C3F345}</a:tableStyleId>
              </a:tblPr>
              <a:tblGrid>
                <a:gridCol w="2824475"/>
                <a:gridCol w="1625600"/>
                <a:gridCol w="2072650"/>
                <a:gridCol w="1107450"/>
                <a:gridCol w="1198875"/>
              </a:tblGrid>
              <a:tr h="375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Название модели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Паметров. Млн.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Размер эмбеддинга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MTEB ранг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MTEB балл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multilingual-e5-large-instruct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560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1024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66.03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LaBSE-ru-turbo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128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768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59.04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rubert-tiny-turbo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29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312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12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53.22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rubert-tiny2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29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312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16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/>
                        <a:t>42.22</a:t>
                      </a:r>
                      <a:endParaRPr sz="1400" u="none" cap="none" strike="noStrike"/>
                    </a:p>
                  </a:txBody>
                  <a:tcPr marT="15250" marB="15250" marR="22850" marL="22850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Этапы и результаты интеграции векторного поиска</a:t>
            </a:r>
            <a:endParaRPr/>
          </a:p>
        </p:txBody>
      </p:sp>
      <p:sp>
        <p:nvSpPr>
          <p:cNvPr id="269" name="Google Shape;269;p12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/>
              <a:t>	Запуск системы:</a:t>
            </a:r>
            <a:r>
              <a:rPr lang="ru-RU" sz="2000"/>
              <a:t> Weaviate был успешно развернут в Docker-контейнере для обеспечения изолированной и масштабируемой среды.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/>
              <a:t>	Настройка взаимодействия:</a:t>
            </a:r>
            <a:r>
              <a:rPr lang="ru-RU" sz="2000"/>
              <a:t> Было настроено взаимодействие с Weaviate для работы с векторными данными, включая интеграцию API.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/>
              <a:t>	Загрузка данных:</a:t>
            </a:r>
            <a:r>
              <a:rPr lang="ru-RU" sz="2000"/>
              <a:t> Векторизованные данные были загружены в базу Weaviate, что позволило приступить к их анализу.</a:t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2000"/>
              <a:t>	Проведение экспериментов:</a:t>
            </a:r>
            <a:r>
              <a:rPr lang="ru-RU" sz="2000"/>
              <a:t> На загруженных данных были проведены эксперименты для оценки качества поиска и работы с векторным пространством.</a:t>
            </a:r>
            <a:endParaRPr sz="2000"/>
          </a:p>
        </p:txBody>
      </p:sp>
      <p:sp>
        <p:nvSpPr>
          <p:cNvPr id="270" name="Google Shape;270;p12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1760" y="3653909"/>
            <a:ext cx="6918960" cy="2729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/>
              <a:t>Тестирование точности для multilingual-e5-large-instruct</a:t>
            </a:r>
            <a:endParaRPr/>
          </a:p>
        </p:txBody>
      </p:sp>
      <p:sp>
        <p:nvSpPr>
          <p:cNvPr id="277" name="Google Shape;277;p13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pic>
        <p:nvPicPr>
          <p:cNvPr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9635" y="1008380"/>
            <a:ext cx="7891463" cy="5002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84" name="Google Shape;284;p15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000"/>
              <a:t>В результате выполнения работы была разработана модель ранжирования резюме на основе ИИ-подходов в рамках рефакторинга сервиса автоматизированного отбора кандидатов, обеспечивающая высокую точность сопоставления (NDCG@10 0.87–0.91) с использованием ruBERT, FastText и векторного хранилища Weaviate.</a:t>
            </a:r>
            <a:endParaRPr sz="2000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000"/>
              <a:t>В дальнейшем планируется:</a:t>
            </a:r>
            <a:endParaRPr sz="2000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000"/>
              <a:t>- Расширение применения fine-tuned моделей на мультимодальные данные (hard/soft skills, опыт работы).</a:t>
            </a:r>
            <a:endParaRPr sz="2000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000"/>
              <a:t>- Апробация двухэтапного ранжирования с A/B-тестированием и reinforcement learning.</a:t>
            </a:r>
            <a:endParaRPr sz="2000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000"/>
              <a:t>- Реализация production-ready MVP с полной интеграцией в HR-tech инфраструктуру (FastAPI, Redis, PostgreSQL).</a:t>
            </a:r>
            <a:endParaRPr sz="2000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000"/>
              <a:t>- Масштабирование на большие датасеты (100k+ резюме) с мониторингом через Prometheus/Grafana.</a:t>
            </a:r>
            <a:endParaRPr sz="2000"/>
          </a:p>
        </p:txBody>
      </p:sp>
      <p:sp>
        <p:nvSpPr>
          <p:cNvPr id="285" name="Google Shape;285;p15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 txBox="1"/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Список литературы</a:t>
            </a:r>
            <a:endParaRPr/>
          </a:p>
        </p:txBody>
      </p:sp>
      <p:sp>
        <p:nvSpPr>
          <p:cNvPr id="291" name="Google Shape;291;p16"/>
          <p:cNvSpPr txBox="1"/>
          <p:nvPr>
            <p:ph idx="1" type="body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Девлин, Дж., Чанг, М. В., Ли, К., Тоутаанова, К. BERT: Предобучение глубоких двунаправленных трансформеров для понимания языка // arXiv preprint arXiv:1810.04805. 2019. 13 с.</a:t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Уайт, С. А. Введение в BPMN. IBM Corporation, 2004. 16 с.</a:t>
            </a:r>
            <a:endParaRPr sz="2000"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Кокберн, А. Написание эффективных вариантов использования. Бостон: Addison-Wesley, 2001. 270 с.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Фаулер, М. UML на пальцах: краткое руководство по стандартному языку моделирования объектов. 3-е изд. Бостон: Addison-Wesley, 2003. 208 с.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Браун, С. Модель C4 для визуализации архитектуры программного обеспечения. URL: </a:t>
            </a:r>
            <a:r>
              <a:rPr lang="ru-RU" sz="2000" u="sng">
                <a:solidFill>
                  <a:schemeClr val="hlink"/>
                </a:solidFill>
                <a:hlinkClick r:id="rId3"/>
              </a:rPr>
              <a:t>https://c4model.com/</a:t>
            </a:r>
            <a:r>
              <a:rPr lang="ru-RU" sz="2000"/>
              <a:t>.</a:t>
            </a:r>
            <a:endParaRPr sz="2000"/>
          </a:p>
        </p:txBody>
      </p:sp>
      <p:sp>
        <p:nvSpPr>
          <p:cNvPr id="292" name="Google Shape;292;p16"/>
          <p:cNvSpPr txBox="1"/>
          <p:nvPr>
            <p:ph idx="12" type="sldNum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/>
          <p:nvPr>
            <p:ph idx="12" type="sldNum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‹#›</a:t>
            </a:fld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4228176" y="2739377"/>
            <a:ext cx="378821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 за внимание!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2017-09-30T21:27:42Z</dcterms:created>
  <dc:creator>V. R.</dc:creator>
</cp:coreProperties>
</file>
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</p:sldIdLst>
  <p:sldSz cx="6858000" cy="9906000" type="A4"/>
  <p:notesSz cx="6797675" cy="9926638"/>
  <p:defaultTextStyle>
    <a:defPPr>
      <a:defRPr lang="ru-RU"/>
    </a:defPPr>
    <a:lvl1pPr marL="0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1pPr>
    <a:lvl2pPr marL="269382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2pPr>
    <a:lvl3pPr marL="538764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3pPr>
    <a:lvl4pPr marL="808147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4pPr>
    <a:lvl5pPr marL="1077529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5pPr>
    <a:lvl6pPr marL="1346911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6pPr>
    <a:lvl7pPr marL="1616293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7pPr>
    <a:lvl8pPr marL="1885676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8pPr>
    <a:lvl9pPr marL="2155058" algn="l" defTabSz="538764" rtl="0" eaLnBrk="1" latinLnBrk="0" hangingPunct="1">
      <a:defRPr sz="106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Халапсина Татьяна Михайловна" initials="ХТМ" lastIdx="2" clrIdx="0">
    <p:extLst>
      <p:ext uri="{19B8F6BF-5375-455C-9EA6-DF929625EA0E}">
        <p15:presenceInfo xmlns:p15="http://schemas.microsoft.com/office/powerpoint/2012/main" userId="S-1-5-21-2872171691-3543964015-2624193471-11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54" autoAdjust="0"/>
    <p:restoredTop sz="97192" autoAdjust="0"/>
  </p:normalViewPr>
  <p:slideViewPr>
    <p:cSldViewPr snapToGrid="0">
      <p:cViewPr varScale="1">
        <p:scale>
          <a:sx n="77" d="100"/>
          <a:sy n="77" d="100"/>
        </p:scale>
        <p:origin x="2468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980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69430-AAFF-4EE1-B47A-233DEA412EA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6A037-2FE3-4866-BB3A-FC62961BC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354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95DF3-9A49-436E-B970-EFDE42F9284E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188CB-EA3E-4237-B392-C2C81C84FA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34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1pPr>
    <a:lvl2pPr marL="269382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2pPr>
    <a:lvl3pPr marL="538764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3pPr>
    <a:lvl4pPr marL="808147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4pPr>
    <a:lvl5pPr marL="1077529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5pPr>
    <a:lvl6pPr marL="1346911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6pPr>
    <a:lvl7pPr marL="1616293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7pPr>
    <a:lvl8pPr marL="1885676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8pPr>
    <a:lvl9pPr marL="2155058" algn="l" defTabSz="538764" rtl="0" eaLnBrk="1" latinLnBrk="0" hangingPunct="1">
      <a:defRPr sz="7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4188CB-EA3E-4237-B392-C2C81C84FA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750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17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832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86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77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8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70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23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27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595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99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16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6A9DE-D687-40C7-89A8-79836AC60C05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7AE7-757B-4CF0-9F0A-19EF6DE83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58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135222"/>
              </p:ext>
            </p:extLst>
          </p:nvPr>
        </p:nvGraphicFramePr>
        <p:xfrm>
          <a:off x="257174" y="296449"/>
          <a:ext cx="3226497" cy="9166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5807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 Continue</a:t>
                      </a:r>
                      <a:endParaRPr lang="ru-RU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55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Общее описание компании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8000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/>
                        <a:t>IT </a:t>
                      </a:r>
                      <a:r>
                        <a:rPr lang="ru-RU" sz="900" dirty="0" err="1"/>
                        <a:t>Continue</a:t>
                      </a:r>
                      <a:r>
                        <a:rPr lang="ru-RU" sz="900" dirty="0"/>
                        <a:t> — технологическая компания, разрабатывающая программные решения в области цифровизации бизнес-процессов и внедрения технологий искусственного интеллекта, ориентированная на создание прикладных ИИ-продуктов для корпоративного рынка.</a:t>
                      </a:r>
                      <a:endParaRPr lang="ru-RU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Выручка компании</a:t>
                      </a:r>
                      <a:r>
                        <a:rPr lang="ru-RU" sz="1200" b="1" baseline="0" dirty="0">
                          <a:solidFill>
                            <a:schemeClr val="tx1"/>
                          </a:solidFill>
                        </a:rPr>
                        <a:t> (руб.)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5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7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7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2024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2025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chemeClr val="tx1"/>
                          </a:solidFill>
                          <a:latin typeface="+mn-lt"/>
                        </a:rPr>
                        <a:t>Общая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ru-RU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chemeClr val="tx1"/>
                          </a:solidFill>
                          <a:latin typeface="+mn-lt"/>
                        </a:rPr>
                        <a:t>По продукту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ru-RU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55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Потенциальные потребители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900" dirty="0"/>
                        <a:t>HR-службы компаний, рекрутинговые агентства, онлайн-сервисы подбора персонала, корпоративные HR-платформы и разработчики HR-информационных систем.</a:t>
                      </a:r>
                      <a:endParaRPr lang="ru-RU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Планы по расходованию средств гранта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0">
                <a:tc gridSpan="5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ru-RU" sz="900" dirty="0"/>
                        <a:t>Средства гранта планируется направить на выполнение НИОКР, включая разработку и обучение ИИ-моделей, подготовку и анализ данных, программную реализацию модуля и тестирование результатов.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55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План продаж</a:t>
                      </a:r>
                      <a:r>
                        <a:rPr lang="ru-RU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продукта проекта (руб.</a:t>
                      </a:r>
                      <a:r>
                        <a:rPr lang="ru-RU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и шт.)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7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2027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2028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2029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chemeClr val="tx1"/>
                          </a:solidFill>
                        </a:rPr>
                        <a:t>Кол-во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15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30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chemeClr val="tx1"/>
                          </a:solidFill>
                        </a:rPr>
                        <a:t>На сумму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2.000.000</a:t>
                      </a:r>
                      <a:endParaRPr lang="ru-RU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6.000.000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12.000.000</a:t>
                      </a:r>
                      <a:endParaRPr lang="ru-RU" sz="9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3455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Рынок продукта проекта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08000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/>
                        <a:t>Рынок цифровых HR-решений и сервисов автоматизированного подбора персонала (HR-</a:t>
                      </a:r>
                      <a:r>
                        <a:rPr lang="ru-RU" sz="900" dirty="0" err="1"/>
                        <a:t>tech</a:t>
                      </a:r>
                      <a:r>
                        <a:rPr lang="ru-RU" sz="900" dirty="0"/>
                        <a:t>), ориентированный на компании среднего и крупного бизнеса, использующие ИИ для оптимизации рекрутинговых процессов.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3455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Бизнес-модель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647719"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/>
                        <a:t>Коммерциализация предполагается за счет лицензирования программного модуля и его интеграции в HR-сервисы, а также предоставления доступа к функционалу по модели подписки для корпоративных клиентов.</a:t>
                      </a:r>
                      <a:endParaRPr lang="ru-RU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084907"/>
              </p:ext>
            </p:extLst>
          </p:nvPr>
        </p:nvGraphicFramePr>
        <p:xfrm>
          <a:off x="3432738" y="296445"/>
          <a:ext cx="3206187" cy="1010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2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Номер заявки: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С1ИИ-602083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Сумма гранта: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5.000.000 </a:t>
                      </a: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руб.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095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Название Проекта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Разработка модели ранжирования резюме на основе ИИ-подходов в рамках рефакторинга сервиса автоматизированного отбора кандидатов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Цель проекта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6505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/>
                        <a:t>Разработать модель ранжирования резюме на основе ИИ-подходов в рамках рефакторинга сервиса автоматизированного отбора кандидатов</a:t>
                      </a:r>
                      <a:endParaRPr lang="ru-RU" sz="9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Описание продукта проекта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200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/>
                        <a:t>Конечным продуктом проекта является программный модуль интеллектуального ранжирования резюме кандидатов на основе технологий искусственного интеллекта, предназначенный для использования в системах автоматизированного подбора персонала (HR-</a:t>
                      </a:r>
                      <a:r>
                        <a:rPr lang="ru-RU" sz="900" dirty="0" err="1"/>
                        <a:t>tech</a:t>
                      </a:r>
                      <a:r>
                        <a:rPr lang="ru-RU" sz="900" dirty="0"/>
                        <a:t> сервисах)</a:t>
                      </a:r>
                      <a:endParaRPr lang="ru-RU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Команда проекта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274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/>
                        <a:t>Команда проекта включает руководителя проекта, специалиста по машинному обучению и обработке естественного языка, </a:t>
                      </a:r>
                      <a:r>
                        <a:rPr lang="ru-RU" sz="900" dirty="0" err="1"/>
                        <a:t>backend</a:t>
                      </a:r>
                      <a:r>
                        <a:rPr lang="ru-RU" sz="900" dirty="0"/>
                        <a:t>-разработчика и аналитика данных. Участники команды обеспечивают постановку и выполнение НИОКР, разработку и обучение модели ранжирования резюме, программную реализацию модуля, подготовку и анализ данных, а также тестирование и оценку качества полученных результатов.</a:t>
                      </a:r>
                      <a:endParaRPr lang="ru-RU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Фотография продукта / Уровень готовности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0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Фотография текущего уровня готовности продукта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(если был создан макет/продукт)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или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Информация о текущем уровне готовности продукта проекта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Аналоги и их производители 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76000">
                <a:tc gridSpan="2">
                  <a:txBody>
                    <a:bodyPr/>
                    <a:lstStyle/>
                    <a:p>
                      <a:r>
                        <a:rPr lang="ru-RU" sz="900" dirty="0"/>
                        <a:t>Аналогами проекта являются зарубежные корпоративные </a:t>
                      </a:r>
                      <a:r>
                        <a:rPr lang="en-US" sz="900" dirty="0"/>
                        <a:t>HR-</a:t>
                      </a:r>
                      <a:r>
                        <a:rPr lang="ru-RU" sz="900" dirty="0"/>
                        <a:t>платформы, такие как </a:t>
                      </a:r>
                      <a:r>
                        <a:rPr lang="en-US" sz="900" b="1" dirty="0"/>
                        <a:t>iCIMS Talent Cloud</a:t>
                      </a:r>
                      <a:r>
                        <a:rPr lang="en-US" sz="900" dirty="0"/>
                        <a:t> (iCIMS, </a:t>
                      </a:r>
                      <a:r>
                        <a:rPr lang="ru-RU" sz="900" dirty="0"/>
                        <a:t>США), </a:t>
                      </a:r>
                      <a:r>
                        <a:rPr lang="en-US" sz="900" b="1" dirty="0"/>
                        <a:t>Eightfold AI</a:t>
                      </a:r>
                      <a:r>
                        <a:rPr lang="en-US" sz="900" dirty="0"/>
                        <a:t> (Eightfold Inc., </a:t>
                      </a:r>
                      <a:r>
                        <a:rPr lang="ru-RU" sz="900" dirty="0"/>
                        <a:t>США) и </a:t>
                      </a:r>
                      <a:r>
                        <a:rPr lang="en-US" sz="900" b="1" dirty="0"/>
                        <a:t>SAP SuccessFactors Recruiting</a:t>
                      </a:r>
                      <a:r>
                        <a:rPr lang="en-US" sz="900" dirty="0"/>
                        <a:t> (SAP, </a:t>
                      </a:r>
                      <a:r>
                        <a:rPr lang="ru-RU" sz="900" dirty="0"/>
                        <a:t>Германия). Данные решения обеспечивают автоматизированный анализ и ранжирование резюме при подборе персонала.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Преимущества перед аналогами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96000"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/>
                        <a:t>Использование современных ИИ-подходов и NLP обеспечивает более точное семантическое сопоставление резюме и вакансий, гибкость настройки и возможность адаптации под данные конкретного заказчика.</a:t>
                      </a:r>
                      <a:endParaRPr lang="ru-RU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15E6D17F-5985-9146-5F42-6608C1B66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868" y="6187413"/>
            <a:ext cx="3168088" cy="134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круг, Графика, символ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51C47A-0984-494C-A7E0-40EF6222DF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74" y="296445"/>
            <a:ext cx="928255" cy="92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8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45EE2-B31C-6383-B4F3-E711FC36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76B97-9D72-8A0B-0F0F-2D440EDB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CE7787-F839-B6D4-11EC-3C0C9B15A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6711"/>
            <a:ext cx="6858000" cy="361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778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415</Words>
  <Application>Microsoft Office PowerPoint</Application>
  <PresentationFormat>Лист A4 (210x297 мм)</PresentationFormat>
  <Paragraphs>61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MSI-Vector</dc:creator>
  <cp:lastModifiedBy>Артём Носов</cp:lastModifiedBy>
  <cp:revision>3</cp:revision>
  <cp:lastPrinted>2025-12-23T12:07:53Z</cp:lastPrinted>
  <dcterms:created xsi:type="dcterms:W3CDTF">2025-12-23T08:21:33Z</dcterms:created>
  <dcterms:modified xsi:type="dcterms:W3CDTF">2026-02-04T16:45:55Z</dcterms:modified>
</cp:coreProperties>
</file>
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Arial Black" panose="020B0A04020102020204" pitchFamily="34" charset="0"/>
      <p:regular r:id="rId25"/>
      <p:bold r:id="rId26"/>
    </p:embeddedFont>
    <p:embeddedFont>
      <p:font typeface="Roboto Mono" panose="00000009000000000000" pitchFamily="49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h8/6FgH6baeAMsTcsN+n++Cew/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DB8C37-9DD7-4D3C-9DAE-6CFC98C3CE59}">
  <a:tblStyle styleId="{EEDB8C37-9DD7-4D3C-9DAE-6CFC98C3CE5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7097C21-5E8D-44ED-B5D9-4BA08D20CD4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Добрый день, уважаемые члены комиссии. Меня зовут Носов Артём Иванович, тема моей работы — 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персонала.</a:t>
            </a:r>
            <a:endParaRPr/>
          </a:p>
        </p:txBody>
      </p:sp>
      <p:sp>
        <p:nvSpPr>
          <p:cNvPr id="162" name="Google Shape;1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ru-RU"/>
              <a:t>Актуальность работы связана с тем, что рекрутерам всё сложнее вручную обрабатывать большой поток откликов, поэтому нужны точные и справедливые инструменты автоматического сопоставления вакансий и резюме. На слайде представлены примеры таких систем, уже применяемых в индустрии для автоматизации оценки, поиска и подбора кандидатов.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/>
              <a:t>Целью данной работы является 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Были выполнены задачи: анализ области, выбор моделей, подготовка данных, разработка модуля ранжирования и оценка его качества. </a:t>
            </a:r>
            <a:endParaRPr/>
          </a:p>
        </p:txBody>
      </p:sp>
      <p:sp>
        <p:nvSpPr>
          <p:cNvPr id="198" name="Google Shape;1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Здесь показано основное узкое место подбора — первичный скрининг кандидатов. Именно на этом этапе рекрутеру приходится вручную просматривать большой поток откликов, и с ростом числа кандидатов трудозатраты растут линейно</a:t>
            </a: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каждому резюме для конкретной вакансии присваивается оценка релевантности, после чего кандидаты ранжируются по этой оценке и выбираются лучшие </a:t>
            </a:r>
            <a:endParaRPr/>
          </a:p>
        </p:txBody>
      </p:sp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на слайде архитектура системы в нотации C4 – на следующем слайде посморим именно разрабатываемую в данной работе часть</a:t>
            </a:r>
            <a:endParaRPr/>
          </a:p>
        </p:txBody>
      </p:sp>
      <p:sp>
        <p:nvSpPr>
          <p:cNvPr id="222" name="Google Shape;2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В работе был разработан модуль семантического ранжирования и встроен в архитектуру системы подбора персонала. На слайде показано, что реализованы offline-пайплайн подготовки и обучения модели, FastAPI-сервис для расчёта оценки соответствия и ранжирования кандидатов, а также интеграция с backend системы через отдельный независимый энкодер (независимый энкодер (bi-encoder)) путь </a:t>
            </a: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Я рассматривал четыре класса методов. TF-IDF и BM25 быстрые, но не учитывают смысл. Word2Vec даёт частичную семантику, но качество недостаточное для HR-задачи. Cross-encoder — полноценный BERT, который обрабатывает пару «вакансия + резюме» совместно — даёт высокое качество, но при базе в тысячу резюме требует тысячи обращений к модели на каждый запрос, что неприемлемо по скорости. Bi-encoder решает эту проблему: вакансия и резюме кодируются независимо, резюме индексируются один раз, а ранжирование — это просто косинусное сходство между векторами, что занимает миллисекунды. В качестве базовой модели я выбрал </a:t>
            </a:r>
            <a:r>
              <a:rPr lang="ru-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rubert-tiny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— это лёгкая русскоязычная модель на 29 миллионов параметров, которая разворачивается на обычном CPU-сервере без GPU</a:t>
            </a: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/>
              <a:t>Данные получены из агрегатора вакансий. Объём сырых данных — около 17 гигабайт резюме и 44 гигабайта вакансий. Разметка построена на основе реальных HR-событий: если рекрутер пригласил кандидата по данной вакансии — это позитивная пара, отказ — негативная. Перед обучением я провёл предобработку: маскирование персональных данных, нормализацию текста, формирование сплитов. Обучение проводилось с функцией потерь ContrastiveLoss (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подходящие пары имели близкие векторы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а </a:t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>неподходящие — далёкие векторы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/>
              <a:t>) — она учит модель сближать эмбеддинги релевантных пар и разводить нерелевантные. Уже после первой эпохи Average Precision вырос с 26 процентов до 89 процентов. После трёх эпох модель достигает средняя точность  = 98 процентов</a:t>
            </a: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 sz="1100">
                <a:latin typeface="Arial"/>
                <a:ea typeface="Arial"/>
                <a:cs typeface="Arial"/>
                <a:sym typeface="Arial"/>
              </a:rPr>
              <a:t>Микросервис написан на Python с FastAPI и разворачивается рядом с основным бекендом Reqcore. В системе появился роутер скоринга: если администратор выбирает режим </a:t>
            </a:r>
            <a:r>
              <a:rPr lang="ru-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biencoder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, запросы ранжирования идут в локальный ML-сервис. Если выбран режим </a:t>
            </a:r>
            <a:r>
              <a:rPr lang="ru-RU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llm</a:t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> — вызывается OpenAI. На скриншотах видно реальный интерфейс: в настройках выбран biencoder, а на странице вакансии кандидаты отсортированы по cosine similarity. Важно: переключение между режимами не требует изменения кода — только смена конфигурации в административном интерфейсе.</a:t>
            </a:r>
            <a:endParaRPr/>
          </a:p>
        </p:txBody>
      </p:sp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Оценка проводилась по двум задачам. Первая — бинарная классификация: нужно отличить релевантное резюме от нерелевантного. Контрольный ориентир — та же модель до fine-tuning, поэтому сравнение показывает вклад доменного дообучения при одинаковой архитектуре. На validation Average Precision выросла с 26 до 98,7 процента, F1 — с 50,8 до 96 процентов, accuracy — с 66 до 97,3 процента. Вторая задача — ранжирование: для каждой вакансии дан набор кандидатов, нужно поставить релевантного выше. На 33 вакансиях, где NDCG математически определена, NDCG@3 равна 1.0; на 119 вакансиях с хотя бы одним positive Precision@3 равна 0.9958. Это офлайн-оценка на подготовленных split-файлах, а не онлайн A/B-тест.</a:t>
            </a:r>
            <a:r>
              <a:rPr lang="ru-RU" sz="1100" i="1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/>
              <a:t/>
            </a:r>
            <a:r>
              <a:rPr lang="ru-RU" sz="1100" i="1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 b="1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 sz="110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ru-RU"/>
              <a:t/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В работе реализован и интегрирован в систему подбора персонала модуль семантического ранжирования кандидатов. После дообучения качество модели улучшилось относительно базовой модели без fine-tuning, что позволяет рассматривать ее как инструмент предварительного ранжирования. Выводы об ускорении первичного скрининга и снижении затрат на LLM-скоринг являются расчетным сценарием и требуют проверки в рабочем контуре.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ru-RU"/>
              <a:t>Дальше планируется масштабирование через Vector DB и приближённый поиск ближайших соседей (ANN), добавление Learning-to-Rank, а также развитие объяснимости результатов модели , справедливости и дообучение на новых данных</a:t>
            </a: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f068bf5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ef068bf5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def068bf5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ef068bf5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ef068bf5d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def068bf5d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ef068bf5d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ef068bf5d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g3def068bf5d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ef068bf5d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ef068bf5d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g3def068bf5d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ef068bf5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ef068bf5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g3def068bf5d_0_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def068bf5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def068bf5d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3def068bf5d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" name="Google Shape;31;p19"/>
          <p:cNvGraphicFramePr/>
          <p:nvPr/>
        </p:nvGraphicFramePr>
        <p:xfrm>
          <a:off x="6341333" y="4581951"/>
          <a:ext cx="5796625" cy="1164225"/>
        </p:xfrm>
        <a:graphic>
          <a:graphicData uri="http://schemas.openxmlformats.org/drawingml/2006/table">
            <a:tbl>
              <a:tblPr firstRow="1" bandRow="1">
                <a:noFill/>
                <a:tableStyleId>{EEDB8C37-9DD7-4D3C-9DAE-6CFC98C3CE59}</a:tableStyleId>
              </a:tblPr>
              <a:tblGrid>
                <a:gridCol w="30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Google Shape;32;p19"/>
          <p:cNvSpPr txBox="1"/>
          <p:nvPr/>
        </p:nvSpPr>
        <p:spPr>
          <a:xfrm>
            <a:off x="3305360" y="2883132"/>
            <a:ext cx="527099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Научно-исследовательская работа на тему: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9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9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1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51" name="Google Shape;51;p2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" name="Google Shape;55;p22"/>
          <p:cNvGraphicFramePr/>
          <p:nvPr/>
        </p:nvGraphicFramePr>
        <p:xfrm>
          <a:off x="6341333" y="458195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{EEDB8C37-9DD7-4D3C-9DAE-6CFC98C3CE59}</a:tableStyleId>
              </a:tblPr>
              <a:tblGrid>
                <a:gridCol w="30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Google Shape;56;p22"/>
          <p:cNvSpPr txBox="1"/>
          <p:nvPr/>
        </p:nvSpPr>
        <p:spPr>
          <a:xfrm>
            <a:off x="3316581" y="2883132"/>
            <a:ext cx="524855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Учебно-исследовательская работа на тему: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2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2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9328287" y="4641277"/>
            <a:ext cx="2184400" cy="285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9328287" y="4996083"/>
            <a:ext cx="2184400" cy="299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3"/>
          </p:nvPr>
        </p:nvSpPr>
        <p:spPr>
          <a:xfrm>
            <a:off x="9323524" y="5462042"/>
            <a:ext cx="2184400" cy="58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">
  <p:cSld name="3_Титульный слайд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 txBox="1">
            <a:spLocks noGrp="1"/>
          </p:cNvSpPr>
          <p:nvPr>
            <p:ph type="title"/>
          </p:nvPr>
        </p:nvSpPr>
        <p:spPr>
          <a:xfrm>
            <a:off x="1499294" y="3435698"/>
            <a:ext cx="9144001" cy="1055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/>
          <p:nvPr/>
        </p:nvSpPr>
        <p:spPr>
          <a:xfrm>
            <a:off x="239349" y="1132515"/>
            <a:ext cx="11952651" cy="147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ИНСТИТУТ ИНТЕЛЛЕКТУАЛЬНЫХ КИБЕРНЕТИЧЕСКИХ СИСТЕМ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ru-RU" sz="1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КАФЕДРА КИБЕРНЕТИКИ (№ 22)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НАПРАВЛЕНИЕ ПОДГОТОВКИ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23"/>
          <p:cNvGraphicFramePr/>
          <p:nvPr/>
        </p:nvGraphicFramePr>
        <p:xfrm>
          <a:off x="6341333" y="4581951"/>
          <a:ext cx="5796625" cy="1164225"/>
        </p:xfrm>
        <a:graphic>
          <a:graphicData uri="http://schemas.openxmlformats.org/drawingml/2006/table">
            <a:tbl>
              <a:tblPr firstRow="1" bandRow="1">
                <a:noFill/>
                <a:tableStyleId>{EEDB8C37-9DD7-4D3C-9DAE-6CFC98C3CE59}</a:tableStyleId>
              </a:tblPr>
              <a:tblGrid>
                <a:gridCol w="30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Студент: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5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ru-RU" sz="1600" b="1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Научный руководитель: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21925" marR="121925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121925" marR="121925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7" name="Google Shape;67;p23"/>
          <p:cNvSpPr txBox="1"/>
          <p:nvPr/>
        </p:nvSpPr>
        <p:spPr>
          <a:xfrm>
            <a:off x="3088154" y="2883132"/>
            <a:ext cx="57054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Выпускная квалификационная работа на тему: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3"/>
          <p:cNvSpPr txBox="1"/>
          <p:nvPr/>
        </p:nvSpPr>
        <p:spPr>
          <a:xfrm>
            <a:off x="5261024" y="6232783"/>
            <a:ext cx="13596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Москва, 2025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3"/>
          <p:cNvSpPr/>
          <p:nvPr/>
        </p:nvSpPr>
        <p:spPr>
          <a:xfrm>
            <a:off x="595618" y="-2691"/>
            <a:ext cx="11534863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МИНИСТЕРСТВО НАУКИ И ВЫСШЕГО ОБРАЗОВАНИЯ РОССИЙСКОЙ  ФЕДЕРАЦИИ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Федеральное государственное автономное образовательное учреждение высшего образования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«Национальный исследовательский ядерный университет «МИФИ»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344867" y="4570806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Носов А.И.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3"/>
          <p:cNvSpPr txBox="1"/>
          <p:nvPr/>
        </p:nvSpPr>
        <p:spPr>
          <a:xfrm>
            <a:off x="9344867" y="4925534"/>
            <a:ext cx="236616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М24-534</a:t>
            </a:r>
            <a:endParaRPr sz="16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3"/>
          <p:cNvSpPr txBox="1"/>
          <p:nvPr/>
        </p:nvSpPr>
        <p:spPr>
          <a:xfrm>
            <a:off x="9344867" y="5298218"/>
            <a:ext cx="2366164" cy="666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к.т.н., доцент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Киреев В.С.</a:t>
            </a:r>
            <a:endParaRPr sz="1600" b="0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3"/>
          <p:cNvSpPr txBox="1"/>
          <p:nvPr/>
        </p:nvSpPr>
        <p:spPr>
          <a:xfrm>
            <a:off x="6329492" y="2262494"/>
            <a:ext cx="4257414" cy="35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09.04.04 ПРОГРАММНАЯ ИНЖЕНЕРИЯ</a:t>
            </a:r>
            <a:endParaRPr sz="11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6"/>
          <p:cNvSpPr txBox="1">
            <a:spLocks noGrp="1"/>
          </p:cNvSpPr>
          <p:nvPr>
            <p:ph type="body" idx="1"/>
          </p:nvPr>
        </p:nvSpPr>
        <p:spPr>
          <a:xfrm>
            <a:off x="838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6"/>
          <p:cNvSpPr txBox="1">
            <a:spLocks noGrp="1"/>
          </p:cNvSpPr>
          <p:nvPr>
            <p:ph type="body" idx="2"/>
          </p:nvPr>
        </p:nvSpPr>
        <p:spPr>
          <a:xfrm>
            <a:off x="6172200" y="878365"/>
            <a:ext cx="5181600" cy="52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6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6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7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7"/>
          <p:cNvSpPr txBox="1">
            <a:spLocks noGrp="1"/>
          </p:cNvSpPr>
          <p:nvPr>
            <p:ph type="title"/>
          </p:nvPr>
        </p:nvSpPr>
        <p:spPr>
          <a:xfrm>
            <a:off x="839788" y="40807"/>
            <a:ext cx="10515600" cy="760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body" idx="1"/>
          </p:nvPr>
        </p:nvSpPr>
        <p:spPr>
          <a:xfrm>
            <a:off x="839788" y="897402"/>
            <a:ext cx="5157787" cy="66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8" name="Google Shape;98;p27"/>
          <p:cNvSpPr txBox="1">
            <a:spLocks noGrp="1"/>
          </p:cNvSpPr>
          <p:nvPr>
            <p:ph type="body" idx="2"/>
          </p:nvPr>
        </p:nvSpPr>
        <p:spPr>
          <a:xfrm>
            <a:off x="839788" y="1563038"/>
            <a:ext cx="5157787" cy="462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27"/>
          <p:cNvSpPr txBox="1">
            <a:spLocks noGrp="1"/>
          </p:cNvSpPr>
          <p:nvPr>
            <p:ph type="body" idx="3"/>
          </p:nvPr>
        </p:nvSpPr>
        <p:spPr>
          <a:xfrm>
            <a:off x="6172200" y="897402"/>
            <a:ext cx="5183188" cy="665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0" name="Google Shape;100;p27"/>
          <p:cNvSpPr txBox="1">
            <a:spLocks noGrp="1"/>
          </p:cNvSpPr>
          <p:nvPr>
            <p:ph type="body" idx="4"/>
          </p:nvPr>
        </p:nvSpPr>
        <p:spPr>
          <a:xfrm>
            <a:off x="6172200" y="1563038"/>
            <a:ext cx="5183188" cy="4626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7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7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8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9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15" name="Google Shape;115;p29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6" name="Google Shape;116;p29"/>
          <p:cNvCxnSpPr/>
          <p:nvPr/>
        </p:nvCxnSpPr>
        <p:spPr>
          <a:xfrm>
            <a:off x="838200" y="887210"/>
            <a:ext cx="3933825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29"/>
          <p:cNvSpPr txBox="1">
            <a:spLocks noGrp="1"/>
          </p:cNvSpPr>
          <p:nvPr>
            <p:ph type="title"/>
          </p:nvPr>
        </p:nvSpPr>
        <p:spPr>
          <a:xfrm>
            <a:off x="839788" y="175210"/>
            <a:ext cx="3932237" cy="6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9"/>
          <p:cNvSpPr txBox="1">
            <a:spLocks noGrp="1"/>
          </p:cNvSpPr>
          <p:nvPr>
            <p:ph type="body" idx="1"/>
          </p:nvPr>
        </p:nvSpPr>
        <p:spPr>
          <a:xfrm>
            <a:off x="4905328" y="175210"/>
            <a:ext cx="6450060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2"/>
          </p:nvPr>
        </p:nvSpPr>
        <p:spPr>
          <a:xfrm>
            <a:off x="839788" y="905391"/>
            <a:ext cx="3932237" cy="496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Объект с подписью">
  <p:cSld name="1_Объект с подписью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0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0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25" name="Google Shape;125;p30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6" name="Google Shape;126;p30"/>
          <p:cNvCxnSpPr/>
          <p:nvPr/>
        </p:nvCxnSpPr>
        <p:spPr>
          <a:xfrm>
            <a:off x="838200" y="887210"/>
            <a:ext cx="3530937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839789" y="175210"/>
            <a:ext cx="3529512" cy="69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4450386" y="175210"/>
            <a:ext cx="3350123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839789" y="905391"/>
            <a:ext cx="3529512" cy="4963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7881594" y="175209"/>
            <a:ext cx="3353922" cy="568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31" name="Google Shape;131;p30"/>
          <p:cNvCxnSpPr/>
          <p:nvPr/>
        </p:nvCxnSpPr>
        <p:spPr>
          <a:xfrm>
            <a:off x="4369137" y="175209"/>
            <a:ext cx="0" cy="72000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/>
          <p:nvPr/>
        </p:nvSpPr>
        <p:spPr>
          <a:xfrm>
            <a:off x="5746565" y="6556717"/>
            <a:ext cx="698869" cy="365125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1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137" name="Google Shape;137;p31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8" name="Google Shape;138;p31"/>
          <p:cNvCxnSpPr/>
          <p:nvPr/>
        </p:nvCxnSpPr>
        <p:spPr>
          <a:xfrm>
            <a:off x="838200" y="874800"/>
            <a:ext cx="3933825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9" name="Google Shape;139;p31"/>
          <p:cNvSpPr txBox="1">
            <a:spLocks noGrp="1"/>
          </p:cNvSpPr>
          <p:nvPr>
            <p:ph type="title"/>
          </p:nvPr>
        </p:nvSpPr>
        <p:spPr>
          <a:xfrm>
            <a:off x="839788" y="176400"/>
            <a:ext cx="3932237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1"/>
          <p:cNvSpPr>
            <a:spLocks noGrp="1"/>
          </p:cNvSpPr>
          <p:nvPr>
            <p:ph type="pic" idx="2"/>
          </p:nvPr>
        </p:nvSpPr>
        <p:spPr>
          <a:xfrm>
            <a:off x="5183188" y="176400"/>
            <a:ext cx="6172200" cy="5684651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839788" y="874801"/>
            <a:ext cx="3932237" cy="499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2"/>
          <p:cNvSpPr txBox="1">
            <a:spLocks noGrp="1"/>
          </p:cNvSpPr>
          <p:nvPr>
            <p:ph type="body" idx="1"/>
          </p:nvPr>
        </p:nvSpPr>
        <p:spPr>
          <a:xfrm rot="5400000">
            <a:off x="3442853" y="-1733985"/>
            <a:ext cx="530629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32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2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2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рисунка">
  <p:cSld name="Два рисунка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4"/>
          <p:cNvSpPr/>
          <p:nvPr/>
        </p:nvSpPr>
        <p:spPr>
          <a:xfrm>
            <a:off x="5789928" y="6599750"/>
            <a:ext cx="698869" cy="2808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4"/>
          <p:cNvSpPr txBox="1">
            <a:spLocks noGrp="1"/>
          </p:cNvSpPr>
          <p:nvPr>
            <p:ph type="sldNum" idx="12"/>
          </p:nvPr>
        </p:nvSpPr>
        <p:spPr>
          <a:xfrm>
            <a:off x="5846043" y="6591826"/>
            <a:ext cx="570000" cy="287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8" name="Google Shape;158;p34"/>
          <p:cNvSpPr>
            <a:spLocks noGrp="1"/>
          </p:cNvSpPr>
          <p:nvPr>
            <p:ph type="pic" idx="2"/>
          </p:nvPr>
        </p:nvSpPr>
        <p:spPr>
          <a:xfrm>
            <a:off x="838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34"/>
          <p:cNvSpPr>
            <a:spLocks noGrp="1"/>
          </p:cNvSpPr>
          <p:nvPr>
            <p:ph type="pic" idx="3"/>
          </p:nvPr>
        </p:nvSpPr>
        <p:spPr>
          <a:xfrm>
            <a:off x="6172200" y="903600"/>
            <a:ext cx="5181600" cy="509233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/>
          <p:nvPr/>
        </p:nvSpPr>
        <p:spPr>
          <a:xfrm rot="5400000">
            <a:off x="-3277366" y="3268602"/>
            <a:ext cx="6906537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8"/>
          <p:cNvSpPr txBox="1"/>
          <p:nvPr/>
        </p:nvSpPr>
        <p:spPr>
          <a:xfrm>
            <a:off x="-2880" y="8307"/>
            <a:ext cx="357238" cy="674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5700" rIns="180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0101010001001001001010101010101000000101010101111110101010101011111111111001001001010100010100101010100101001010100101001000000100001110010010010000101000010111111111111010101010010010111111001000100010101111100000010010110101010101010100001111000110000100101010010111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2352122" y="6452624"/>
            <a:ext cx="13059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6856658" y="6462049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8"/>
          <p:cNvSpPr/>
          <p:nvPr/>
        </p:nvSpPr>
        <p:spPr>
          <a:xfrm>
            <a:off x="0" y="6556718"/>
            <a:ext cx="12192000" cy="369332"/>
          </a:xfrm>
          <a:prstGeom prst="rect">
            <a:avLst/>
          </a:prstGeom>
          <a:solidFill>
            <a:srgbClr val="537599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 txBox="1"/>
          <p:nvPr/>
        </p:nvSpPr>
        <p:spPr>
          <a:xfrm>
            <a:off x="-8763" y="6562550"/>
            <a:ext cx="12195661" cy="377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45700" rIns="18000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-RU"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1010100010010010010101010101010000001010101011111101010101010111111111110010010010101000101001010101001010010101001010010000001000010010101010101010111111111010000100101010111101010101010101101010101010100110011010101010100000100101010010001000100101111111010111101011111010111111110101010101101010101001010101010110110101111110110101000010010100100100100001010000101111111111110101010100100101111110010001000101011111000000100101101010101010101000011110001100001001010100101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8"/>
          <p:cNvSpPr txBox="1"/>
          <p:nvPr/>
        </p:nvSpPr>
        <p:spPr>
          <a:xfrm>
            <a:off x="10351455" y="6541811"/>
            <a:ext cx="92365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www.kaf22.ru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 txBox="1"/>
          <p:nvPr/>
        </p:nvSpPr>
        <p:spPr>
          <a:xfrm>
            <a:off x="9489631" y="6355403"/>
            <a:ext cx="182761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Кафедра №22 «Кибернетика»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8"/>
          <p:cNvSpPr/>
          <p:nvPr/>
        </p:nvSpPr>
        <p:spPr>
          <a:xfrm>
            <a:off x="16257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18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28857" y="6021278"/>
            <a:ext cx="874800" cy="87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/>
          <p:nvPr/>
        </p:nvSpPr>
        <p:spPr>
          <a:xfrm>
            <a:off x="914728" y="6576252"/>
            <a:ext cx="9653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www.mephi.ru</a:t>
            </a:r>
            <a:endParaRPr sz="1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/>
        </p:nvSpPr>
        <p:spPr>
          <a:xfrm>
            <a:off x="916191" y="6374510"/>
            <a:ext cx="87556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ru-RU" sz="1000" b="0" i="0" u="none" strike="noStrike" cap="none">
                <a:solidFill>
                  <a:srgbClr val="537599"/>
                </a:solidFill>
                <a:latin typeface="Calibri"/>
                <a:ea typeface="Calibri"/>
                <a:cs typeface="Calibri"/>
                <a:sym typeface="Calibri"/>
              </a:rPr>
              <a:t>НИЯУ МИФИ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25" name="Google Shape;25;p18"/>
          <p:cNvCxnSpPr/>
          <p:nvPr/>
        </p:nvCxnSpPr>
        <p:spPr>
          <a:xfrm>
            <a:off x="838200" y="792626"/>
            <a:ext cx="10515600" cy="0"/>
          </a:xfrm>
          <a:prstGeom prst="straightConnector1">
            <a:avLst/>
          </a:prstGeom>
          <a:noFill/>
          <a:ln w="22225" cap="flat" cmpd="sng">
            <a:solidFill>
              <a:srgbClr val="5375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6" name="Google Shape;26;p18"/>
          <p:cNvSpPr/>
          <p:nvPr/>
        </p:nvSpPr>
        <p:spPr>
          <a:xfrm>
            <a:off x="11271693" y="6006534"/>
            <a:ext cx="900000" cy="9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p18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244943" y="6021278"/>
            <a:ext cx="926750" cy="792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hyperlink" Target="https://www.textkernel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-RU" dirty="0"/>
              <a:t>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</a:t>
            </a:r>
            <a:endParaRPr dirty="0"/>
          </a:p>
        </p:txBody>
      </p:sp>
      <p:sp>
        <p:nvSpPr>
          <p:cNvPr id="165" name="Google Shape;165;p1"/>
          <p:cNvSpPr/>
          <p:nvPr/>
        </p:nvSpPr>
        <p:spPr>
          <a:xfrm>
            <a:off x="5044400" y="6083177"/>
            <a:ext cx="1768200" cy="46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alibri"/>
                <a:ea typeface="Calibri"/>
                <a:cs typeface="Calibri"/>
                <a:sym typeface="Calibri"/>
              </a:rPr>
              <a:t>Москва, 2026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Реферат</a:t>
            </a:r>
            <a:endParaRPr/>
          </a:p>
        </p:txBody>
      </p:sp>
      <p:sp>
        <p:nvSpPr>
          <p:cNvPr id="171" name="Google Shape;171;p2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Пояснительная записка содержит: 25 страниц, 2 рисунка, 24 источника.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Ключевые слова: ATS, рекрутмент, ранжирование кандидатов, семантическое сопоставление, обработка естественного языка, независимый энкодер (независимый энкодер (bi-encoder)), Sentence-BERT, FastAPI, интеграция с ATS, Reqcore.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разработка модуля семантического сопоставления «вакансия–резюме» на основе нейросетевых представлений текста и его интеграция в ATS.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Работа охватывает анализ методов NLP и подходов к ранжированию кандидатов, проектирование пайплайна подготовки и обработки данных, дообучение модели cointegrated/rubert-tiny2, реализацию сервиса ранжирования на FastAPI, а также экспериментальную оценку качества модели и интеграцию разработанного решения в тестовый контур ATS Reqcore.</a:t>
            </a:r>
            <a:endParaRPr sz="2000"/>
          </a:p>
        </p:txBody>
      </p:sp>
      <p:sp>
        <p:nvSpPr>
          <p:cNvPr id="172" name="Google Shape;172;p2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2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ru-RU" sz="2800"/>
              <a:t>Актуальность работы</a:t>
            </a:r>
            <a:endParaRPr/>
          </a:p>
        </p:txBody>
      </p:sp>
      <p:sp>
        <p:nvSpPr>
          <p:cNvPr id="178" name="Google Shape;178;p3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3</a:t>
            </a:fld>
            <a:endParaRPr/>
          </a:p>
        </p:txBody>
      </p:sp>
      <p:sp>
        <p:nvSpPr>
          <p:cNvPr id="179" name="Google Shape;179;p3"/>
          <p:cNvSpPr txBox="1"/>
          <p:nvPr/>
        </p:nvSpPr>
        <p:spPr>
          <a:xfrm>
            <a:off x="661226" y="2810816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Инструменты видеоинтервью и оценки компетенций с использованием AI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3" descr="Picture 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6000" y="873193"/>
            <a:ext cx="1994294" cy="199429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" descr="Textkernel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 descr="Textkernel">
            <a:hlinkClick r:id="rId4"/>
          </p:cNvPr>
          <p:cNvSpPr/>
          <p:nvPr/>
        </p:nvSpPr>
        <p:spPr>
          <a:xfrm>
            <a:off x="42863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7747" y="1304008"/>
            <a:ext cx="4287916" cy="111451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"/>
          <p:cNvSpPr txBox="1"/>
          <p:nvPr/>
        </p:nvSpPr>
        <p:spPr>
          <a:xfrm>
            <a:off x="6683318" y="2787429"/>
            <a:ext cx="512704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Парсинг резюме, вакансий и семантический поиск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3" descr="Picture backgroun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8509" y="3511839"/>
            <a:ext cx="3643138" cy="19035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/>
        </p:nvSpPr>
        <p:spPr>
          <a:xfrm>
            <a:off x="646205" y="5229175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 талантов на основе искусственного интеллекта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3" descr="Picture backgroun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51719" y="3636287"/>
            <a:ext cx="5090449" cy="1342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"/>
          <p:cNvSpPr txBox="1"/>
          <p:nvPr/>
        </p:nvSpPr>
        <p:spPr>
          <a:xfrm>
            <a:off x="6676673" y="5221393"/>
            <a:ext cx="4515964" cy="70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Платформа на основе AI для подбора, удержания и развития талантов</a:t>
            </a:r>
            <a:endParaRPr sz="24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dirty="0"/>
              <a:t>Цель ВКР</a:t>
            </a:r>
            <a:endParaRPr dirty="0"/>
          </a:p>
        </p:txBody>
      </p:sp>
      <p:sp>
        <p:nvSpPr>
          <p:cNvPr id="194" name="Google Shape;194;p4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Целью данной работы является 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95" name="Google Shape;195;p4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dirty="0"/>
              <a:t>Задачи ВКР</a:t>
            </a:r>
            <a:endParaRPr dirty="0"/>
          </a:p>
        </p:txBody>
      </p:sp>
      <p:sp>
        <p:nvSpPr>
          <p:cNvPr id="201" name="Google Shape;201;p5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Провести системный анализ предметной области рекрутмента, процессов найма и ATS-систем, а также обзор методов обработки естественного языка и алгоритмов машинного обучения, применяемых для ранжирования кандидатов.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Обосновать выбор архитектуры нейросетевых моделей BERT и Sentence-BERT, а также методов векторизации текстов вакансий и резюме для решения задачи семантического сопоставления.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Выполнить сбор, профилирование, очистку и разметку исходных данных, а также спроектировать архитектуру пайплайна предварительной обработки и модуля семантического анализа.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Разработать программный код подготовки данных, реализовать и дообучить модель сопоставления «вакансия–резюме», а также создать программный модуль ранжирования кандидатов и интерфейс его интеграции с ATS.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ru-RU" sz="2000"/>
              <a:t>Провести экспериментальную оценку качества алгоритма ранжирования, выполнить интеграцию разработанного модуля в целевую ATS-систему или её тестовый контур и оценить практическую эффективность внедрения решения.</a:t>
            </a:r>
            <a:endParaRPr sz="2000"/>
          </a:p>
        </p:txBody>
      </p:sp>
      <p:sp>
        <p:nvSpPr>
          <p:cNvPr id="202" name="Google Shape;202;p5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Введение и проблематика</a:t>
            </a:r>
            <a:endParaRPr/>
          </a:p>
        </p:txBody>
      </p:sp>
      <p:sp>
        <p:nvSpPr>
          <p:cNvPr id="208" name="Google Shape;208;p6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6</a:t>
            </a:fld>
            <a:endParaRPr/>
          </a:p>
        </p:txBody>
      </p:sp>
      <p:pic>
        <p:nvPicPr>
          <p:cNvPr id="209" name="Google Shape;20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300" y="2077300"/>
            <a:ext cx="9458525" cy="2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Постановка задачи</a:t>
            </a:r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151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000"/>
              <a:t>	Задача сопоставления вакансий и резюме, как частный случай явного сопоставления, может быть формализована как нахождение правильного отображения множества V (вакансий) в множество R (резюме):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216" name="Google Shape;216;p7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7</a:t>
            </a:fld>
            <a:endParaRPr/>
          </a:p>
        </p:txBody>
      </p: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99470" y="1923779"/>
            <a:ext cx="2096219" cy="73633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7"/>
          <p:cNvSpPr txBox="1"/>
          <p:nvPr/>
        </p:nvSpPr>
        <p:spPr>
          <a:xfrm>
            <a:off x="1078298" y="2756976"/>
            <a:ext cx="10324381" cy="151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сценарии отбора кандидатов после их отклика задача формализуется как проблема ранжирования (при условии, что множество кандидатов ограничено k-мя лучшими по значению функции r, т.е. выбираются k наиболее подходящих элементов):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2507" y="3897798"/>
            <a:ext cx="6306988" cy="7677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</a:t>
            </a:r>
            <a:endParaRPr/>
          </a:p>
        </p:txBody>
      </p:sp>
      <p:sp>
        <p:nvSpPr>
          <p:cNvPr id="225" name="Google Shape;225;p8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8</a:t>
            </a:fld>
            <a:endParaRPr/>
          </a:p>
        </p:txBody>
      </p:sp>
      <p:pic>
        <p:nvPicPr>
          <p:cNvPr id="226" name="Google Shape;22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37477" y="815149"/>
            <a:ext cx="5301133" cy="5738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C4 Container: разрабатываемая система</a:t>
            </a:r>
            <a:endParaRPr/>
          </a:p>
        </p:txBody>
      </p:sp>
      <p:sp>
        <p:nvSpPr>
          <p:cNvPr id="232" name="Google Shape;232;p9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9</a:t>
            </a:fld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350" y="875925"/>
            <a:ext cx="11660652" cy="510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Обзор методов и обоснование выбора</a:t>
            </a:r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10</a:t>
            </a:fld>
            <a:endParaRPr/>
          </a:p>
        </p:txBody>
      </p:sp>
      <p:graphicFrame>
        <p:nvGraphicFramePr>
          <p:cNvPr id="240" name="Google Shape;240;p10"/>
          <p:cNvGraphicFramePr/>
          <p:nvPr/>
        </p:nvGraphicFramePr>
        <p:xfrm>
          <a:off x="2720300" y="875100"/>
          <a:ext cx="6410325" cy="3062139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193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Метод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Семантика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Скорость инференса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Итог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TF-IDF / BM25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✗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O(1)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Не подходит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Word2Vec / FastText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Частичная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Быстро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Слабое качество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BERT Cross-Encoder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✓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O(N) — медленно на больших базах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Не масштабируется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независимый энкодер (независимый энкодер (независимый энкодер (bi-encoder)), Sentence-BERT)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✓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O(1) после индексации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✓ Выбрано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Подготовка данных и обучение модели</a:t>
            </a:r>
            <a:endParaRPr/>
          </a:p>
        </p:txBody>
      </p:sp>
      <p:sp>
        <p:nvSpPr>
          <p:cNvPr id="246" name="Google Shape;246;p11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11</a:t>
            </a:fld>
            <a:endParaRPr/>
          </a:p>
        </p:txBody>
      </p:sp>
      <p:graphicFrame>
        <p:nvGraphicFramePr>
          <p:cNvPr id="247" name="Google Shape;247;p11"/>
          <p:cNvGraphicFramePr/>
          <p:nvPr/>
        </p:nvGraphicFramePr>
        <p:xfrm>
          <a:off x="644450" y="1697750"/>
          <a:ext cx="2831100" cy="2317314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108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Параметр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Значение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Функция потерь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ContrastiveLoss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Базовая модель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cointegrated/rubert-tiny2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Эпохи / шаги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3 эпохи / 1 566 шагов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48" name="Google Shape;24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7950" y="926115"/>
            <a:ext cx="8411651" cy="500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Архитектура интеграции в ATS Reqcore</a:t>
            </a:r>
            <a:endParaRPr/>
          </a:p>
        </p:txBody>
      </p:sp>
      <p:sp>
        <p:nvSpPr>
          <p:cNvPr id="254" name="Google Shape;254;p12"/>
          <p:cNvSpPr txBox="1">
            <a:spLocks noGrp="1"/>
          </p:cNvSpPr>
          <p:nvPr>
            <p:ph type="body" idx="1"/>
          </p:nvPr>
        </p:nvSpPr>
        <p:spPr>
          <a:xfrm>
            <a:off x="623600" y="2279700"/>
            <a:ext cx="5472300" cy="22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1">
                <a:latin typeface="Arial"/>
                <a:ea typeface="Arial"/>
                <a:cs typeface="Arial"/>
                <a:sym typeface="Arial"/>
              </a:rPr>
              <a:t>Два режима скоринга в Reqcore: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Reqcore backend (TypeScript)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  ├── provider = 'biencoder' → FastAPI ML-сервис (локально)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>
                <a:latin typeface="Arial"/>
                <a:ea typeface="Arial"/>
                <a:cs typeface="Arial"/>
                <a:sym typeface="Arial"/>
              </a:rPr>
              <a:t>  └── provider = 'llm'       → OpenAI API (платно)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400" b="1">
                <a:latin typeface="Arial"/>
                <a:ea typeface="Arial"/>
                <a:cs typeface="Arial"/>
                <a:sym typeface="Arial"/>
              </a:rPr>
              <a:t>FastAPI эндпоинты: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 /index/candidate</a:t>
            </a:r>
            <a:r>
              <a:rPr lang="ru-RU" sz="1400">
                <a:latin typeface="Arial"/>
                <a:ea typeface="Arial"/>
                <a:cs typeface="Arial"/>
                <a:sym typeface="Arial"/>
              </a:rPr>
              <a:t> — индексировать резюме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-RU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 /search/rank</a:t>
            </a:r>
            <a:r>
              <a:rPr lang="ru-RU" sz="1400">
                <a:latin typeface="Arial"/>
                <a:ea typeface="Arial"/>
                <a:cs typeface="Arial"/>
                <a:sym typeface="Arial"/>
              </a:rPr>
              <a:t> — ранжировать по тексту вакансии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300" b="1"/>
          </a:p>
        </p:txBody>
      </p:sp>
      <p:sp>
        <p:nvSpPr>
          <p:cNvPr id="255" name="Google Shape;255;p12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12</a:t>
            </a:fld>
            <a:endParaRPr/>
          </a:p>
        </p:txBody>
      </p:sp>
      <p:pic>
        <p:nvPicPr>
          <p:cNvPr id="256" name="Google Shape;256;p12" title="reqcore dashboard settings ai.png"/>
          <p:cNvPicPr preferRelativeResize="0"/>
          <p:nvPr/>
        </p:nvPicPr>
        <p:blipFill rotWithShape="1">
          <a:blip r:embed="rId3">
            <a:alphaModFix/>
          </a:blip>
          <a:srcRect l="33799" t="7313" r="22284"/>
          <a:stretch/>
        </p:blipFill>
        <p:spPr>
          <a:xfrm>
            <a:off x="6445425" y="1071481"/>
            <a:ext cx="4584279" cy="5064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Результаты экспериментальной оценки</a:t>
            </a:r>
            <a:endParaRPr/>
          </a:p>
        </p:txBody>
      </p:sp>
      <p:sp>
        <p:nvSpPr>
          <p:cNvPr id="262" name="Google Shape;262;p13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13</a:t>
            </a:fld>
            <a:endParaRPr/>
          </a:p>
        </p:txBody>
      </p:sp>
      <p:graphicFrame>
        <p:nvGraphicFramePr>
          <p:cNvPr id="263" name="Google Shape;263;p13"/>
          <p:cNvGraphicFramePr/>
          <p:nvPr/>
        </p:nvGraphicFramePr>
        <p:xfrm>
          <a:off x="959675" y="2528100"/>
          <a:ext cx="3891550" cy="2019372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1203075">
                  <a:extLst>
                    <a:ext uri="{9D8B030D-6E8A-4147-A177-3AD203B41FA5}">
                      <ns2:colId val="20000"/>
                    </a:ext>
                  </a:extLst>
                </a:gridCol>
                <a:gridCol w="941500">
                  <a:extLst>
                    <a:ext uri="{9D8B030D-6E8A-4147-A177-3AD203B41FA5}">
                      <ns2:colId val="20001"/>
                    </a:ext>
                  </a:extLst>
                </a:gridCol>
                <a:gridCol w="975900">
                  <a:extLst>
                    <a:ext uri="{9D8B030D-6E8A-4147-A177-3AD203B41FA5}">
                      <ns2:colId val="20002"/>
                    </a:ext>
                  </a:extLst>
                </a:gridCol>
                <a:gridCol w="771075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Метрика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Базовая модель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Дообученная модель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Average Precision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0.259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0.987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F1-score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0.508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0.960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Accuracy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0.660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0.973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264" name="Google Shape;264;p13"/>
          <p:cNvSpPr txBox="1"/>
          <p:nvPr/>
        </p:nvSpPr>
        <p:spPr>
          <a:xfrm>
            <a:off x="612575" y="466250"/>
            <a:ext cx="50163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b="1"/>
              <a:t>Задача 1: Бинарная классификация</a:t>
            </a:r>
            <a:r>
              <a:rPr lang="ru-RU" sz="1500"/>
              <a:t> </a:t>
            </a:r>
            <a:r>
              <a:rPr lang="ru-RU" sz="1500" i="1"/>
              <a:t>(val-выборка)</a:t>
            </a:r>
            <a:endParaRPr sz="1500" i="1"/>
          </a:p>
        </p:txBody>
      </p:sp>
      <p:graphicFrame>
        <p:nvGraphicFramePr>
          <p:cNvPr id="265" name="Google Shape;265;p13"/>
          <p:cNvGraphicFramePr/>
          <p:nvPr/>
        </p:nvGraphicFramePr>
        <p:xfrm>
          <a:off x="7321788" y="2528100"/>
          <a:ext cx="3263225" cy="1581222"/>
        </p:xfrm>
        <a:graphic>
          <a:graphicData uri="http://schemas.openxmlformats.org/drawingml/2006/table">
            <a:tbl>
              <a:tblPr>
                <a:noFill/>
                <a:tableStyleId>{27097C21-5E8D-44ED-B5D9-4BA08D20CD41}</a:tableStyleId>
              </a:tblPr>
              <a:tblGrid>
                <a:gridCol w="2373250">
                  <a:extLst>
                    <a:ext uri="{9D8B030D-6E8A-4147-A177-3AD203B41FA5}">
                      <ns2:colId val="20000"/>
                    </a:ext>
                  </a:extLst>
                </a:gridCol>
                <a:gridCol w="889975">
                  <a:extLst>
                    <a:ext uri="{9D8B030D-6E8A-4147-A177-3AD203B41FA5}">
                      <ns2:colId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Метрика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sz="1100" b="1"/>
                        <a:t>Значение</a:t>
                      </a:r>
                      <a:endParaRPr sz="1100"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NDCG@1 / @3 / @5 / @10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1.000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MRR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1.000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Precision@3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/>
                        <a:t>0.9958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</a:tbl>
          </a:graphicData>
        </a:graphic>
      </p:graphicFrame>
      <p:sp>
        <p:nvSpPr>
          <p:cNvPr id="266" name="Google Shape;266;p13"/>
          <p:cNvSpPr txBox="1"/>
          <p:nvPr/>
        </p:nvSpPr>
        <p:spPr>
          <a:xfrm>
            <a:off x="6096000" y="466250"/>
            <a:ext cx="5952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500" b="1"/>
              <a:t>Задача 2: Ранжирование</a:t>
            </a:r>
            <a:r>
              <a:rPr lang="ru-RU" sz="1500"/>
              <a:t> </a:t>
            </a:r>
            <a:r>
              <a:rPr lang="ru-RU" sz="1500" i="1"/>
              <a:t>(521 тестовая пара, 423 вакансии)</a:t>
            </a:r>
            <a:endParaRPr sz="1500"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2286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300"/>
              <a:t>В результате работы разработан и интегрирован в ATS Reqcore модуль семантического ранжирования кандидатов на основе независимый энкодер (независимый энкодер (bi-encoder)) модели rubert-tiny2. В офлайн-оценке модель после fine-tuning показала улучшение относительно контрольной базовой модели без дообучения: Average Precision на validation выросла с 0.259 до 0.987; на тестовом срезе получены NDCG@3 = 1.0, MRR = 1.0 и Precision@3 = 0.996 для подмножеств, где эти метрики определены. Экономический эффект и ускорение скрининга рассматриваются как расчетный сценарий при использовании модели для предварительного top-K отбора, а не как результат production A/B-теста.</a:t>
            </a:r>
            <a:endParaRPr sz="2300"/>
          </a:p>
          <a:p>
            <a:pPr marL="22860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2300"/>
              <a:t>В дальнейшем планируется:</a:t>
            </a:r>
            <a:endParaRPr sz="2300"/>
          </a:p>
          <a:p>
            <a:pPr marL="457200" lvl="0" indent="-37465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AutoNum type="arabicPeriod"/>
            </a:pPr>
            <a:r>
              <a:rPr lang="ru-RU" sz="2300"/>
              <a:t>масштабирование поиска с помощью Vector DB и ANN;</a:t>
            </a:r>
            <a:endParaRPr sz="2300"/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ru-RU" sz="2300"/>
              <a:t>добавление второго уровня Learning-to-Rank;</a:t>
            </a:r>
            <a:endParaRPr sz="2300"/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ru-RU" sz="2300"/>
              <a:t>развитие explainability и fair ranking;</a:t>
            </a:r>
            <a:endParaRPr sz="2300"/>
          </a:p>
          <a:p>
            <a:pPr marL="457200" lvl="0" indent="-3746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AutoNum type="arabicPeriod"/>
            </a:pPr>
            <a:r>
              <a:rPr lang="ru-RU" sz="2300"/>
              <a:t>расширение и дообучение модели на новых и мультиязычных HR-данных.</a:t>
            </a:r>
            <a:endParaRPr sz="2300"/>
          </a:p>
        </p:txBody>
      </p:sp>
      <p:sp>
        <p:nvSpPr>
          <p:cNvPr id="273" name="Google Shape;273;p15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>
            <a:spLocks noGrp="1"/>
          </p:cNvSpPr>
          <p:nvPr>
            <p:ph type="title"/>
          </p:nvPr>
        </p:nvSpPr>
        <p:spPr>
          <a:xfrm>
            <a:off x="838200" y="25148"/>
            <a:ext cx="10515600" cy="748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/>
              <a:t>Список литературы</a:t>
            </a:r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body" idx="1"/>
          </p:nvPr>
        </p:nvSpPr>
        <p:spPr>
          <a:xfrm>
            <a:off x="838200" y="870668"/>
            <a:ext cx="10515600" cy="5306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Rosenberger J., Wolfrum L., Weinzierl S., Kraus M., Zschech P. CareerBERT: Matching Resumes to ESCO Jobs in a Shared Embedding Space for Generic Job Recommendations. Expert Systems with Applications, 2025 (arXiv:2503.02056).</a:t>
            </a:r>
            <a:endParaRPr sz="20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Devlin J., Chang M.-W., Lee K., Toutanova K. BERT: Pre-training of Deep Bidirectional Transformers for Language Understanding. arXiv:1810.04805.</a:t>
            </a:r>
            <a:endParaRPr sz="20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Reimers N., Gurevych I. Sentence-BERT: Sentence Embeddings using Siamese BERT-Networks. arXiv:1908.10084.</a:t>
            </a:r>
            <a:endParaRPr sz="20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Liu T.-Y. Learning to Rank for Information Retrieval. Foundations and Trends in Information Retrieval, 3(3), 2009, pp. 225–331.</a:t>
            </a:r>
            <a:endParaRPr sz="20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ru-RU" sz="2000"/>
              <a:t>Järvelin K., Kekäläinen J. Cumulated Gain-based Evaluation of IR Techniques. ACM Transactions on Information Systems, 20(4), 2002, pp. 422–446.</a:t>
            </a:r>
            <a:endParaRPr sz="2000"/>
          </a:p>
        </p:txBody>
      </p:sp>
      <p:sp>
        <p:nvSpPr>
          <p:cNvPr id="280" name="Google Shape;280;p16"/>
          <p:cNvSpPr txBox="1">
            <a:spLocks noGrp="1"/>
          </p:cNvSpPr>
          <p:nvPr>
            <p:ph type="sldNum" idx="12"/>
          </p:nvPr>
        </p:nvSpPr>
        <p:spPr>
          <a:xfrm>
            <a:off x="5746566" y="6556718"/>
            <a:ext cx="6988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15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ru-RU">
                <a:solidFill>
                  <a:schemeClr val="dk1"/>
                </a:solidFill>
              </a:rPr>
              <a:t>16</a:t>
            </a:fld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4228176" y="2739377"/>
            <a:ext cx="378821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ru-RU" sz="22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 за внимание!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f068bf5d_0_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  <p:pic>
        <p:nvPicPr>
          <p:cNvPr id="293" name="Google Shape;293;g3def068bf5d_0_0" title="reqcore auth sign-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8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ef068bf5d_0_6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  <p:pic>
        <p:nvPicPr>
          <p:cNvPr id="300" name="Google Shape;300;g3def068bf5d_0_6" title="reqcore dashboard jobs 483c8e0e-ab8f-424d-b0cb-c7625addd73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3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ef068bf5d_0_12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pic>
        <p:nvPicPr>
          <p:cNvPr id="307" name="Google Shape;307;g3def068bf5d_0_12" title="reqcore dashboard settings a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2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ef068bf5d_0_18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pic>
        <p:nvPicPr>
          <p:cNvPr id="314" name="Google Shape;314;g3def068bf5d_0_18" title="reqcore dashboar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29376" cy="626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ef068bf5d_0_24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  <p:pic>
        <p:nvPicPr>
          <p:cNvPr id="321" name="Google Shape;321;g3def068bf5d_0_24" title="reqcore main p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1238" cy="62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ef068bf5d_0_30"/>
          <p:cNvSpPr txBox="1">
            <a:spLocks noGrp="1"/>
          </p:cNvSpPr>
          <p:nvPr>
            <p:ph type="sldNum" idx="12"/>
          </p:nvPr>
        </p:nvSpPr>
        <p:spPr>
          <a:xfrm>
            <a:off x="5785581" y="6566051"/>
            <a:ext cx="606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  <p:pic>
        <p:nvPicPr>
          <p:cNvPr id="328" name="Google Shape;328;g3def068bf5d_0_30" title="minio 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201" cy="6222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1643</Words>
  <Application>Microsoft Office PowerPoint</Application>
  <PresentationFormat>Широкоэкранный</PresentationFormat>
  <Paragraphs>146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Roboto Mono</vt:lpstr>
      <vt:lpstr>Calibri</vt:lpstr>
      <vt:lpstr>Тема Office</vt:lpstr>
      <vt:lpstr>Разработка и внедрение интеллектуального модуля ранжирования кандидатов на основе семантического анализа резюме и вакансий в систему автоматизированного подбора персонала</vt:lpstr>
      <vt:lpstr>Реферат</vt:lpstr>
      <vt:lpstr>Актуальность работы</vt:lpstr>
      <vt:lpstr>Цель ВКР</vt:lpstr>
      <vt:lpstr>Задачи ВКР</vt:lpstr>
      <vt:lpstr>Введение и проблематика</vt:lpstr>
      <vt:lpstr>Постановка задачи</vt:lpstr>
      <vt:lpstr>Архитектура C4 Container</vt:lpstr>
      <vt:lpstr>Архитектура C4 Container: разрабатываемая система</vt:lpstr>
      <vt:lpstr>Обзор методов и обоснование выбора</vt:lpstr>
      <vt:lpstr>Подготовка данных и обучение модели</vt:lpstr>
      <vt:lpstr>Архитектура интеграции в ATS Reqcore</vt:lpstr>
      <vt:lpstr>Результаты экспериментальной оценки</vt:lpstr>
      <vt:lpstr>Заключение</vt:lpstr>
      <vt:lpstr>Список литературы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V. R.</dc:creator>
  <cp:lastModifiedBy>Артём Носов</cp:lastModifiedBy>
  <cp:revision>3</cp:revision>
  <dcterms:created xsi:type="dcterms:W3CDTF">2017-09-30T21:27:42Z</dcterms:created>
  <dcterms:modified xsi:type="dcterms:W3CDTF">2026-05-20T20:49:58Z</dcterms:modified>
</cp:coreProperties>
</file>
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embeddedFontLst>
    <p:embeddedFont>
      <p:font typeface="Arial Black" panose="020B0A04020102020204" pitchFamily="34" charset="0"/>
      <p:regular r:id="rId25"/>
      <p:bold r:id="rId26"/>
    </p:embeddedFont>
    <p:embeddedFont>
      <p:font typeface="Roboto Mono" panose="00000009000000000000" pitchFamily="49" charset="0"/>
      <p:regular r:id="rId27"/>
      <p:bold r:id="rId28"/>
      <p:italic r:id="rId29"/>
      <p:bold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4" roundtripDataSignature="AMtx7mh8/6FgH6baeAMsTcsN+n++Cew/x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EDB8C37-9DD7-4D3C-9DAE-6CFC98C3CE59}">
  <a:tblStyle styleId="{EEDB8C37-9DD7-4D3C-9DAE-6CFC98C3CE59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27097C21-5E8D-44ED-B5D9-4BA08D20CD41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556" y="3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customschemas.google.com/relationships/presentationmetadata" Target="meta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Добрый день, уважаемые члены комиссии. Меня зовут Носов Артём Иванович, тема моей работы — Разработка и внедрение интеллектуального модуля ранжирования кандидатов на основе семантического анализа резюме и вакансий в систему автоматизированного подбора персонала.</a:t>
            </a:r>
            <a:endParaRPr/>
          </a:p>
        </p:txBody>
      </p:sp>
      <p:sp>
        <p:nvSpPr>
          <p:cNvPr id="162" name="Google Shape;16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8" name="Google Shape;16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ru-RU"/>
              <a:t>Актуальность работы связана с тем, что рекрутерам всё сложнее вручную обрабатывать большой поток откликов, поэтому нужны точные и справедливые инструменты автоматического сопоставления вакансий и резюме. На слайде представлены примеры таких систем, уже применяемых в индустрии для автоматизации оценки, поиска и подбора кандидатов.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endParaRPr/>
          </a:p>
        </p:txBody>
      </p:sp>
      <p:sp>
        <p:nvSpPr>
          <p:cNvPr id="175" name="Google Shape;17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ru-RU" sz="2000"/>
              <a:t>Целью данной работы является разработка и внедрение интеллектуального модуля ранжирования кандидатов на основе семантического анализа резюме и вакансий в систему автоматизированного подбора персонала</a:t>
            </a:r>
            <a:endParaRPr sz="200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1" name="Google Shape;19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Были выполнены задачи: анализ области, выбор моделей, подготовка данных, разработка модуля ранжирования и оценка его качества. </a:t>
            </a:r>
            <a:endParaRPr/>
          </a:p>
        </p:txBody>
      </p:sp>
      <p:sp>
        <p:nvSpPr>
          <p:cNvPr id="198" name="Google Shape;19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Здесь показано основное узкое место подбора — первичный скрининг кандидатов. Именно на этом этапе рекрутеру приходится вручную просматривать большой поток откликов, и с ростом числа кандидатов трудозатраты растут линейно</a:t>
            </a:r>
            <a:endParaRPr/>
          </a:p>
        </p:txBody>
      </p:sp>
      <p:sp>
        <p:nvSpPr>
          <p:cNvPr id="205" name="Google Shape;20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каждому резюме для конкретной вакансии присваивается оценка релевантности, после чего кандидаты ранжируются по этой оценке и выбираются лучшие </a:t>
            </a:r>
            <a:endParaRPr/>
          </a:p>
        </p:txBody>
      </p:sp>
      <p:sp>
        <p:nvSpPr>
          <p:cNvPr id="212" name="Google Shape;21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на слайде архитектура системы в нотации C4 – на следующем слайде посморим именно разрабатываемую в данной работе часть</a:t>
            </a:r>
            <a:endParaRPr/>
          </a:p>
        </p:txBody>
      </p:sp>
      <p:sp>
        <p:nvSpPr>
          <p:cNvPr id="222" name="Google Shape;22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/>
              <a:t>В работе был разработан модуль семантического ранжирования и встроен в архитектуру системы подбора персонала. На слайде показано, что реализованы offline-пайплайн подготовки и обучения модели, FastAPI-сервис для расчёта оценки соответствия и ранжирования кандидатов, а также интеграция с backend системы через отдельный bi-encoder путь </a:t>
            </a:r>
            <a:endParaRPr/>
          </a:p>
        </p:txBody>
      </p:sp>
      <p:sp>
        <p:nvSpPr>
          <p:cNvPr id="229" name="Google Shape;229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r>
              <a:rPr lang="ru-RU" sz="1100">
                <a:latin typeface="Arial"/>
                <a:ea typeface="Arial"/>
                <a:cs typeface="Arial"/>
                <a:sym typeface="Arial"/>
              </a:rPr>
              <a:t>Я рассматривал четыре класса методов. TF-IDF и BM25 быстрые, но не учитывают смысл. Word2Vec даёт частичную семантику, но качество недостаточное для HR-задачи. Cross-encoder — полноценный BERT, который обрабатывает пару «вакансия + резюме» совместно — даёт высокое качество, но при базе в тысячу резюме требует тысячи обращений к модели на каждый запрос, что неприемлемо по скорости. Bi-encoder решает эту проблему: вакансия и резюме кодируются независимо, резюме индексируются один раз, а ранжирование — это просто косинусное сходство между векторами, что занимает миллисекунды. В качестве базовой модели я выбрал </a:t>
            </a:r>
            <a:r>
              <a:rPr lang="ru-RU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rubert-tiny</a:t>
            </a:r>
            <a:r>
              <a:rPr lang="ru-RU" sz="1100">
                <a:latin typeface="Arial"/>
                <a:ea typeface="Arial"/>
                <a:cs typeface="Arial"/>
                <a:sym typeface="Arial"/>
              </a:rPr>
              <a:t> — это лёгкая русскоязычная модель на 29 миллионов параметров, которая разворачивается на обычном CPU-сервере без GPU</a:t>
            </a:r>
            <a:endParaRPr/>
          </a:p>
        </p:txBody>
      </p:sp>
      <p:sp>
        <p:nvSpPr>
          <p:cNvPr id="236" name="Google Shape;23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r>
              <a:rPr lang="ru-RU"/>
              <a:t>Данные получены из агрегатора вакансий. Объём сырых данных — около 17 гигабайт резюме и 44 гигабайта вакансий. Разметка построена на основе реальных HR-событий: если рекрутер пригласил кандидата по данной вакансии — это позитивная пара, отказ — негативная. Перед обучением я провёл предобработку: маскирование персональных данных, нормализацию текста, формирование сплитов. Обучение проводилось с функцией потерь ContrastiveLoss (</a:t>
            </a:r>
            <a:r>
              <a:rPr lang="ru-RU" sz="1100" b="1">
                <a:latin typeface="Arial"/>
                <a:ea typeface="Arial"/>
                <a:cs typeface="Arial"/>
                <a:sym typeface="Arial"/>
              </a:rPr>
              <a:t>подходящие пары имели близкие векторы</a:t>
            </a:r>
            <a:r>
              <a:rPr lang="ru-RU" sz="1100">
                <a:latin typeface="Arial"/>
                <a:ea typeface="Arial"/>
                <a:cs typeface="Arial"/>
                <a:sym typeface="Arial"/>
              </a:rPr>
              <a:t>, а </a:t>
            </a:r>
            <a:r>
              <a:rPr lang="ru-RU" sz="1100" b="1">
                <a:latin typeface="Arial"/>
                <a:ea typeface="Arial"/>
                <a:cs typeface="Arial"/>
                <a:sym typeface="Arial"/>
              </a:rPr>
              <a:t>неподходящие — далёкие векторы</a:t>
            </a:r>
            <a:r>
              <a:rPr lang="ru-RU" sz="1100"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ru-RU"/>
              <a:t>) — она учит модель сближать эмбеддинги релевантных пар и разводить нерелевантные. Уже после первой эпохи Average Precision вырос с 26 процентов до 89 процентов. После трёх эпох модель достигает средняя точность  = 98 процентов</a:t>
            </a:r>
            <a:endParaRPr/>
          </a:p>
        </p:txBody>
      </p:sp>
      <p:sp>
        <p:nvSpPr>
          <p:cNvPr id="243" name="Google Shape;24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r>
              <a:rPr lang="ru-RU" sz="1100">
                <a:latin typeface="Arial"/>
                <a:ea typeface="Arial"/>
                <a:cs typeface="Arial"/>
                <a:sym typeface="Arial"/>
              </a:rPr>
              <a:t>Микросервис написан на Python с FastAPI и разворачивается рядом с основным бекендом Reqcore. В системе появился роутер скоринга: если администратор выбирает режим </a:t>
            </a:r>
            <a:r>
              <a:rPr lang="ru-RU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biencoder</a:t>
            </a:r>
            <a:r>
              <a:rPr lang="ru-RU" sz="1100">
                <a:latin typeface="Arial"/>
                <a:ea typeface="Arial"/>
                <a:cs typeface="Arial"/>
                <a:sym typeface="Arial"/>
              </a:rPr>
              <a:t>, запросы ранжирования идут в локальный ML-сервис. Если выбран режим </a:t>
            </a:r>
            <a:r>
              <a:rPr lang="ru-RU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llm</a:t>
            </a:r>
            <a:r>
              <a:rPr lang="ru-RU" sz="1100">
                <a:latin typeface="Arial"/>
                <a:ea typeface="Arial"/>
                <a:cs typeface="Arial"/>
                <a:sym typeface="Arial"/>
              </a:rPr>
              <a:t> — вызывается OpenAI. На скриншотах видно реальный интерфейс: в настройках выбран biencoder, а на странице вакансии кандидаты отсортированы по cosine similarity. Важно: переключение между режимами не требует изменения кода — только смена конфигурации в административном интерфейсе.</a:t>
            </a:r>
            <a:endParaRPr/>
          </a:p>
        </p:txBody>
      </p:sp>
      <p:sp>
        <p:nvSpPr>
          <p:cNvPr id="251" name="Google Shape;25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Оценка проводилась по двум задачам. Первая — бинарная классификация: нужно отличить релевантное резюме от нерелевантного. Baseline — это та же модель до fine-tuning: Average Precision всего 26 процентов, то есть модель практически случайная. После обучения точность = 98 процентов, F1 = 96 процентов. Вторая задача — ранжирование: для каждой вакансии дан набор кандидатов, нужно поставить релевантного на первое место. Результат — NDCG@1 равен 1.0 (</a:t>
            </a:r>
            <a:r>
              <a:rPr lang="ru-RU" sz="1100" i="1">
                <a:latin typeface="Arial"/>
                <a:ea typeface="Arial"/>
                <a:cs typeface="Arial"/>
                <a:sym typeface="Arial"/>
              </a:rPr>
              <a:t>Normalized Discounted Cumulative Gain at 1</a:t>
            </a:r>
            <a:r>
              <a:rPr lang="ru-RU" sz="1100">
                <a:latin typeface="Arial"/>
                <a:ea typeface="Arial"/>
                <a:cs typeface="Arial"/>
                <a:sym typeface="Arial"/>
              </a:rPr>
              <a:t>, по-русски: </a:t>
            </a:r>
            <a:r>
              <a:rPr lang="ru-RU" sz="1100" b="1">
                <a:latin typeface="Arial"/>
                <a:ea typeface="Arial"/>
                <a:cs typeface="Arial"/>
                <a:sym typeface="Arial"/>
              </a:rPr>
              <a:t>нормализованная дисконтированная кумулятивная выгода на первой позиции</a:t>
            </a:r>
            <a:r>
              <a:rPr lang="ru-RU" sz="1100"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ru-RU"/>
              <a:t>), MRR равен 1.0 (</a:t>
            </a:r>
            <a:r>
              <a:rPr lang="ru-RU" sz="1100" i="1">
                <a:latin typeface="Arial"/>
                <a:ea typeface="Arial"/>
                <a:cs typeface="Arial"/>
                <a:sym typeface="Arial"/>
              </a:rPr>
              <a:t>Mean Reciprocal Rank</a:t>
            </a:r>
            <a:r>
              <a:rPr lang="ru-RU" sz="1100">
                <a:latin typeface="Arial"/>
                <a:ea typeface="Arial"/>
                <a:cs typeface="Arial"/>
                <a:sym typeface="Arial"/>
              </a:rPr>
              <a:t>, по-русски: </a:t>
            </a:r>
            <a:r>
              <a:rPr lang="ru-RU" sz="1100" b="1">
                <a:latin typeface="Arial"/>
                <a:ea typeface="Arial"/>
                <a:cs typeface="Arial"/>
                <a:sym typeface="Arial"/>
              </a:rPr>
              <a:t>средний обратный ранг</a:t>
            </a:r>
            <a:r>
              <a:rPr lang="ru-RU" sz="1100"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ru-RU"/>
              <a:t>). Это означает, что во всех тестовых случаях модель поставила правильного кандидата на первое место.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59" name="Google Shape;25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В работе реализован и интегрирован в систему подбора персонала модуль семантического ранжирования кандидатов. После дообучения качество модели существенно выросло, что позволяет ускорить первичный скрининг и сократить затраты на LLM-скоринг.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r>
              <a:rPr lang="ru-RU"/>
              <a:t>Дальше планируется масштабирование через Vector DB и приближённый поиск ближайших соседей (ANN), добавление Learning-to-Rank, а также развитие объяснимости результатов модели , справедливости и дообучение на новых данных</a:t>
            </a:r>
            <a:endParaRPr/>
          </a:p>
        </p:txBody>
      </p:sp>
      <p:sp>
        <p:nvSpPr>
          <p:cNvPr id="269" name="Google Shape;26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76" name="Google Shape;276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83" name="Google Shape;28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def068bf5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3def068bf5d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g3def068bf5d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def068bf5d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g3def068bf5d_0_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g3def068bf5d_0_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def068bf5d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def068bf5d_0_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4" name="Google Shape;304;g3def068bf5d_0_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def068bf5d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3def068bf5d_0_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g3def068bf5d_0_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def068bf5d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3def068bf5d_0_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" name="Google Shape;318;g3def068bf5d_0_2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def068bf5d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4" name="Google Shape;324;g3def068bf5d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5" name="Google Shape;325;g3def068bf5d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/>
              <a:t>22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Титульный слайд">
  <p:cSld name="2_Титульный слайд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9"/>
          <p:cNvSpPr txBox="1">
            <a:spLocks noGrp="1"/>
          </p:cNvSpPr>
          <p:nvPr>
            <p:ph type="title"/>
          </p:nvPr>
        </p:nvSpPr>
        <p:spPr>
          <a:xfrm>
            <a:off x="1499294" y="3435698"/>
            <a:ext cx="9144001" cy="1055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9"/>
          <p:cNvSpPr txBox="1"/>
          <p:nvPr/>
        </p:nvSpPr>
        <p:spPr>
          <a:xfrm>
            <a:off x="239349" y="1132515"/>
            <a:ext cx="11952651" cy="1476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ru-RU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ИНСТИТУТ ИНТЕЛЛЕКТУАЛЬНЫХ КИБЕРНЕТИЧЕСКИХ СИСТЕМ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</a:pPr>
            <a:r>
              <a:rPr lang="ru-RU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КАФЕДРА КИБЕРНЕТИКИ (№ 22)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ru-RU"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			НАПРАВЛЕНИЕ ПОДГОТОВКИ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1" name="Google Shape;31;p19"/>
          <p:cNvGraphicFramePr/>
          <p:nvPr/>
        </p:nvGraphicFramePr>
        <p:xfrm>
          <a:off x="6341333" y="4581951"/>
          <a:ext cx="5796625" cy="1164225"/>
        </p:xfrm>
        <a:graphic>
          <a:graphicData uri="http://schemas.openxmlformats.org/drawingml/2006/table">
            <a:tbl>
              <a:tblPr firstRow="1" bandRow="1">
                <a:noFill/>
                <a:tableStyleId>{EEDB8C37-9DD7-4D3C-9DAE-6CFC98C3CE59}</a:tableStyleId>
              </a:tblPr>
              <a:tblGrid>
                <a:gridCol w="306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32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Студент:</a:t>
                      </a:r>
                      <a:endParaRPr sz="16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600" u="none" strike="noStrike" cap="none"/>
                    </a:p>
                  </a:txBody>
                  <a:tcPr marL="121925" marR="121925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525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Группа:</a:t>
                      </a:r>
                      <a:endParaRPr sz="16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600" u="none" strike="noStrike" cap="none"/>
                    </a:p>
                  </a:txBody>
                  <a:tcPr marL="121925" marR="121925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Научный руководитель:</a:t>
                      </a:r>
                      <a:endParaRPr sz="16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600" u="none" strike="noStrike" cap="none"/>
                    </a:p>
                  </a:txBody>
                  <a:tcPr marL="121925" marR="121925" marT="45725" marB="45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2" name="Google Shape;32;p19"/>
          <p:cNvSpPr txBox="1"/>
          <p:nvPr/>
        </p:nvSpPr>
        <p:spPr>
          <a:xfrm>
            <a:off x="3305360" y="2883132"/>
            <a:ext cx="527099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rPr>
              <a:t>Научно-исследовательская работа на тему: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9"/>
          <p:cNvSpPr txBox="1"/>
          <p:nvPr/>
        </p:nvSpPr>
        <p:spPr>
          <a:xfrm>
            <a:off x="5261024" y="6232783"/>
            <a:ext cx="135966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Москва, 2025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9"/>
          <p:cNvSpPr/>
          <p:nvPr/>
        </p:nvSpPr>
        <p:spPr>
          <a:xfrm>
            <a:off x="595618" y="-2691"/>
            <a:ext cx="11534863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МИНИСТЕРСТВО НАУКИ И ВЫСШЕГО ОБРАЗОВАНИЯ РОССИЙСКОЙ  ФЕДЕРАЦИИ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Федеральное государственное автономное образовательное учреждение высшего образования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«Национальный исследовательский ядерный университет «МИФИ»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9"/>
          <p:cNvSpPr txBox="1"/>
          <p:nvPr/>
        </p:nvSpPr>
        <p:spPr>
          <a:xfrm>
            <a:off x="9344867" y="4570806"/>
            <a:ext cx="2366164" cy="354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Носов А.И.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9"/>
          <p:cNvSpPr txBox="1"/>
          <p:nvPr/>
        </p:nvSpPr>
        <p:spPr>
          <a:xfrm>
            <a:off x="9344867" y="4925534"/>
            <a:ext cx="2366164" cy="354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М24-534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9"/>
          <p:cNvSpPr txBox="1"/>
          <p:nvPr/>
        </p:nvSpPr>
        <p:spPr>
          <a:xfrm>
            <a:off x="9344867" y="5298218"/>
            <a:ext cx="2366164" cy="6663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к.т.н., доцент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Киреев В.С.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19"/>
          <p:cNvSpPr txBox="1"/>
          <p:nvPr/>
        </p:nvSpPr>
        <p:spPr>
          <a:xfrm>
            <a:off x="6329492" y="2262494"/>
            <a:ext cx="4257414" cy="354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09.04.04 ПРОГРАММНАЯ ИНЖЕНЕРИЯ</a:t>
            </a:r>
            <a:endParaRPr sz="1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0"/>
          <p:cNvSpPr/>
          <p:nvPr/>
        </p:nvSpPr>
        <p:spPr>
          <a:xfrm>
            <a:off x="5746565" y="6556717"/>
            <a:ext cx="698869" cy="365125"/>
          </a:xfrm>
          <a:prstGeom prst="diamond">
            <a:avLst/>
          </a:prstGeom>
          <a:solidFill>
            <a:schemeClr val="lt1"/>
          </a:solidFill>
          <a:ln w="95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0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0"/>
          <p:cNvSpPr txBox="1">
            <a:spLocks noGrp="1"/>
          </p:cNvSpPr>
          <p:nvPr>
            <p:ph type="body" idx="1"/>
          </p:nvPr>
        </p:nvSpPr>
        <p:spPr>
          <a:xfrm>
            <a:off x="838200" y="870668"/>
            <a:ext cx="10515600" cy="5306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20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0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20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1"/>
          <p:cNvSpPr/>
          <p:nvPr/>
        </p:nvSpPr>
        <p:spPr>
          <a:xfrm>
            <a:off x="5746565" y="6556717"/>
            <a:ext cx="698869" cy="365125"/>
          </a:xfrm>
          <a:prstGeom prst="diamond">
            <a:avLst/>
          </a:prstGeom>
          <a:solidFill>
            <a:schemeClr val="lt1"/>
          </a:solidFill>
          <a:ln w="95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1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1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1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cxnSp>
        <p:nvCxnSpPr>
          <p:cNvPr id="51" name="Google Shape;51;p21"/>
          <p:cNvCxnSpPr/>
          <p:nvPr/>
        </p:nvCxnSpPr>
        <p:spPr>
          <a:xfrm>
            <a:off x="838200" y="792626"/>
            <a:ext cx="10515600" cy="0"/>
          </a:xfrm>
          <a:prstGeom prst="straightConnector1">
            <a:avLst/>
          </a:prstGeom>
          <a:noFill/>
          <a:ln w="222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Титульный слайд">
  <p:cSld name="1_Титульный слайд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1499294" y="3435698"/>
            <a:ext cx="9144001" cy="1055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/>
          <p:nvPr/>
        </p:nvSpPr>
        <p:spPr>
          <a:xfrm>
            <a:off x="239349" y="1132515"/>
            <a:ext cx="11952651" cy="1476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ru-RU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ИНСТИТУТ ИНТЕЛЛЕКТУАЛЬНЫХ КИБЕРНЕТИЧЕСКИХ СИСТЕМ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</a:pPr>
            <a:r>
              <a:rPr lang="ru-RU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КАФЕДРА КИБЕРНЕТИКИ (№ 22)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ru-RU"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			НАПРАВЛЕНИЕ ПОДГОТОВКИ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55" name="Google Shape;55;p22"/>
          <p:cNvGraphicFramePr/>
          <p:nvPr/>
        </p:nvGraphicFramePr>
        <p:xfrm>
          <a:off x="6341333" y="4581951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{EEDB8C37-9DD7-4D3C-9DAE-6CFC98C3CE59}</a:tableStyleId>
              </a:tblPr>
              <a:tblGrid>
                <a:gridCol w="306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32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Студент:</a:t>
                      </a:r>
                      <a:endParaRPr sz="16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600" u="none" strike="noStrike" cap="none"/>
                    </a:p>
                  </a:txBody>
                  <a:tcPr marL="121925" marR="121925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525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Группа:</a:t>
                      </a:r>
                      <a:endParaRPr sz="16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600" u="none" strike="noStrike" cap="none"/>
                    </a:p>
                  </a:txBody>
                  <a:tcPr marL="121925" marR="121925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Научный руководитель:</a:t>
                      </a:r>
                      <a:endParaRPr sz="16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600" u="none" strike="noStrike" cap="none"/>
                    </a:p>
                  </a:txBody>
                  <a:tcPr marL="121925" marR="121925" marT="45725" marB="45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6" name="Google Shape;56;p22"/>
          <p:cNvSpPr txBox="1"/>
          <p:nvPr/>
        </p:nvSpPr>
        <p:spPr>
          <a:xfrm>
            <a:off x="3316581" y="2883132"/>
            <a:ext cx="524855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rPr>
              <a:t>Учебно-исследовательская работа на тему: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22"/>
          <p:cNvSpPr txBox="1"/>
          <p:nvPr/>
        </p:nvSpPr>
        <p:spPr>
          <a:xfrm>
            <a:off x="5261024" y="6232783"/>
            <a:ext cx="135966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Москва, 2025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22"/>
          <p:cNvSpPr/>
          <p:nvPr/>
        </p:nvSpPr>
        <p:spPr>
          <a:xfrm>
            <a:off x="595618" y="-2691"/>
            <a:ext cx="11534863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МИНИСТЕРСТВО НАУКИ И ВЫСШЕГО ОБРАЗОВАНИЯ РОССИЙСКОЙ  ФЕДЕРАЦИИ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Федеральное государственное автономное образовательное учреждение высшего образования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«Национальный исследовательский ядерный университет «МИФИ»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22"/>
          <p:cNvSpPr txBox="1"/>
          <p:nvPr/>
        </p:nvSpPr>
        <p:spPr>
          <a:xfrm>
            <a:off x="6329492" y="2262494"/>
            <a:ext cx="4257414" cy="354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09.04.04 ПРОГРАММНАЯ ИНЖЕНЕРИЯ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22"/>
          <p:cNvSpPr txBox="1">
            <a:spLocks noGrp="1"/>
          </p:cNvSpPr>
          <p:nvPr>
            <p:ph type="body" idx="1"/>
          </p:nvPr>
        </p:nvSpPr>
        <p:spPr>
          <a:xfrm>
            <a:off x="9328287" y="4641277"/>
            <a:ext cx="2184400" cy="285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22"/>
          <p:cNvSpPr txBox="1">
            <a:spLocks noGrp="1"/>
          </p:cNvSpPr>
          <p:nvPr>
            <p:ph type="body" idx="2"/>
          </p:nvPr>
        </p:nvSpPr>
        <p:spPr>
          <a:xfrm>
            <a:off x="9328287" y="4996083"/>
            <a:ext cx="2184400" cy="2995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p22"/>
          <p:cNvSpPr txBox="1">
            <a:spLocks noGrp="1"/>
          </p:cNvSpPr>
          <p:nvPr>
            <p:ph type="body" idx="3"/>
          </p:nvPr>
        </p:nvSpPr>
        <p:spPr>
          <a:xfrm>
            <a:off x="9323524" y="5462042"/>
            <a:ext cx="2184400" cy="58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6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Титульный слайд">
  <p:cSld name="3_Титульный слайд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3"/>
          <p:cNvSpPr txBox="1">
            <a:spLocks noGrp="1"/>
          </p:cNvSpPr>
          <p:nvPr>
            <p:ph type="title"/>
          </p:nvPr>
        </p:nvSpPr>
        <p:spPr>
          <a:xfrm>
            <a:off x="1499294" y="3435698"/>
            <a:ext cx="9144001" cy="1055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/>
          <p:nvPr/>
        </p:nvSpPr>
        <p:spPr>
          <a:xfrm>
            <a:off x="239349" y="1132515"/>
            <a:ext cx="11952651" cy="1476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ru-RU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ИНСТИТУТ ИНТЕЛЛЕКТУАЛЬНЫХ КИБЕРНЕТИЧЕСКИХ СИСТЕМ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</a:pPr>
            <a:r>
              <a:rPr lang="ru-RU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КАФЕДРА КИБЕРНЕТИКИ (№ 22)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ru-RU"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			НАПРАВЛЕНИЕ ПОДГОТОВКИ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66" name="Google Shape;66;p23"/>
          <p:cNvGraphicFramePr/>
          <p:nvPr/>
        </p:nvGraphicFramePr>
        <p:xfrm>
          <a:off x="6341333" y="4581951"/>
          <a:ext cx="5796625" cy="1164225"/>
        </p:xfrm>
        <a:graphic>
          <a:graphicData uri="http://schemas.openxmlformats.org/drawingml/2006/table">
            <a:tbl>
              <a:tblPr firstRow="1" bandRow="1">
                <a:noFill/>
                <a:tableStyleId>{EEDB8C37-9DD7-4D3C-9DAE-6CFC98C3CE59}</a:tableStyleId>
              </a:tblPr>
              <a:tblGrid>
                <a:gridCol w="306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32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Студент:</a:t>
                      </a:r>
                      <a:endParaRPr sz="16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600" u="none" strike="noStrike" cap="none"/>
                    </a:p>
                  </a:txBody>
                  <a:tcPr marL="121925" marR="121925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525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Группа:</a:t>
                      </a:r>
                      <a:endParaRPr sz="16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600" u="none" strike="noStrike" cap="none"/>
                    </a:p>
                  </a:txBody>
                  <a:tcPr marL="121925" marR="121925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Научный руководитель:</a:t>
                      </a:r>
                      <a:endParaRPr sz="16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600" u="none" strike="noStrike" cap="none"/>
                    </a:p>
                  </a:txBody>
                  <a:tcPr marL="121925" marR="121925" marT="45725" marB="45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7" name="Google Shape;67;p23"/>
          <p:cNvSpPr txBox="1"/>
          <p:nvPr/>
        </p:nvSpPr>
        <p:spPr>
          <a:xfrm>
            <a:off x="3088154" y="2883132"/>
            <a:ext cx="57054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rPr>
              <a:t>Выпускная квалификационная работа на тему: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23"/>
          <p:cNvSpPr txBox="1"/>
          <p:nvPr/>
        </p:nvSpPr>
        <p:spPr>
          <a:xfrm>
            <a:off x="5261024" y="6232783"/>
            <a:ext cx="135966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Москва, 2025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23"/>
          <p:cNvSpPr/>
          <p:nvPr/>
        </p:nvSpPr>
        <p:spPr>
          <a:xfrm>
            <a:off x="595618" y="-2691"/>
            <a:ext cx="11534863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МИНИСТЕРСТВО НАУКИ И ВЫСШЕГО ОБРАЗОВАНИЯ РОССИЙСКОЙ  ФЕДЕРАЦИИ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Федеральное государственное автономное образовательное учреждение высшего образования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«Национальный исследовательский ядерный университет «МИФИ»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23"/>
          <p:cNvSpPr txBox="1"/>
          <p:nvPr/>
        </p:nvSpPr>
        <p:spPr>
          <a:xfrm>
            <a:off x="9344867" y="4570806"/>
            <a:ext cx="2366164" cy="354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Носов А.И.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23"/>
          <p:cNvSpPr txBox="1"/>
          <p:nvPr/>
        </p:nvSpPr>
        <p:spPr>
          <a:xfrm>
            <a:off x="9344867" y="4925534"/>
            <a:ext cx="2366164" cy="354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М24-534</a:t>
            </a:r>
            <a:endParaRPr sz="1600" b="0" i="0" u="none" strike="noStrike" cap="none">
              <a:solidFill>
                <a:srgbClr val="92D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23"/>
          <p:cNvSpPr txBox="1"/>
          <p:nvPr/>
        </p:nvSpPr>
        <p:spPr>
          <a:xfrm>
            <a:off x="9344867" y="5298218"/>
            <a:ext cx="2366164" cy="6663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к.т.н., доцент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Киреев В.С.</a:t>
            </a:r>
            <a:endParaRPr sz="1600" b="0" i="0" u="none" strike="noStrike" cap="none">
              <a:solidFill>
                <a:srgbClr val="92D05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23"/>
          <p:cNvSpPr txBox="1"/>
          <p:nvPr/>
        </p:nvSpPr>
        <p:spPr>
          <a:xfrm>
            <a:off x="6329492" y="2262494"/>
            <a:ext cx="4257414" cy="354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09.04.04 ПРОГРАММНАЯ ИНЖЕНЕРИЯ</a:t>
            </a:r>
            <a:endParaRPr sz="1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4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4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4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раздела" type="secHead">
  <p:cSld name="SECTION_HEADER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5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83" name="Google Shape;83;p25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5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5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Два объекта" type="twoObj">
  <p:cSld name="TWO_OBJECTS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6"/>
          <p:cNvSpPr/>
          <p:nvPr/>
        </p:nvSpPr>
        <p:spPr>
          <a:xfrm>
            <a:off x="5746565" y="6556717"/>
            <a:ext cx="698869" cy="365125"/>
          </a:xfrm>
          <a:prstGeom prst="diamond">
            <a:avLst/>
          </a:prstGeom>
          <a:solidFill>
            <a:schemeClr val="lt1"/>
          </a:solidFill>
          <a:ln w="95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26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6"/>
          <p:cNvSpPr txBox="1">
            <a:spLocks noGrp="1"/>
          </p:cNvSpPr>
          <p:nvPr>
            <p:ph type="body" idx="1"/>
          </p:nvPr>
        </p:nvSpPr>
        <p:spPr>
          <a:xfrm>
            <a:off x="838200" y="878365"/>
            <a:ext cx="5181600" cy="5298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26"/>
          <p:cNvSpPr txBox="1">
            <a:spLocks noGrp="1"/>
          </p:cNvSpPr>
          <p:nvPr>
            <p:ph type="body" idx="2"/>
          </p:nvPr>
        </p:nvSpPr>
        <p:spPr>
          <a:xfrm>
            <a:off x="6172200" y="878365"/>
            <a:ext cx="5181600" cy="5298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26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26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26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равнение" type="twoTxTwoObj">
  <p:cSld name="TWO_OBJECTS_WITH_TEXT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7"/>
          <p:cNvSpPr/>
          <p:nvPr/>
        </p:nvSpPr>
        <p:spPr>
          <a:xfrm>
            <a:off x="5746565" y="6556717"/>
            <a:ext cx="698869" cy="365125"/>
          </a:xfrm>
          <a:prstGeom prst="diamond">
            <a:avLst/>
          </a:prstGeom>
          <a:solidFill>
            <a:schemeClr val="lt1"/>
          </a:solidFill>
          <a:ln w="95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7"/>
          <p:cNvSpPr txBox="1">
            <a:spLocks noGrp="1"/>
          </p:cNvSpPr>
          <p:nvPr>
            <p:ph type="title"/>
          </p:nvPr>
        </p:nvSpPr>
        <p:spPr>
          <a:xfrm>
            <a:off x="839788" y="40807"/>
            <a:ext cx="10515600" cy="760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27"/>
          <p:cNvSpPr txBox="1">
            <a:spLocks noGrp="1"/>
          </p:cNvSpPr>
          <p:nvPr>
            <p:ph type="body" idx="1"/>
          </p:nvPr>
        </p:nvSpPr>
        <p:spPr>
          <a:xfrm>
            <a:off x="839788" y="897402"/>
            <a:ext cx="5157787" cy="665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8" name="Google Shape;98;p27"/>
          <p:cNvSpPr txBox="1">
            <a:spLocks noGrp="1"/>
          </p:cNvSpPr>
          <p:nvPr>
            <p:ph type="body" idx="2"/>
          </p:nvPr>
        </p:nvSpPr>
        <p:spPr>
          <a:xfrm>
            <a:off x="839788" y="1563038"/>
            <a:ext cx="5157787" cy="4626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9" name="Google Shape;99;p27"/>
          <p:cNvSpPr txBox="1">
            <a:spLocks noGrp="1"/>
          </p:cNvSpPr>
          <p:nvPr>
            <p:ph type="body" idx="3"/>
          </p:nvPr>
        </p:nvSpPr>
        <p:spPr>
          <a:xfrm>
            <a:off x="6172200" y="897402"/>
            <a:ext cx="5183188" cy="665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00" name="Google Shape;100;p27"/>
          <p:cNvSpPr txBox="1">
            <a:spLocks noGrp="1"/>
          </p:cNvSpPr>
          <p:nvPr>
            <p:ph type="body" idx="4"/>
          </p:nvPr>
        </p:nvSpPr>
        <p:spPr>
          <a:xfrm>
            <a:off x="6172200" y="1563038"/>
            <a:ext cx="5183188" cy="4626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1" name="Google Shape;101;p27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27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27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type="titleOnly">
  <p:cSld name="TITLE_ONLY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8"/>
          <p:cNvSpPr/>
          <p:nvPr/>
        </p:nvSpPr>
        <p:spPr>
          <a:xfrm>
            <a:off x="5746565" y="6556717"/>
            <a:ext cx="698869" cy="365125"/>
          </a:xfrm>
          <a:prstGeom prst="diamond">
            <a:avLst/>
          </a:prstGeom>
          <a:solidFill>
            <a:schemeClr val="lt1"/>
          </a:solidFill>
          <a:ln w="95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8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28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28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28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9"/>
          <p:cNvSpPr/>
          <p:nvPr/>
        </p:nvSpPr>
        <p:spPr>
          <a:xfrm>
            <a:off x="5746565" y="6556717"/>
            <a:ext cx="698869" cy="365125"/>
          </a:xfrm>
          <a:prstGeom prst="diamond">
            <a:avLst/>
          </a:prstGeom>
          <a:solidFill>
            <a:schemeClr val="lt1"/>
          </a:solidFill>
          <a:ln w="95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29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29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29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cxnSp>
        <p:nvCxnSpPr>
          <p:cNvPr id="115" name="Google Shape;115;p29"/>
          <p:cNvCxnSpPr/>
          <p:nvPr/>
        </p:nvCxnSpPr>
        <p:spPr>
          <a:xfrm>
            <a:off x="838200" y="792626"/>
            <a:ext cx="10515600" cy="0"/>
          </a:xfrm>
          <a:prstGeom prst="straightConnector1">
            <a:avLst/>
          </a:prstGeom>
          <a:noFill/>
          <a:ln w="222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16" name="Google Shape;116;p29"/>
          <p:cNvCxnSpPr/>
          <p:nvPr/>
        </p:nvCxnSpPr>
        <p:spPr>
          <a:xfrm>
            <a:off x="838200" y="887210"/>
            <a:ext cx="3933825" cy="0"/>
          </a:xfrm>
          <a:prstGeom prst="straightConnector1">
            <a:avLst/>
          </a:prstGeom>
          <a:noFill/>
          <a:ln w="222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17" name="Google Shape;117;p29"/>
          <p:cNvSpPr txBox="1">
            <a:spLocks noGrp="1"/>
          </p:cNvSpPr>
          <p:nvPr>
            <p:ph type="title"/>
          </p:nvPr>
        </p:nvSpPr>
        <p:spPr>
          <a:xfrm>
            <a:off x="839788" y="175210"/>
            <a:ext cx="3932237" cy="698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29"/>
          <p:cNvSpPr txBox="1">
            <a:spLocks noGrp="1"/>
          </p:cNvSpPr>
          <p:nvPr>
            <p:ph type="body" idx="1"/>
          </p:nvPr>
        </p:nvSpPr>
        <p:spPr>
          <a:xfrm>
            <a:off x="4905328" y="175210"/>
            <a:ext cx="6450060" cy="56858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19" name="Google Shape;119;p29"/>
          <p:cNvSpPr txBox="1">
            <a:spLocks noGrp="1"/>
          </p:cNvSpPr>
          <p:nvPr>
            <p:ph type="body" idx="2"/>
          </p:nvPr>
        </p:nvSpPr>
        <p:spPr>
          <a:xfrm>
            <a:off x="839788" y="905391"/>
            <a:ext cx="3932237" cy="4963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Объект с подписью">
  <p:cSld name="1_Объект с подписью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30"/>
          <p:cNvSpPr/>
          <p:nvPr/>
        </p:nvSpPr>
        <p:spPr>
          <a:xfrm>
            <a:off x="5746565" y="6556717"/>
            <a:ext cx="698869" cy="365125"/>
          </a:xfrm>
          <a:prstGeom prst="diamond">
            <a:avLst/>
          </a:prstGeom>
          <a:solidFill>
            <a:schemeClr val="lt1"/>
          </a:solidFill>
          <a:ln w="95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30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30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30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cxnSp>
        <p:nvCxnSpPr>
          <p:cNvPr id="125" name="Google Shape;125;p30"/>
          <p:cNvCxnSpPr/>
          <p:nvPr/>
        </p:nvCxnSpPr>
        <p:spPr>
          <a:xfrm>
            <a:off x="838200" y="792626"/>
            <a:ext cx="10515600" cy="0"/>
          </a:xfrm>
          <a:prstGeom prst="straightConnector1">
            <a:avLst/>
          </a:prstGeom>
          <a:noFill/>
          <a:ln w="222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26" name="Google Shape;126;p30"/>
          <p:cNvCxnSpPr/>
          <p:nvPr/>
        </p:nvCxnSpPr>
        <p:spPr>
          <a:xfrm>
            <a:off x="838200" y="887210"/>
            <a:ext cx="3530937" cy="0"/>
          </a:xfrm>
          <a:prstGeom prst="straightConnector1">
            <a:avLst/>
          </a:prstGeom>
          <a:noFill/>
          <a:ln w="222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27" name="Google Shape;127;p30"/>
          <p:cNvSpPr txBox="1">
            <a:spLocks noGrp="1"/>
          </p:cNvSpPr>
          <p:nvPr>
            <p:ph type="title"/>
          </p:nvPr>
        </p:nvSpPr>
        <p:spPr>
          <a:xfrm>
            <a:off x="839789" y="175210"/>
            <a:ext cx="3529512" cy="698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30"/>
          <p:cNvSpPr txBox="1">
            <a:spLocks noGrp="1"/>
          </p:cNvSpPr>
          <p:nvPr>
            <p:ph type="body" idx="1"/>
          </p:nvPr>
        </p:nvSpPr>
        <p:spPr>
          <a:xfrm>
            <a:off x="4450386" y="175210"/>
            <a:ext cx="3350123" cy="56858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29" name="Google Shape;129;p30"/>
          <p:cNvSpPr txBox="1">
            <a:spLocks noGrp="1"/>
          </p:cNvSpPr>
          <p:nvPr>
            <p:ph type="body" idx="2"/>
          </p:nvPr>
        </p:nvSpPr>
        <p:spPr>
          <a:xfrm>
            <a:off x="839789" y="905391"/>
            <a:ext cx="3529512" cy="4963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30" name="Google Shape;130;p30"/>
          <p:cNvSpPr txBox="1">
            <a:spLocks noGrp="1"/>
          </p:cNvSpPr>
          <p:nvPr>
            <p:ph type="body" idx="3"/>
          </p:nvPr>
        </p:nvSpPr>
        <p:spPr>
          <a:xfrm>
            <a:off x="7881594" y="175209"/>
            <a:ext cx="3353922" cy="56858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131" name="Google Shape;131;p30"/>
          <p:cNvCxnSpPr/>
          <p:nvPr/>
        </p:nvCxnSpPr>
        <p:spPr>
          <a:xfrm>
            <a:off x="4369137" y="175209"/>
            <a:ext cx="0" cy="720000"/>
          </a:xfrm>
          <a:prstGeom prst="straightConnector1">
            <a:avLst/>
          </a:prstGeom>
          <a:noFill/>
          <a:ln w="222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31"/>
          <p:cNvSpPr/>
          <p:nvPr/>
        </p:nvSpPr>
        <p:spPr>
          <a:xfrm>
            <a:off x="5746565" y="6556717"/>
            <a:ext cx="698869" cy="365125"/>
          </a:xfrm>
          <a:prstGeom prst="diamond">
            <a:avLst/>
          </a:prstGeom>
          <a:solidFill>
            <a:schemeClr val="lt1"/>
          </a:solidFill>
          <a:ln w="95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31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31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31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cxnSp>
        <p:nvCxnSpPr>
          <p:cNvPr id="137" name="Google Shape;137;p31"/>
          <p:cNvCxnSpPr/>
          <p:nvPr/>
        </p:nvCxnSpPr>
        <p:spPr>
          <a:xfrm>
            <a:off x="838200" y="792626"/>
            <a:ext cx="10515600" cy="0"/>
          </a:xfrm>
          <a:prstGeom prst="straightConnector1">
            <a:avLst/>
          </a:prstGeom>
          <a:noFill/>
          <a:ln w="222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38" name="Google Shape;138;p31"/>
          <p:cNvCxnSpPr/>
          <p:nvPr/>
        </p:nvCxnSpPr>
        <p:spPr>
          <a:xfrm>
            <a:off x="838200" y="874800"/>
            <a:ext cx="3933825" cy="0"/>
          </a:xfrm>
          <a:prstGeom prst="straightConnector1">
            <a:avLst/>
          </a:prstGeom>
          <a:noFill/>
          <a:ln w="222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39" name="Google Shape;139;p31"/>
          <p:cNvSpPr txBox="1">
            <a:spLocks noGrp="1"/>
          </p:cNvSpPr>
          <p:nvPr>
            <p:ph type="title"/>
          </p:nvPr>
        </p:nvSpPr>
        <p:spPr>
          <a:xfrm>
            <a:off x="839788" y="176400"/>
            <a:ext cx="3932237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31"/>
          <p:cNvSpPr>
            <a:spLocks noGrp="1"/>
          </p:cNvSpPr>
          <p:nvPr>
            <p:ph type="pic" idx="2"/>
          </p:nvPr>
        </p:nvSpPr>
        <p:spPr>
          <a:xfrm>
            <a:off x="5183188" y="176400"/>
            <a:ext cx="6172200" cy="5684651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31"/>
          <p:cNvSpPr txBox="1">
            <a:spLocks noGrp="1"/>
          </p:cNvSpPr>
          <p:nvPr>
            <p:ph type="body" idx="1"/>
          </p:nvPr>
        </p:nvSpPr>
        <p:spPr>
          <a:xfrm>
            <a:off x="839788" y="874801"/>
            <a:ext cx="3932237" cy="49941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вертикальный текст" type="vertTx">
  <p:cSld name="VERTICAL_TEXT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32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4" name="Google Shape;144;p32"/>
          <p:cNvSpPr txBox="1">
            <a:spLocks noGrp="1"/>
          </p:cNvSpPr>
          <p:nvPr>
            <p:ph type="body" idx="1"/>
          </p:nvPr>
        </p:nvSpPr>
        <p:spPr>
          <a:xfrm rot="5400000">
            <a:off x="3442853" y="-1733985"/>
            <a:ext cx="5306295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5" name="Google Shape;145;p32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32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7" name="Google Shape;147;p32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ертикальный заголовок и текст" type="vertTitleAndTx">
  <p:cSld name="VERTICAL_TITLE_AND_VERTICAL_TEXT"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3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0" name="Google Shape;150;p33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1" name="Google Shape;151;p33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33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33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Два рисунка">
  <p:cSld name="Два рисунка"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4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6" name="Google Shape;156;p34"/>
          <p:cNvSpPr/>
          <p:nvPr/>
        </p:nvSpPr>
        <p:spPr>
          <a:xfrm>
            <a:off x="5789928" y="6599750"/>
            <a:ext cx="698869" cy="280800"/>
          </a:xfrm>
          <a:prstGeom prst="diamond">
            <a:avLst/>
          </a:prstGeom>
          <a:solidFill>
            <a:schemeClr val="lt1"/>
          </a:solidFill>
          <a:ln w="95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34"/>
          <p:cNvSpPr txBox="1">
            <a:spLocks noGrp="1"/>
          </p:cNvSpPr>
          <p:nvPr>
            <p:ph type="sldNum" idx="12"/>
          </p:nvPr>
        </p:nvSpPr>
        <p:spPr>
          <a:xfrm>
            <a:off x="5846043" y="6591826"/>
            <a:ext cx="570000" cy="287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8" name="Google Shape;158;p34"/>
          <p:cNvSpPr>
            <a:spLocks noGrp="1"/>
          </p:cNvSpPr>
          <p:nvPr>
            <p:ph type="pic" idx="2"/>
          </p:nvPr>
        </p:nvSpPr>
        <p:spPr>
          <a:xfrm>
            <a:off x="838200" y="903600"/>
            <a:ext cx="5181600" cy="5092330"/>
          </a:xfrm>
          <a:prstGeom prst="rect">
            <a:avLst/>
          </a:prstGeom>
          <a:noFill/>
          <a:ln>
            <a:noFill/>
          </a:ln>
        </p:spPr>
      </p:sp>
      <p:sp>
        <p:nvSpPr>
          <p:cNvPr id="159" name="Google Shape;159;p34"/>
          <p:cNvSpPr>
            <a:spLocks noGrp="1"/>
          </p:cNvSpPr>
          <p:nvPr>
            <p:ph type="pic" idx="3"/>
          </p:nvPr>
        </p:nvSpPr>
        <p:spPr>
          <a:xfrm>
            <a:off x="6172200" y="903600"/>
            <a:ext cx="5181600" cy="509233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8"/>
          <p:cNvSpPr/>
          <p:nvPr/>
        </p:nvSpPr>
        <p:spPr>
          <a:xfrm rot="5400000">
            <a:off x="-3277366" y="3268602"/>
            <a:ext cx="6906537" cy="369332"/>
          </a:xfrm>
          <a:prstGeom prst="rect">
            <a:avLst/>
          </a:prstGeom>
          <a:solidFill>
            <a:srgbClr val="537599"/>
          </a:solidFill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18"/>
          <p:cNvSpPr txBox="1"/>
          <p:nvPr/>
        </p:nvSpPr>
        <p:spPr>
          <a:xfrm>
            <a:off x="-2880" y="8307"/>
            <a:ext cx="357238" cy="67403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000" tIns="45700" rIns="18000" bIns="4570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ru-RU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0101010001001001001010101010101000000101010101111110101010101011111111111001001001010100010100101010100101001010100101001000000100001110010010010000101000010111111111111010101010010010111111001000100010101111100000010010110101010101010100001111000110000100101010010111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8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  <a:defRPr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8"/>
          <p:cNvSpPr txBox="1">
            <a:spLocks noGrp="1"/>
          </p:cNvSpPr>
          <p:nvPr>
            <p:ph type="body" idx="1"/>
          </p:nvPr>
        </p:nvSpPr>
        <p:spPr>
          <a:xfrm>
            <a:off x="838200" y="870668"/>
            <a:ext cx="10515600" cy="5306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8"/>
          <p:cNvSpPr txBox="1">
            <a:spLocks noGrp="1"/>
          </p:cNvSpPr>
          <p:nvPr>
            <p:ph type="dt" idx="10"/>
          </p:nvPr>
        </p:nvSpPr>
        <p:spPr>
          <a:xfrm>
            <a:off x="2352122" y="6452624"/>
            <a:ext cx="13059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5" name="Google Shape;15;p18"/>
          <p:cNvSpPr txBox="1">
            <a:spLocks noGrp="1"/>
          </p:cNvSpPr>
          <p:nvPr>
            <p:ph type="ftr" idx="11"/>
          </p:nvPr>
        </p:nvSpPr>
        <p:spPr>
          <a:xfrm>
            <a:off x="6856658" y="6462049"/>
            <a:ext cx="1752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6" name="Google Shape;16;p18"/>
          <p:cNvSpPr/>
          <p:nvPr/>
        </p:nvSpPr>
        <p:spPr>
          <a:xfrm>
            <a:off x="0" y="6556718"/>
            <a:ext cx="12192000" cy="369332"/>
          </a:xfrm>
          <a:prstGeom prst="rect">
            <a:avLst/>
          </a:prstGeom>
          <a:solidFill>
            <a:srgbClr val="537599"/>
          </a:solidFill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8"/>
          <p:cNvSpPr txBox="1"/>
          <p:nvPr/>
        </p:nvSpPr>
        <p:spPr>
          <a:xfrm>
            <a:off x="-8763" y="6562550"/>
            <a:ext cx="12195661" cy="3779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000" tIns="45700" rIns="18000" bIns="4570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ru-RU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10101000100100100101010101010100000010101010111111010101010101111111111100100100101010001010010101010010100101010010100100000010000100101010101010101111111110100001001010101111010101010101011010101010101001100110101010101000001001010100100010001001011111110101111010111110101111111101010101011010101010010101010101101101011111101101010000100101001001001000010100001011111111111101010101001001011111100100010001010111110000001001011010101010101010000111100011000010010101001011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8"/>
          <p:cNvSpPr txBox="1"/>
          <p:nvPr/>
        </p:nvSpPr>
        <p:spPr>
          <a:xfrm>
            <a:off x="10351455" y="6541811"/>
            <a:ext cx="923651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ru-RU" sz="1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www.kaf22.ru</a:t>
            </a:r>
            <a:endParaRPr sz="10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8"/>
          <p:cNvSpPr txBox="1"/>
          <p:nvPr/>
        </p:nvSpPr>
        <p:spPr>
          <a:xfrm>
            <a:off x="9489631" y="6355403"/>
            <a:ext cx="1827613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ru-RU" sz="1000" b="0" i="0" u="none" strike="noStrike" cap="none">
                <a:solidFill>
                  <a:srgbClr val="537599"/>
                </a:solidFill>
                <a:latin typeface="Calibri"/>
                <a:ea typeface="Calibri"/>
                <a:cs typeface="Calibri"/>
                <a:sym typeface="Calibri"/>
              </a:rPr>
              <a:t>Кафедра №22 «Кибернетика»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p18"/>
          <p:cNvSpPr/>
          <p:nvPr/>
        </p:nvSpPr>
        <p:spPr>
          <a:xfrm>
            <a:off x="16257" y="6006534"/>
            <a:ext cx="900000" cy="90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" name="Google Shape;21;p18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28857" y="6021278"/>
            <a:ext cx="874800" cy="873007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18"/>
          <p:cNvSpPr txBox="1"/>
          <p:nvPr/>
        </p:nvSpPr>
        <p:spPr>
          <a:xfrm>
            <a:off x="914728" y="6576252"/>
            <a:ext cx="965329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ru-RU" sz="1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www.mephi.ru</a:t>
            </a:r>
            <a:endParaRPr sz="10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8"/>
          <p:cNvSpPr txBox="1"/>
          <p:nvPr/>
        </p:nvSpPr>
        <p:spPr>
          <a:xfrm>
            <a:off x="916191" y="6374510"/>
            <a:ext cx="875561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ru-RU" sz="1000" b="0" i="0" u="none" strike="noStrike" cap="none">
                <a:solidFill>
                  <a:srgbClr val="537599"/>
                </a:solidFill>
                <a:latin typeface="Calibri"/>
                <a:ea typeface="Calibri"/>
                <a:cs typeface="Calibri"/>
                <a:sym typeface="Calibri"/>
              </a:rPr>
              <a:t>НИЯУ МИФИ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8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cxnSp>
        <p:nvCxnSpPr>
          <p:cNvPr id="25" name="Google Shape;25;p18"/>
          <p:cNvCxnSpPr/>
          <p:nvPr/>
        </p:nvCxnSpPr>
        <p:spPr>
          <a:xfrm>
            <a:off x="838200" y="792626"/>
            <a:ext cx="10515600" cy="0"/>
          </a:xfrm>
          <a:prstGeom prst="straightConnector1">
            <a:avLst/>
          </a:prstGeom>
          <a:noFill/>
          <a:ln w="22225" cap="flat" cmpd="sng">
            <a:solidFill>
              <a:srgbClr val="537599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6" name="Google Shape;26;p18"/>
          <p:cNvSpPr/>
          <p:nvPr/>
        </p:nvSpPr>
        <p:spPr>
          <a:xfrm>
            <a:off x="11271693" y="6006534"/>
            <a:ext cx="900000" cy="90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" name="Google Shape;27;p18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11244943" y="6021278"/>
            <a:ext cx="926750" cy="7920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g"/><Relationship Id="rId5" Type="http://schemas.openxmlformats.org/officeDocument/2006/relationships/image" Target="../media/image4.png"/><Relationship Id="rId4" Type="http://schemas.openxmlformats.org/officeDocument/2006/relationships/hyperlink" Target="https://www.textkernel.com/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-RU" dirty="0"/>
              <a:t>Разработка и внедрение интеллектуального модуля ранжирования кандидатов на основе семантического анализа резюме и вакансий в систему автоматизированного подбора персонала</a:t>
            </a:r>
            <a:endParaRPr dirty="0"/>
          </a:p>
        </p:txBody>
      </p:sp>
      <p:sp>
        <p:nvSpPr>
          <p:cNvPr id="165" name="Google Shape;165;p1"/>
          <p:cNvSpPr/>
          <p:nvPr/>
        </p:nvSpPr>
        <p:spPr>
          <a:xfrm>
            <a:off x="5044400" y="6083177"/>
            <a:ext cx="1768200" cy="461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latin typeface="Calibri"/>
                <a:ea typeface="Calibri"/>
                <a:cs typeface="Calibri"/>
                <a:sym typeface="Calibri"/>
              </a:rPr>
              <a:t>Москва, 2026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/>
              <a:t>Реферат</a:t>
            </a:r>
            <a:endParaRPr/>
          </a:p>
        </p:txBody>
      </p:sp>
      <p:sp>
        <p:nvSpPr>
          <p:cNvPr id="171" name="Google Shape;171;p2"/>
          <p:cNvSpPr txBox="1">
            <a:spLocks noGrp="1"/>
          </p:cNvSpPr>
          <p:nvPr>
            <p:ph type="body" idx="1"/>
          </p:nvPr>
        </p:nvSpPr>
        <p:spPr>
          <a:xfrm>
            <a:off x="838200" y="870668"/>
            <a:ext cx="10515600" cy="5306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ru-RU" sz="2000"/>
              <a:t>Пояснительная записка содержит: 25 страниц, 2 рисунка, 24 источника.</a:t>
            </a:r>
            <a:endParaRPr sz="20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ru-RU" sz="2000"/>
              <a:t>Ключевые слова: ATS, рекрутмент, ранжирование кандидатов, семантическое сопоставление, обработка естественного языка, bi-encoder, Sentence-BERT, FastAPI, интеграция с ATS, Reqcore.</a:t>
            </a:r>
            <a:endParaRPr sz="20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ru-RU" sz="2000"/>
              <a:t>Целью данной работы является разработка модуля семантического сопоставления «вакансия–резюме» на основе нейросетевых представлений текста и его интеграция в ATS.</a:t>
            </a:r>
            <a:endParaRPr sz="20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ru-RU" sz="2000"/>
              <a:t>Работа охватывает анализ методов NLP и подходов к ранжированию кандидатов, проектирование пайплайна подготовки и обработки данных, дообучение модели cointegrated/rubert-tiny2, реализацию сервиса ранжирования на FastAPI, а также экспериментальную оценку качества модели и интеграцию разработанного решения в тестовый контур ATS Reqcore.</a:t>
            </a:r>
            <a:endParaRPr sz="2000"/>
          </a:p>
        </p:txBody>
      </p:sp>
      <p:sp>
        <p:nvSpPr>
          <p:cNvPr id="172" name="Google Shape;172;p2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2</a:t>
            </a:fld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lang="ru-RU" sz="2800"/>
              <a:t>Актуальность работы</a:t>
            </a:r>
            <a:endParaRPr/>
          </a:p>
        </p:txBody>
      </p:sp>
      <p:sp>
        <p:nvSpPr>
          <p:cNvPr id="178" name="Google Shape;178;p3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3</a:t>
            </a:fld>
            <a:endParaRPr/>
          </a:p>
        </p:txBody>
      </p:sp>
      <p:sp>
        <p:nvSpPr>
          <p:cNvPr id="179" name="Google Shape;179;p3"/>
          <p:cNvSpPr txBox="1"/>
          <p:nvPr/>
        </p:nvSpPr>
        <p:spPr>
          <a:xfrm>
            <a:off x="661226" y="2810816"/>
            <a:ext cx="4515964" cy="703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ru-RU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Инструменты видеоинтервью и оценки компетенций с использованием AI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7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7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0" name="Google Shape;180;p3" descr="Picture backgroun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76000" y="873193"/>
            <a:ext cx="1994294" cy="1994294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3" descr="Textkernel">
            <a:hlinkClick r:id="rId4"/>
          </p:cNvPr>
          <p:cNvSpPr/>
          <p:nvPr/>
        </p:nvSpPr>
        <p:spPr>
          <a:xfrm>
            <a:off x="42863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3" descr="Textkernel">
            <a:hlinkClick r:id="rId4"/>
          </p:cNvPr>
          <p:cNvSpPr/>
          <p:nvPr/>
        </p:nvSpPr>
        <p:spPr>
          <a:xfrm>
            <a:off x="42863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3" name="Google Shape;183;p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57747" y="1304008"/>
            <a:ext cx="4287916" cy="1114518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3"/>
          <p:cNvSpPr txBox="1"/>
          <p:nvPr/>
        </p:nvSpPr>
        <p:spPr>
          <a:xfrm>
            <a:off x="6683318" y="2787429"/>
            <a:ext cx="5127044" cy="703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ru-RU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Парсинг резюме, вакансий и семантический поиск</a:t>
            </a:r>
            <a:endParaRPr sz="2400" b="0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7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5" name="Google Shape;185;p3" descr="Picture background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98509" y="3511839"/>
            <a:ext cx="3643138" cy="1903540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3"/>
          <p:cNvSpPr txBox="1"/>
          <p:nvPr/>
        </p:nvSpPr>
        <p:spPr>
          <a:xfrm>
            <a:off x="646205" y="5229175"/>
            <a:ext cx="4515964" cy="703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ru-RU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Поиск талантов на основе искусственного интеллекта</a:t>
            </a:r>
            <a:endParaRPr sz="2400" b="0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7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7" name="Google Shape;187;p3" descr="Picture background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551719" y="3636287"/>
            <a:ext cx="5090449" cy="134237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3"/>
          <p:cNvSpPr txBox="1"/>
          <p:nvPr/>
        </p:nvSpPr>
        <p:spPr>
          <a:xfrm>
            <a:off x="6676673" y="5221393"/>
            <a:ext cx="4515964" cy="703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ru-RU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Платформа на основе AI для подбора, удержания и развития талантов</a:t>
            </a:r>
            <a:endParaRPr sz="2400" b="0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4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 dirty="0"/>
              <a:t>Цель ВКР</a:t>
            </a:r>
            <a:endParaRPr dirty="0"/>
          </a:p>
        </p:txBody>
      </p:sp>
      <p:sp>
        <p:nvSpPr>
          <p:cNvPr id="194" name="Google Shape;194;p4"/>
          <p:cNvSpPr txBox="1">
            <a:spLocks noGrp="1"/>
          </p:cNvSpPr>
          <p:nvPr>
            <p:ph type="body" idx="1"/>
          </p:nvPr>
        </p:nvSpPr>
        <p:spPr>
          <a:xfrm>
            <a:off x="838200" y="870668"/>
            <a:ext cx="10515600" cy="5306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ru-RU" sz="2000"/>
              <a:t>Целью данной работы является разработка и внедрение интеллектуального модуля ранжирования кандидатов на основе семантического анализа резюме и вакансий в систему автоматизированного подбора персонала</a:t>
            </a:r>
            <a:endParaRPr sz="20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 sz="2000"/>
          </a:p>
        </p:txBody>
      </p:sp>
      <p:sp>
        <p:nvSpPr>
          <p:cNvPr id="195" name="Google Shape;195;p4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5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 dirty="0"/>
              <a:t>Задачи ВКР</a:t>
            </a:r>
            <a:endParaRPr dirty="0"/>
          </a:p>
        </p:txBody>
      </p:sp>
      <p:sp>
        <p:nvSpPr>
          <p:cNvPr id="201" name="Google Shape;201;p5"/>
          <p:cNvSpPr txBox="1">
            <a:spLocks noGrp="1"/>
          </p:cNvSpPr>
          <p:nvPr>
            <p:ph type="body" idx="1"/>
          </p:nvPr>
        </p:nvSpPr>
        <p:spPr>
          <a:xfrm>
            <a:off x="838200" y="870668"/>
            <a:ext cx="10515600" cy="5306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ru-RU" sz="2000"/>
              <a:t>Провести системный анализ предметной области рекрутмента, процессов найма и ATS-систем, а также обзор методов обработки естественного языка и алгоритмов машинного обучения, применяемых для ранжирования кандидатов.</a:t>
            </a:r>
            <a:endParaRPr sz="20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ru-RU" sz="2000"/>
              <a:t>Обосновать выбор архитектуры нейросетевых моделей BERT и Sentence-BERT, а также методов векторизации текстов вакансий и резюме для решения задачи семантического сопоставления.</a:t>
            </a:r>
            <a:endParaRPr sz="20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ru-RU" sz="2000"/>
              <a:t>Выполнить сбор, профилирование, очистку и разметку исходных данных, а также спроектировать архитектуру пайплайна предварительной обработки и модуля семантического анализа.</a:t>
            </a:r>
            <a:endParaRPr sz="20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ru-RU" sz="2000"/>
              <a:t>Разработать программный код подготовки данных, реализовать и дообучить модель сопоставления «вакансия–резюме», а также создать программный модуль ранжирования кандидатов и интерфейс его интеграции с ATS.</a:t>
            </a:r>
            <a:endParaRPr sz="20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ru-RU" sz="2000"/>
              <a:t>Провести экспериментальную оценку качества алгоритма ранжирования, выполнить интеграцию разработанного модуля в целевую ATS-систему или её тестовый контур и оценить практическую эффективность внедрения решения.</a:t>
            </a:r>
            <a:endParaRPr sz="2000"/>
          </a:p>
        </p:txBody>
      </p:sp>
      <p:sp>
        <p:nvSpPr>
          <p:cNvPr id="202" name="Google Shape;202;p5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6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/>
              <a:t>Введение и проблематика</a:t>
            </a:r>
            <a:endParaRPr/>
          </a:p>
        </p:txBody>
      </p:sp>
      <p:sp>
        <p:nvSpPr>
          <p:cNvPr id="208" name="Google Shape;208;p6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6</a:t>
            </a:fld>
            <a:endParaRPr/>
          </a:p>
        </p:txBody>
      </p:sp>
      <p:pic>
        <p:nvPicPr>
          <p:cNvPr id="209" name="Google Shape;209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4300" y="2077300"/>
            <a:ext cx="9458525" cy="2383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7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/>
              <a:t>Постановка задачи</a:t>
            </a:r>
            <a:endParaRPr/>
          </a:p>
        </p:txBody>
      </p:sp>
      <p:sp>
        <p:nvSpPr>
          <p:cNvPr id="215" name="Google Shape;215;p7"/>
          <p:cNvSpPr txBox="1">
            <a:spLocks noGrp="1"/>
          </p:cNvSpPr>
          <p:nvPr>
            <p:ph type="body" idx="1"/>
          </p:nvPr>
        </p:nvSpPr>
        <p:spPr>
          <a:xfrm>
            <a:off x="838200" y="870668"/>
            <a:ext cx="10515600" cy="1510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ru-RU" sz="2000"/>
              <a:t>	Задача сопоставления вакансий и резюме, как частный случай явного сопоставления, может быть формализована как нахождение правильного отображения множества V (вакансий) в множество R (резюме):</a:t>
            </a:r>
            <a:endParaRPr sz="20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 sz="2000"/>
          </a:p>
        </p:txBody>
      </p:sp>
      <p:sp>
        <p:nvSpPr>
          <p:cNvPr id="216" name="Google Shape;216;p7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7</a:t>
            </a:fld>
            <a:endParaRPr/>
          </a:p>
        </p:txBody>
      </p:sp>
      <p:pic>
        <p:nvPicPr>
          <p:cNvPr id="217" name="Google Shape;217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99470" y="1923779"/>
            <a:ext cx="2096219" cy="736330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7"/>
          <p:cNvSpPr txBox="1"/>
          <p:nvPr/>
        </p:nvSpPr>
        <p:spPr>
          <a:xfrm>
            <a:off x="1078298" y="2756976"/>
            <a:ext cx="10324381" cy="1510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ru-RU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 сценарии отбора кандидатов после их отклика задача формализуется как проблема ранжирования (при условии, что множество кандидатов ограничено k-мя лучшими по значению функции r, т.е. выбираются k наиболее подходящих элементов):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9" name="Google Shape;219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02507" y="3897798"/>
            <a:ext cx="6306988" cy="7677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8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/>
              <a:t>Архитектура C4 Container</a:t>
            </a:r>
            <a:endParaRPr/>
          </a:p>
        </p:txBody>
      </p:sp>
      <p:sp>
        <p:nvSpPr>
          <p:cNvPr id="225" name="Google Shape;225;p8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8</a:t>
            </a:fld>
            <a:endParaRPr/>
          </a:p>
        </p:txBody>
      </p:sp>
      <p:pic>
        <p:nvPicPr>
          <p:cNvPr id="226" name="Google Shape;226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7477" y="815149"/>
            <a:ext cx="5301133" cy="57380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9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/>
              <a:t>Архитектура C4 Container: разрабатываемая система</a:t>
            </a:r>
            <a:endParaRPr/>
          </a:p>
        </p:txBody>
      </p:sp>
      <p:sp>
        <p:nvSpPr>
          <p:cNvPr id="232" name="Google Shape;232;p9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9</a:t>
            </a:fld>
            <a:endParaRPr/>
          </a:p>
        </p:txBody>
      </p:sp>
      <p:pic>
        <p:nvPicPr>
          <p:cNvPr id="233" name="Google Shape;233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1350" y="875925"/>
            <a:ext cx="11660652" cy="5106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0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/>
              <a:t>Обзор методов и обоснование выбора</a:t>
            </a:r>
            <a:endParaRPr/>
          </a:p>
        </p:txBody>
      </p:sp>
      <p:sp>
        <p:nvSpPr>
          <p:cNvPr id="239" name="Google Shape;239;p10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10</a:t>
            </a:fld>
            <a:endParaRPr/>
          </a:p>
        </p:txBody>
      </p:sp>
      <p:graphicFrame>
        <p:nvGraphicFramePr>
          <p:cNvPr id="240" name="Google Shape;240;p10"/>
          <p:cNvGraphicFramePr/>
          <p:nvPr/>
        </p:nvGraphicFramePr>
        <p:xfrm>
          <a:off x="2720300" y="875100"/>
          <a:ext cx="6410325" cy="3062139"/>
        </p:xfrm>
        <a:graphic>
          <a:graphicData uri="http://schemas.openxmlformats.org/drawingml/2006/table">
            <a:tbl>
              <a:tblPr>
                <a:noFill/>
                <a:tableStyleId>{27097C21-5E8D-44ED-B5D9-4BA08D20CD41}</a:tableStyleId>
              </a:tblPr>
              <a:tblGrid>
                <a:gridCol w="1933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0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81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4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Метод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Семантика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Скорость инференса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Итог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0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TF-IDF / BM25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✗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O(1)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Не подходит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Word2Vec / FastText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Частичная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Быстро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Слабое качество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0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BERT Cross-Encoder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✓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O(N) — медленно на больших базах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Не масштабируется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0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Bi-Encoder (Sentence-BERT)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✓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O(1) после индексации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✓ Выбрано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1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/>
              <a:t>Подготовка данных и обучение модели</a:t>
            </a:r>
            <a:endParaRPr/>
          </a:p>
        </p:txBody>
      </p:sp>
      <p:sp>
        <p:nvSpPr>
          <p:cNvPr id="246" name="Google Shape;246;p11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11</a:t>
            </a:fld>
            <a:endParaRPr/>
          </a:p>
        </p:txBody>
      </p:sp>
      <p:graphicFrame>
        <p:nvGraphicFramePr>
          <p:cNvPr id="247" name="Google Shape;247;p11"/>
          <p:cNvGraphicFramePr/>
          <p:nvPr/>
        </p:nvGraphicFramePr>
        <p:xfrm>
          <a:off x="644450" y="1697750"/>
          <a:ext cx="2831100" cy="2317314"/>
        </p:xfrm>
        <a:graphic>
          <a:graphicData uri="http://schemas.openxmlformats.org/drawingml/2006/table">
            <a:tbl>
              <a:tblPr>
                <a:noFill/>
                <a:tableStyleId>{27097C21-5E8D-44ED-B5D9-4BA08D20CD41}</a:tableStyleId>
              </a:tblPr>
              <a:tblGrid>
                <a:gridCol w="1088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2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Параметр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Значение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Функция потерь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ContrastiveLoss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Базовая модель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cointegrated/rubert-tiny2</a:t>
                      </a:r>
                      <a:endParaRPr sz="11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Эпохи / шаги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3 эпохи / 1 566 шагов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248" name="Google Shape;248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27950" y="926115"/>
            <a:ext cx="8411651" cy="50032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2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/>
              <a:t>Архитектура интеграции в ATS Reqcore</a:t>
            </a:r>
            <a:endParaRPr/>
          </a:p>
        </p:txBody>
      </p:sp>
      <p:sp>
        <p:nvSpPr>
          <p:cNvPr id="254" name="Google Shape;254;p12"/>
          <p:cNvSpPr txBox="1">
            <a:spLocks noGrp="1"/>
          </p:cNvSpPr>
          <p:nvPr>
            <p:ph type="body" idx="1"/>
          </p:nvPr>
        </p:nvSpPr>
        <p:spPr>
          <a:xfrm>
            <a:off x="623600" y="2279700"/>
            <a:ext cx="5472300" cy="22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400" b="1">
                <a:latin typeface="Arial"/>
                <a:ea typeface="Arial"/>
                <a:cs typeface="Arial"/>
                <a:sym typeface="Arial"/>
              </a:rPr>
              <a:t>Два режима скоринга в Reqcore:</a:t>
            </a:r>
            <a:endParaRPr sz="1400" b="1">
              <a:latin typeface="Arial"/>
              <a:ea typeface="Arial"/>
              <a:cs typeface="Arial"/>
              <a:sym typeface="Arial"/>
            </a:endParaRPr>
          </a:p>
          <a:p>
            <a:pPr marL="228600" lvl="0" indent="-228600" algn="l" rtl="0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ru-RU" sz="1400">
                <a:latin typeface="Arial"/>
                <a:ea typeface="Arial"/>
                <a:cs typeface="Arial"/>
                <a:sym typeface="Arial"/>
              </a:rPr>
              <a:t>Reqcore backend (TypeScript)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marL="228600" lvl="0" indent="-228600" algn="l" rtl="0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ru-RU" sz="1400">
                <a:latin typeface="Arial"/>
                <a:ea typeface="Arial"/>
                <a:cs typeface="Arial"/>
                <a:sym typeface="Arial"/>
              </a:rPr>
              <a:t>  ├── provider = 'biencoder' → FastAPI ML-сервис (локально)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400">
                <a:latin typeface="Arial"/>
                <a:ea typeface="Arial"/>
                <a:cs typeface="Arial"/>
                <a:sym typeface="Arial"/>
              </a:rPr>
              <a:t>  └── provider = 'llm'       → OpenAI API (платно)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400" b="1">
                <a:latin typeface="Arial"/>
                <a:ea typeface="Arial"/>
                <a:cs typeface="Arial"/>
                <a:sym typeface="Arial"/>
              </a:rPr>
              <a:t>FastAPI эндпоинты:</a:t>
            </a:r>
            <a:endParaRPr sz="1400" b="1"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ru-RU" sz="1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POST /index/candidate</a:t>
            </a:r>
            <a:r>
              <a:rPr lang="ru-RU" sz="1400">
                <a:latin typeface="Arial"/>
                <a:ea typeface="Arial"/>
                <a:cs typeface="Arial"/>
                <a:sym typeface="Arial"/>
              </a:rPr>
              <a:t> — индексировать резюме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ru-RU" sz="1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POST /search/rank</a:t>
            </a:r>
            <a:r>
              <a:rPr lang="ru-RU" sz="1400">
                <a:latin typeface="Arial"/>
                <a:ea typeface="Arial"/>
                <a:cs typeface="Arial"/>
                <a:sym typeface="Arial"/>
              </a:rPr>
              <a:t> — ранжировать по тексту вакансии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marL="228600" lvl="0" indent="-228600" algn="l" rtl="0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 sz="2300" b="1"/>
          </a:p>
        </p:txBody>
      </p:sp>
      <p:sp>
        <p:nvSpPr>
          <p:cNvPr id="255" name="Google Shape;255;p12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12</a:t>
            </a:fld>
            <a:endParaRPr/>
          </a:p>
        </p:txBody>
      </p:sp>
      <p:pic>
        <p:nvPicPr>
          <p:cNvPr id="256" name="Google Shape;256;p12" title="reqcore dashboard settings ai.png"/>
          <p:cNvPicPr preferRelativeResize="0"/>
          <p:nvPr/>
        </p:nvPicPr>
        <p:blipFill rotWithShape="1">
          <a:blip r:embed="rId3">
            <a:alphaModFix/>
          </a:blip>
          <a:srcRect l="33799" t="7313" r="22284"/>
          <a:stretch/>
        </p:blipFill>
        <p:spPr>
          <a:xfrm>
            <a:off x="6445425" y="1071481"/>
            <a:ext cx="4584279" cy="50644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3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/>
              <a:t>Результаты экспериментальной оценки</a:t>
            </a:r>
            <a:endParaRPr/>
          </a:p>
        </p:txBody>
      </p:sp>
      <p:sp>
        <p:nvSpPr>
          <p:cNvPr id="262" name="Google Shape;262;p13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13</a:t>
            </a:fld>
            <a:endParaRPr/>
          </a:p>
        </p:txBody>
      </p:sp>
      <p:graphicFrame>
        <p:nvGraphicFramePr>
          <p:cNvPr id="263" name="Google Shape;263;p13"/>
          <p:cNvGraphicFramePr/>
          <p:nvPr/>
        </p:nvGraphicFramePr>
        <p:xfrm>
          <a:off x="959675" y="2528100"/>
          <a:ext cx="3891550" cy="2019372"/>
        </p:xfrm>
        <a:graphic>
          <a:graphicData uri="http://schemas.openxmlformats.org/drawingml/2006/table">
            <a:tbl>
              <a:tblPr>
                <a:noFill/>
                <a:tableStyleId>{27097C21-5E8D-44ED-B5D9-4BA08D20CD41}</a:tableStyleId>
              </a:tblPr>
              <a:tblGrid>
                <a:gridCol w="1203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1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5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1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Метрика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Baseline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Fine-Tuned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Прирост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Average Precision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0.259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0.987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+281%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F1-score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—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0.960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—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Accuracy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—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0.973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—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64" name="Google Shape;264;p13"/>
          <p:cNvSpPr txBox="1"/>
          <p:nvPr/>
        </p:nvSpPr>
        <p:spPr>
          <a:xfrm>
            <a:off x="612575" y="466250"/>
            <a:ext cx="50163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1500" b="1"/>
              <a:t>Задача 1: Бинарная классификация</a:t>
            </a:r>
            <a:r>
              <a:rPr lang="ru-RU" sz="1500"/>
              <a:t> </a:t>
            </a:r>
            <a:r>
              <a:rPr lang="ru-RU" sz="1500" i="1"/>
              <a:t>(val-выборка)</a:t>
            </a:r>
            <a:endParaRPr sz="1500" i="1"/>
          </a:p>
        </p:txBody>
      </p:sp>
      <p:graphicFrame>
        <p:nvGraphicFramePr>
          <p:cNvPr id="265" name="Google Shape;265;p13"/>
          <p:cNvGraphicFramePr/>
          <p:nvPr/>
        </p:nvGraphicFramePr>
        <p:xfrm>
          <a:off x="7321788" y="2528100"/>
          <a:ext cx="3263225" cy="1581222"/>
        </p:xfrm>
        <a:graphic>
          <a:graphicData uri="http://schemas.openxmlformats.org/drawingml/2006/table">
            <a:tbl>
              <a:tblPr>
                <a:noFill/>
                <a:tableStyleId>{27097C21-5E8D-44ED-B5D9-4BA08D20CD41}</a:tableStyleId>
              </a:tblPr>
              <a:tblGrid>
                <a:gridCol w="237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Метрика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 sz="1100" b="1"/>
                        <a:t>Значение</a:t>
                      </a:r>
                      <a:endParaRPr sz="11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DCNG@1 / @3 / @5 / @10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1.000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MRR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1.000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Precision@3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u-RU"/>
                        <a:t>0.9958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66" name="Google Shape;266;p13"/>
          <p:cNvSpPr txBox="1"/>
          <p:nvPr/>
        </p:nvSpPr>
        <p:spPr>
          <a:xfrm>
            <a:off x="6096000" y="466250"/>
            <a:ext cx="59526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1500" b="1"/>
              <a:t>Задача 2: Ранжирование</a:t>
            </a:r>
            <a:r>
              <a:rPr lang="ru-RU" sz="1500"/>
              <a:t> </a:t>
            </a:r>
            <a:r>
              <a:rPr lang="ru-RU" sz="1500" i="1"/>
              <a:t>(521 тестовая пара, 423 вакансии)</a:t>
            </a:r>
            <a:endParaRPr sz="1500" i="1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5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/>
              <a:t>Заключение</a:t>
            </a:r>
            <a:endParaRPr/>
          </a:p>
        </p:txBody>
      </p:sp>
      <p:sp>
        <p:nvSpPr>
          <p:cNvPr id="272" name="Google Shape;272;p15"/>
          <p:cNvSpPr txBox="1">
            <a:spLocks noGrp="1"/>
          </p:cNvSpPr>
          <p:nvPr>
            <p:ph type="body" idx="1"/>
          </p:nvPr>
        </p:nvSpPr>
        <p:spPr>
          <a:xfrm>
            <a:off x="838200" y="870668"/>
            <a:ext cx="10515600" cy="5306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228600" algn="just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ru-RU" sz="2300"/>
              <a:t>В результате работы разработан и внедрён модуль семантического ранжирования кандидатов на основе bi-encoder модели rubert-tiny2, интегрированный в ATS Reqcore как FastAPI-микросервис. Модель показала существенный прирост качества: Average Precision на validation выросла с 0.259 до 0.987, а на тестовом срезе достигнуты NDCG@3 = 1.0, MRR = 1.0 и Precision@3 = 0.996. Практически это позволяет сократить стоимость LLM-скоринга примерно на 90% и ускорить этап первичного скрининга кандидатов.</a:t>
            </a:r>
            <a:endParaRPr sz="2300"/>
          </a:p>
          <a:p>
            <a:pPr marL="228600" lvl="0" indent="0" algn="just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ru-RU" sz="2300"/>
              <a:t>В дальнейшем планируется:</a:t>
            </a:r>
            <a:endParaRPr sz="2300"/>
          </a:p>
          <a:p>
            <a:pPr marL="457200" lvl="0" indent="-374650" algn="just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300"/>
              <a:buAutoNum type="arabicPeriod"/>
            </a:pPr>
            <a:r>
              <a:rPr lang="ru-RU" sz="2300"/>
              <a:t>масштабирование поиска с помощью Vector DB и ANN;</a:t>
            </a:r>
            <a:endParaRPr sz="2300"/>
          </a:p>
          <a:p>
            <a:pPr marL="457200" lvl="0" indent="-3746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AutoNum type="arabicPeriod"/>
            </a:pPr>
            <a:r>
              <a:rPr lang="ru-RU" sz="2300"/>
              <a:t>добавление второго уровня Learning-to-Rank;</a:t>
            </a:r>
            <a:endParaRPr sz="2300"/>
          </a:p>
          <a:p>
            <a:pPr marL="457200" lvl="0" indent="-3746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AutoNum type="arabicPeriod"/>
            </a:pPr>
            <a:r>
              <a:rPr lang="ru-RU" sz="2300"/>
              <a:t>развитие explainability и fair ranking;</a:t>
            </a:r>
            <a:endParaRPr sz="2300"/>
          </a:p>
          <a:p>
            <a:pPr marL="457200" lvl="0" indent="-3746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AutoNum type="arabicPeriod"/>
            </a:pPr>
            <a:r>
              <a:rPr lang="ru-RU" sz="2300"/>
              <a:t>расширение и дообучение модели на новых и мультиязычных HR-данных.</a:t>
            </a:r>
            <a:endParaRPr sz="2300"/>
          </a:p>
        </p:txBody>
      </p:sp>
      <p:sp>
        <p:nvSpPr>
          <p:cNvPr id="273" name="Google Shape;273;p15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14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6"/>
          <p:cNvSpPr txBox="1">
            <a:spLocks noGrp="1"/>
          </p:cNvSpPr>
          <p:nvPr>
            <p:ph type="title"/>
          </p:nvPr>
        </p:nvSpPr>
        <p:spPr>
          <a:xfrm>
            <a:off x="838200" y="25148"/>
            <a:ext cx="10515600" cy="748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ru-RU"/>
              <a:t>Список литературы</a:t>
            </a:r>
            <a:endParaRPr/>
          </a:p>
        </p:txBody>
      </p:sp>
      <p:sp>
        <p:nvSpPr>
          <p:cNvPr id="279" name="Google Shape;279;p16"/>
          <p:cNvSpPr txBox="1">
            <a:spLocks noGrp="1"/>
          </p:cNvSpPr>
          <p:nvPr>
            <p:ph type="body" idx="1"/>
          </p:nvPr>
        </p:nvSpPr>
        <p:spPr>
          <a:xfrm>
            <a:off x="838200" y="870668"/>
            <a:ext cx="10515600" cy="5306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ru-RU" sz="2000"/>
              <a:t>Rosenberger J., Wolfrum L., Weinzierl S., Kraus M., Zschech P. CareerBERT: Matching Resumes to ESCO Jobs in a Shared Embedding Space for Generic Job Recommendations. Expert Systems with Applications, 2025 (arXiv:2503.02056).</a:t>
            </a:r>
            <a:endParaRPr sz="2000"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ru-RU" sz="2000"/>
              <a:t>Devlin J., Chang M.-W., Lee K., Toutanova K. BERT: Pre-training of Deep Bidirectional Transformers for Language Understanding. arXiv:1810.04805.</a:t>
            </a:r>
            <a:endParaRPr sz="2000"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ru-RU" sz="2000"/>
              <a:t>Reimers N., Gurevych I. Sentence-BERT: Sentence Embeddings using Siamese BERT-Networks. arXiv:1908.10084.</a:t>
            </a:r>
            <a:endParaRPr sz="2000"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ru-RU" sz="2000"/>
              <a:t>Liu T.-Y. Learning to Rank for Information Retrieval. Foundations and Trends in Information Retrieval, 3(3), 2009, pp. 225–331.</a:t>
            </a:r>
            <a:endParaRPr sz="2000"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ru-RU" sz="2000"/>
              <a:t>Järvelin K., Kekäläinen J. Cumulated Gain-based Evaluation of IR Techniques. ACM Transactions on Information Systems, 20(4), 2002, pp. 422–446.</a:t>
            </a:r>
            <a:endParaRPr sz="2000"/>
          </a:p>
        </p:txBody>
      </p:sp>
      <p:sp>
        <p:nvSpPr>
          <p:cNvPr id="280" name="Google Shape;280;p16"/>
          <p:cNvSpPr txBox="1">
            <a:spLocks noGrp="1"/>
          </p:cNvSpPr>
          <p:nvPr>
            <p:ph type="sldNum" idx="12"/>
          </p:nvPr>
        </p:nvSpPr>
        <p:spPr>
          <a:xfrm>
            <a:off x="5746566" y="6556718"/>
            <a:ext cx="69886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15</a:t>
            </a:fld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7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7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ru-RU">
                <a:solidFill>
                  <a:schemeClr val="dk1"/>
                </a:solidFill>
              </a:rPr>
              <a:t>16</a:t>
            </a:fld>
            <a:endParaRPr/>
          </a:p>
        </p:txBody>
      </p:sp>
      <p:sp>
        <p:nvSpPr>
          <p:cNvPr id="286" name="Google Shape;286;p17"/>
          <p:cNvSpPr txBox="1"/>
          <p:nvPr/>
        </p:nvSpPr>
        <p:spPr>
          <a:xfrm>
            <a:off x="4228176" y="2739377"/>
            <a:ext cx="3788217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ru-RU" sz="2200" b="0" i="0" u="none" strike="noStrike" cap="none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rPr>
              <a:t>Спасибо за внимание!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def068bf5d_0_0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ru-RU"/>
              <a:t>17</a:t>
            </a:fld>
            <a:endParaRPr/>
          </a:p>
        </p:txBody>
      </p:sp>
      <p:pic>
        <p:nvPicPr>
          <p:cNvPr id="293" name="Google Shape;293;g3def068bf5d_0_0" title="reqcore auth sign-i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1887201" cy="62280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def068bf5d_0_6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ru-RU"/>
              <a:t>18</a:t>
            </a:fld>
            <a:endParaRPr/>
          </a:p>
        </p:txBody>
      </p:sp>
      <p:pic>
        <p:nvPicPr>
          <p:cNvPr id="300" name="Google Shape;300;g3def068bf5d_0_6" title="reqcore dashboard jobs 483c8e0e-ab8f-424d-b0cb-c7625addd73c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1887201" cy="62396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def068bf5d_0_12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ru-RU"/>
              <a:t>19</a:t>
            </a:fld>
            <a:endParaRPr/>
          </a:p>
        </p:txBody>
      </p:sp>
      <p:pic>
        <p:nvPicPr>
          <p:cNvPr id="307" name="Google Shape;307;g3def068bf5d_0_12" title="reqcore dashboard settings a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1887201" cy="62222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def068bf5d_0_18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ru-RU"/>
              <a:t>20</a:t>
            </a:fld>
            <a:endParaRPr/>
          </a:p>
        </p:txBody>
      </p:sp>
      <p:pic>
        <p:nvPicPr>
          <p:cNvPr id="314" name="Google Shape;314;g3def068bf5d_0_18" title="reqcore dashboar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1829376" cy="62612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def068bf5d_0_24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ru-RU"/>
              <a:t>21</a:t>
            </a:fld>
            <a:endParaRPr/>
          </a:p>
        </p:txBody>
      </p:sp>
      <p:pic>
        <p:nvPicPr>
          <p:cNvPr id="321" name="Google Shape;321;g3def068bf5d_0_24" title="reqcore main pag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1851238" cy="6261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def068bf5d_0_30"/>
          <p:cNvSpPr txBox="1">
            <a:spLocks noGrp="1"/>
          </p:cNvSpPr>
          <p:nvPr>
            <p:ph type="sldNum" idx="12"/>
          </p:nvPr>
        </p:nvSpPr>
        <p:spPr>
          <a:xfrm>
            <a:off x="5785581" y="6566051"/>
            <a:ext cx="6069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ru-RU"/>
              <a:t>22</a:t>
            </a:fld>
            <a:endParaRPr/>
          </a:p>
        </p:txBody>
      </p:sp>
      <p:pic>
        <p:nvPicPr>
          <p:cNvPr id="328" name="Google Shape;328;g3def068bf5d_0_30" title="minio logi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1887201" cy="62222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1643</Words>
  <Application>Microsoft Office PowerPoint</Application>
  <PresentationFormat>Широкоэкранный</PresentationFormat>
  <Paragraphs>146</Paragraphs>
  <Slides>22</Slides>
  <Notes>22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7" baseType="lpstr">
      <vt:lpstr>Arial</vt:lpstr>
      <vt:lpstr>Arial Black</vt:lpstr>
      <vt:lpstr>Roboto Mono</vt:lpstr>
      <vt:lpstr>Calibri</vt:lpstr>
      <vt:lpstr>Тема Office</vt:lpstr>
      <vt:lpstr>Разработка и внедрение интеллектуального модуля ранжирования кандидатов на основе семантического анализа резюме и вакансий в систему автоматизированного подбора персонала</vt:lpstr>
      <vt:lpstr>Реферат</vt:lpstr>
      <vt:lpstr>Актуальность работы</vt:lpstr>
      <vt:lpstr>Цель ВКР</vt:lpstr>
      <vt:lpstr>Задачи ВКР</vt:lpstr>
      <vt:lpstr>Введение и проблематика</vt:lpstr>
      <vt:lpstr>Постановка задачи</vt:lpstr>
      <vt:lpstr>Архитектура C4 Container</vt:lpstr>
      <vt:lpstr>Архитектура C4 Container: разрабатываемая система</vt:lpstr>
      <vt:lpstr>Обзор методов и обоснование выбора</vt:lpstr>
      <vt:lpstr>Подготовка данных и обучение модели</vt:lpstr>
      <vt:lpstr>Архитектура интеграции в ATS Reqcore</vt:lpstr>
      <vt:lpstr>Результаты экспериментальной оценки</vt:lpstr>
      <vt:lpstr>Заключение</vt:lpstr>
      <vt:lpstr>Список литературы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V. R.</dc:creator>
  <cp:lastModifiedBy>Артём Носов</cp:lastModifiedBy>
  <cp:revision>3</cp:revision>
  <dcterms:created xsi:type="dcterms:W3CDTF">2017-09-30T21:27:42Z</dcterms:created>
  <dcterms:modified xsi:type="dcterms:W3CDTF">2026-05-20T20:49:58Z</dcterms:modified>
</cp:coreProperties>
</file>
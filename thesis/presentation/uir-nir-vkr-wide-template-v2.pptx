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537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E002B9-7E85-4FF2-90E6-ADF3F612E829}" v="2" dt="2021-05-14T06:53:36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1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78" y="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. R." userId="187ccf51bb4995ec" providerId="LiveId" clId="{6CE002B9-7E85-4FF2-90E6-ADF3F612E829}"/>
    <pc:docChg chg="modMainMaster">
      <pc:chgData name="V. R." userId="187ccf51bb4995ec" providerId="LiveId" clId="{6CE002B9-7E85-4FF2-90E6-ADF3F612E829}" dt="2021-05-14T07:08:11.795" v="13" actId="20577"/>
      <pc:docMkLst>
        <pc:docMk/>
      </pc:docMkLst>
      <pc:sldMasterChg chg="modSp mod modSldLayout">
        <pc:chgData name="V. R." userId="187ccf51bb4995ec" providerId="LiveId" clId="{6CE002B9-7E85-4FF2-90E6-ADF3F612E829}" dt="2021-05-14T07:08:11.795" v="13" actId="20577"/>
        <pc:sldMasterMkLst>
          <pc:docMk/>
          <pc:sldMasterMk cId="3695259218" sldId="2147483669"/>
        </pc:sldMasterMkLst>
        <pc:spChg chg="mod">
          <ac:chgData name="V. R." userId="187ccf51bb4995ec" providerId="LiveId" clId="{6CE002B9-7E85-4FF2-90E6-ADF3F612E829}" dt="2021-05-14T06:54:03.082" v="5" actId="1076"/>
          <ac:spMkLst>
            <pc:docMk/>
            <pc:sldMasterMk cId="3695259218" sldId="2147483669"/>
            <ac:spMk id="6" creationId="{00000000-0000-0000-0000-000000000000}"/>
          </ac:spMkLst>
        </pc:spChg>
        <pc:sldLayoutChg chg="modSp mod">
          <pc:chgData name="V. R." userId="187ccf51bb4995ec" providerId="LiveId" clId="{6CE002B9-7E85-4FF2-90E6-ADF3F612E829}" dt="2021-05-14T06:54:25.699" v="7" actId="14100"/>
          <pc:sldLayoutMkLst>
            <pc:docMk/>
            <pc:sldMasterMk cId="3695259218" sldId="2147483669"/>
            <pc:sldLayoutMk cId="3703940446" sldId="2147483671"/>
          </pc:sldLayoutMkLst>
          <pc:spChg chg="mod">
            <ac:chgData name="V. R." userId="187ccf51bb4995ec" providerId="LiveId" clId="{6CE002B9-7E85-4FF2-90E6-ADF3F612E829}" dt="2021-05-14T06:54:25.699" v="7" actId="14100"/>
            <ac:spMkLst>
              <pc:docMk/>
              <pc:sldMasterMk cId="3695259218" sldId="2147483669"/>
              <pc:sldLayoutMk cId="3703940446" sldId="2147483671"/>
              <ac:spMk id="6" creationId="{00000000-0000-0000-0000-000000000000}"/>
            </ac:spMkLst>
          </pc:spChg>
        </pc:sldLayoutChg>
        <pc:sldLayoutChg chg="modSp mod">
          <pc:chgData name="V. R." userId="187ccf51bb4995ec" providerId="LiveId" clId="{6CE002B9-7E85-4FF2-90E6-ADF3F612E829}" dt="2021-05-14T07:08:03.989" v="9" actId="20577"/>
          <pc:sldLayoutMkLst>
            <pc:docMk/>
            <pc:sldMasterMk cId="3695259218" sldId="2147483669"/>
            <pc:sldLayoutMk cId="3438900887" sldId="2147483681"/>
          </pc:sldLayoutMkLst>
          <pc:spChg chg="mod">
            <ac:chgData name="V. R." userId="187ccf51bb4995ec" providerId="LiveId" clId="{6CE002B9-7E85-4FF2-90E6-ADF3F612E829}" dt="2021-05-14T07:08:03.989" v="9" actId="20577"/>
            <ac:spMkLst>
              <pc:docMk/>
              <pc:sldMasterMk cId="3695259218" sldId="2147483669"/>
              <pc:sldLayoutMk cId="3438900887" sldId="2147483681"/>
              <ac:spMk id="15" creationId="{6B3A3257-1683-4003-B846-9F4AE6F29000}"/>
            </ac:spMkLst>
          </pc:spChg>
        </pc:sldLayoutChg>
        <pc:sldLayoutChg chg="modSp mod">
          <pc:chgData name="V. R." userId="187ccf51bb4995ec" providerId="LiveId" clId="{6CE002B9-7E85-4FF2-90E6-ADF3F612E829}" dt="2021-05-14T07:08:07.898" v="11" actId="20577"/>
          <pc:sldLayoutMkLst>
            <pc:docMk/>
            <pc:sldMasterMk cId="3695259218" sldId="2147483669"/>
            <pc:sldLayoutMk cId="1611567171" sldId="2147483683"/>
          </pc:sldLayoutMkLst>
          <pc:spChg chg="mod">
            <ac:chgData name="V. R." userId="187ccf51bb4995ec" providerId="LiveId" clId="{6CE002B9-7E85-4FF2-90E6-ADF3F612E829}" dt="2021-05-14T07:08:07.898" v="11" actId="20577"/>
            <ac:spMkLst>
              <pc:docMk/>
              <pc:sldMasterMk cId="3695259218" sldId="2147483669"/>
              <pc:sldLayoutMk cId="1611567171" sldId="2147483683"/>
              <ac:spMk id="15" creationId="{6B3A3257-1683-4003-B846-9F4AE6F29000}"/>
            </ac:spMkLst>
          </pc:spChg>
        </pc:sldLayoutChg>
        <pc:sldLayoutChg chg="modSp mod">
          <pc:chgData name="V. R." userId="187ccf51bb4995ec" providerId="LiveId" clId="{6CE002B9-7E85-4FF2-90E6-ADF3F612E829}" dt="2021-05-14T07:08:11.795" v="13" actId="20577"/>
          <pc:sldLayoutMkLst>
            <pc:docMk/>
            <pc:sldMasterMk cId="3695259218" sldId="2147483669"/>
            <pc:sldLayoutMk cId="2635433042" sldId="2147483684"/>
          </pc:sldLayoutMkLst>
          <pc:spChg chg="mod">
            <ac:chgData name="V. R." userId="187ccf51bb4995ec" providerId="LiveId" clId="{6CE002B9-7E85-4FF2-90E6-ADF3F612E829}" dt="2021-05-14T07:08:11.795" v="13" actId="20577"/>
            <ac:spMkLst>
              <pc:docMk/>
              <pc:sldMasterMk cId="3695259218" sldId="2147483669"/>
              <pc:sldLayoutMk cId="2635433042" sldId="2147483684"/>
              <ac:spMk id="15" creationId="{6B3A3257-1683-4003-B846-9F4AE6F29000}"/>
            </ac:spMkLst>
          </pc:spChg>
        </pc:sldLayoutChg>
      </pc:sldMasterChg>
    </pc:docChg>
  </pc:docChgLst>
  <pc:docChgLst>
    <pc:chgData name="V. R." userId="187ccf51bb4995ec" providerId="LiveId" clId="{4B704819-BBD5-4B9D-AA86-750F75C3AA3A}"/>
    <pc:docChg chg="undo custSel modSld modMainMaster">
      <pc:chgData name="V. R." userId="187ccf51bb4995ec" providerId="LiveId" clId="{4B704819-BBD5-4B9D-AA86-750F75C3AA3A}" dt="2020-05-15T17:03:45.327" v="122" actId="255"/>
      <pc:docMkLst>
        <pc:docMk/>
      </pc:docMkLst>
      <pc:sldChg chg="addSp modSp mod">
        <pc:chgData name="V. R." userId="187ccf51bb4995ec" providerId="LiveId" clId="{4B704819-BBD5-4B9D-AA86-750F75C3AA3A}" dt="2020-05-15T17:03:45.327" v="122" actId="255"/>
        <pc:sldMkLst>
          <pc:docMk/>
          <pc:sldMk cId="1778698784" sldId="256"/>
        </pc:sldMkLst>
        <pc:spChg chg="add mod">
          <ac:chgData name="V. R." userId="187ccf51bb4995ec" providerId="LiveId" clId="{4B704819-BBD5-4B9D-AA86-750F75C3AA3A}" dt="2020-05-15T17:03:45.327" v="122" actId="255"/>
          <ac:spMkLst>
            <pc:docMk/>
            <pc:sldMk cId="1778698784" sldId="256"/>
            <ac:spMk id="4" creationId="{19658D75-2641-4B5D-B3A5-70609CFA5BDE}"/>
          </ac:spMkLst>
        </pc:spChg>
        <pc:spChg chg="add mod">
          <ac:chgData name="V. R." userId="187ccf51bb4995ec" providerId="LiveId" clId="{4B704819-BBD5-4B9D-AA86-750F75C3AA3A}" dt="2020-05-15T17:03:45.327" v="122" actId="255"/>
          <ac:spMkLst>
            <pc:docMk/>
            <pc:sldMk cId="1778698784" sldId="256"/>
            <ac:spMk id="5" creationId="{8DCDDEB2-8327-47D7-951D-C855032C0240}"/>
          </ac:spMkLst>
        </pc:spChg>
        <pc:spChg chg="add mod">
          <ac:chgData name="V. R." userId="187ccf51bb4995ec" providerId="LiveId" clId="{4B704819-BBD5-4B9D-AA86-750F75C3AA3A}" dt="2020-05-15T17:03:45.327" v="122" actId="255"/>
          <ac:spMkLst>
            <pc:docMk/>
            <pc:sldMk cId="1778698784" sldId="256"/>
            <ac:spMk id="6" creationId="{0C8FE417-43CE-4C21-91E5-DFEBDD4E4220}"/>
          </ac:spMkLst>
        </pc:spChg>
      </pc:sldChg>
      <pc:sldMasterChg chg="modSldLayout">
        <pc:chgData name="V. R." userId="187ccf51bb4995ec" providerId="LiveId" clId="{4B704819-BBD5-4B9D-AA86-750F75C3AA3A}" dt="2020-05-15T17:01:56.627" v="119" actId="20577"/>
        <pc:sldMasterMkLst>
          <pc:docMk/>
          <pc:sldMasterMk cId="3695259218" sldId="2147483669"/>
        </pc:sldMasterMkLst>
        <pc:sldLayoutChg chg="addSp delSp modSp mod">
          <pc:chgData name="V. R." userId="187ccf51bb4995ec" providerId="LiveId" clId="{4B704819-BBD5-4B9D-AA86-750F75C3AA3A}" dt="2020-05-15T17:01:56.627" v="119" actId="20577"/>
          <pc:sldLayoutMkLst>
            <pc:docMk/>
            <pc:sldMasterMk cId="3695259218" sldId="2147483669"/>
            <pc:sldLayoutMk cId="3438900887" sldId="2147483681"/>
          </pc:sldLayoutMkLst>
          <pc:spChg chg="add del mod">
            <ac:chgData name="V. R." userId="187ccf51bb4995ec" providerId="LiveId" clId="{4B704819-BBD5-4B9D-AA86-750F75C3AA3A}" dt="2020-05-15T17:01:12.120" v="98" actId="478"/>
            <ac:spMkLst>
              <pc:docMk/>
              <pc:sldMasterMk cId="3695259218" sldId="2147483669"/>
              <pc:sldLayoutMk cId="3438900887" sldId="2147483681"/>
              <ac:spMk id="12" creationId="{7E600966-DCE9-420D-9F94-D99E514C561B}"/>
            </ac:spMkLst>
          </pc:spChg>
          <pc:spChg chg="add del mod">
            <ac:chgData name="V. R." userId="187ccf51bb4995ec" providerId="LiveId" clId="{4B704819-BBD5-4B9D-AA86-750F75C3AA3A}" dt="2020-05-15T17:01:12.120" v="98" actId="478"/>
            <ac:spMkLst>
              <pc:docMk/>
              <pc:sldMasterMk cId="3695259218" sldId="2147483669"/>
              <pc:sldLayoutMk cId="3438900887" sldId="2147483681"/>
              <ac:spMk id="16" creationId="{80EE128A-C51F-41BF-9E20-C445BB368A8A}"/>
            </ac:spMkLst>
          </pc:spChg>
          <pc:spChg chg="add del mod">
            <ac:chgData name="V. R." userId="187ccf51bb4995ec" providerId="LiveId" clId="{4B704819-BBD5-4B9D-AA86-750F75C3AA3A}" dt="2020-05-15T17:01:12.120" v="98" actId="478"/>
            <ac:spMkLst>
              <pc:docMk/>
              <pc:sldMasterMk cId="3695259218" sldId="2147483669"/>
              <pc:sldLayoutMk cId="3438900887" sldId="2147483681"/>
              <ac:spMk id="17" creationId="{4856A65C-303B-4E7C-BE4C-E24FCA890FA8}"/>
            </ac:spMkLst>
          </pc:spChg>
          <pc:spChg chg="add mod">
            <ac:chgData name="V. R." userId="187ccf51bb4995ec" providerId="LiveId" clId="{4B704819-BBD5-4B9D-AA86-750F75C3AA3A}" dt="2020-05-15T17:01:56.627" v="119" actId="20577"/>
            <ac:spMkLst>
              <pc:docMk/>
              <pc:sldMasterMk cId="3695259218" sldId="2147483669"/>
              <pc:sldLayoutMk cId="3438900887" sldId="2147483681"/>
              <ac:spMk id="18" creationId="{58F531C6-BB2D-4230-9A1D-D4FAEB43A1CF}"/>
            </ac:spMkLst>
          </pc:spChg>
          <pc:spChg chg="add mod">
            <ac:chgData name="V. R." userId="187ccf51bb4995ec" providerId="LiveId" clId="{4B704819-BBD5-4B9D-AA86-750F75C3AA3A}" dt="2020-05-15T17:01:27.365" v="104" actId="1035"/>
            <ac:spMkLst>
              <pc:docMk/>
              <pc:sldMasterMk cId="3695259218" sldId="2147483669"/>
              <pc:sldLayoutMk cId="3438900887" sldId="2147483681"/>
              <ac:spMk id="19" creationId="{3A262303-78EC-4E2D-B87C-D94E56338068}"/>
            </ac:spMkLst>
          </pc:spChg>
          <pc:spChg chg="add mod">
            <ac:chgData name="V. R." userId="187ccf51bb4995ec" providerId="LiveId" clId="{4B704819-BBD5-4B9D-AA86-750F75C3AA3A}" dt="2020-05-15T17:01:27.365" v="104" actId="1035"/>
            <ac:spMkLst>
              <pc:docMk/>
              <pc:sldMasterMk cId="3695259218" sldId="2147483669"/>
              <pc:sldLayoutMk cId="3438900887" sldId="2147483681"/>
              <ac:spMk id="20" creationId="{5ECCB2B2-6B16-44F5-B87E-FC1A240E66B2}"/>
            </ac:spMkLst>
          </pc:spChg>
          <pc:spChg chg="del mod">
            <ac:chgData name="V. R." userId="187ccf51bb4995ec" providerId="LiveId" clId="{4B704819-BBD5-4B9D-AA86-750F75C3AA3A}" dt="2020-05-15T17:00:00.028" v="96" actId="478"/>
            <ac:spMkLst>
              <pc:docMk/>
              <pc:sldMasterMk cId="3695259218" sldId="2147483669"/>
              <pc:sldLayoutMk cId="3438900887" sldId="2147483681"/>
              <ac:spMk id="21" creationId="{D94F79F4-8908-47C1-815C-4C7976F1122E}"/>
            </ac:spMkLst>
          </pc:spChg>
          <pc:spChg chg="del mod">
            <ac:chgData name="V. R." userId="187ccf51bb4995ec" providerId="LiveId" clId="{4B704819-BBD5-4B9D-AA86-750F75C3AA3A}" dt="2020-05-15T17:00:00.028" v="96" actId="478"/>
            <ac:spMkLst>
              <pc:docMk/>
              <pc:sldMasterMk cId="3695259218" sldId="2147483669"/>
              <pc:sldLayoutMk cId="3438900887" sldId="2147483681"/>
              <ac:spMk id="22" creationId="{D94F79F4-8908-47C1-815C-4C7976F1122E}"/>
            </ac:spMkLst>
          </pc:spChg>
          <pc:spChg chg="del mod">
            <ac:chgData name="V. R." userId="187ccf51bb4995ec" providerId="LiveId" clId="{4B704819-BBD5-4B9D-AA86-750F75C3AA3A}" dt="2020-05-15T17:00:00.028" v="96" actId="478"/>
            <ac:spMkLst>
              <pc:docMk/>
              <pc:sldMasterMk cId="3695259218" sldId="2147483669"/>
              <pc:sldLayoutMk cId="3438900887" sldId="2147483681"/>
              <ac:spMk id="23" creationId="{D94F79F4-8908-47C1-815C-4C7976F1122E}"/>
            </ac:spMkLst>
          </pc:spChg>
        </pc:sldLayoutChg>
      </pc:sldMasterChg>
    </pc:docChg>
  </pc:docChgLst>
  <pc:docChgLst>
    <pc:chgData name="V. R." userId="187ccf51bb4995ec" providerId="LiveId" clId="{B12D7397-3798-43F1-AC10-6C16DF369EF4}"/>
    <pc:docChg chg="modMainMaster">
      <pc:chgData name="V. R." userId="187ccf51bb4995ec" providerId="LiveId" clId="{B12D7397-3798-43F1-AC10-6C16DF369EF4}" dt="2018-02-16T08:16:34.022" v="201" actId="6549"/>
      <pc:docMkLst>
        <pc:docMk/>
      </pc:docMkLst>
      <pc:sldMasterChg chg="addSp modSp">
        <pc:chgData name="V. R." userId="187ccf51bb4995ec" providerId="LiveId" clId="{B12D7397-3798-43F1-AC10-6C16DF369EF4}" dt="2018-02-16T08:16:34.022" v="201" actId="6549"/>
        <pc:sldMasterMkLst>
          <pc:docMk/>
          <pc:sldMasterMk cId="3695259218" sldId="2147483669"/>
        </pc:sldMasterMkLst>
        <pc:spChg chg="add mod ord">
          <ac:chgData name="V. R." userId="187ccf51bb4995ec" providerId="LiveId" clId="{B12D7397-3798-43F1-AC10-6C16DF369EF4}" dt="2018-02-16T08:16:34.022" v="201" actId="6549"/>
          <ac:spMkLst>
            <pc:docMk/>
            <pc:sldMasterMk cId="3695259218" sldId="2147483669"/>
            <ac:spMk id="20" creationId="{7A08679F-CECF-44BF-80E0-1678357FC761}"/>
          </ac:spMkLst>
        </pc:spChg>
        <pc:spChg chg="ord">
          <ac:chgData name="V. R." userId="187ccf51bb4995ec" providerId="LiveId" clId="{B12D7397-3798-43F1-AC10-6C16DF369EF4}" dt="2018-02-16T08:15:14.574" v="104" actId="167"/>
          <ac:spMkLst>
            <pc:docMk/>
            <pc:sldMasterMk cId="3695259218" sldId="2147483669"/>
            <ac:spMk id="22" creationId="{1CBD9B29-410D-46F6-960D-5AD5C9689AC7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546E1-4B28-49B8-B5C0-1BB767A8FF11}" type="datetimeFigureOut">
              <a:rPr lang="ru-RU" smtClean="0"/>
              <a:t>14.05.2021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9B842-883A-4817-8704-77585C772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3169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52A2-87B4-47F0-AC37-ED6F4B94E49A}" type="datetimeFigureOut">
              <a:rPr lang="ru-RU" smtClean="0"/>
              <a:t>14.05.2021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B4E77-8490-42F6-B735-9997140001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2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294" y="3435698"/>
            <a:ext cx="9144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239349" y="1132515"/>
            <a:ext cx="11952651" cy="1476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38855705"/>
              </p:ext>
            </p:extLst>
          </p:nvPr>
        </p:nvGraphicFramePr>
        <p:xfrm>
          <a:off x="6341333" y="4581951"/>
          <a:ext cx="5796619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927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732692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3316581" y="2883132"/>
            <a:ext cx="5248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Arial Black" panose="020B0A04020102020204" pitchFamily="34" charset="0"/>
              </a:rPr>
              <a:t>Учебно-исследовательская 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20</a:t>
            </a:r>
            <a:r>
              <a:rPr lang="en-US" sz="1600" dirty="0"/>
              <a:t>21</a:t>
            </a:r>
            <a:endParaRPr lang="ru-RU" sz="1600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95618" y="-2691"/>
            <a:ext cx="115348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</a:t>
            </a:r>
            <a:r>
              <a:rPr lang="ru-RU" sz="16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ВЫСШЕГО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ОБРАЗОВАНИЯ РОССИЙСКОЙ  ФЕДЕРАЦИИ</a:t>
            </a:r>
          </a:p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6329492" y="2262494"/>
            <a:ext cx="425741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 algn="l"/>
            <a:r>
              <a:rPr lang="ru-RU" sz="1100" b="1" dirty="0"/>
              <a:t>09.03.04 ПРОГРАММНАЯ ИНЖЕНЕРИЯ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58F531C6-BB2D-4230-9A1D-D4FAEB43A1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28287" y="4641277"/>
            <a:ext cx="2184400" cy="285274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en-US" dirty="0"/>
              <a:t>[</a:t>
            </a:r>
            <a:r>
              <a:rPr lang="ru-RU" dirty="0"/>
              <a:t>Иванов И.И.</a:t>
            </a:r>
            <a:r>
              <a:rPr lang="en-US" dirty="0"/>
              <a:t>]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3A262303-78EC-4E2D-B87C-D94E563380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28287" y="4996083"/>
            <a:ext cx="2184400" cy="299561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Б17-594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5ECCB2B2-6B16-44F5-B87E-FC1A240E66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23524" y="5462042"/>
            <a:ext cx="2184400" cy="58972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60000"/>
              </a:lnSpc>
              <a:buNone/>
              <a:defRPr sz="1600">
                <a:solidFill>
                  <a:srgbClr val="92D050"/>
                </a:solidFill>
              </a:defRPr>
            </a:lvl1pPr>
          </a:lstStyle>
          <a:p>
            <a:pPr lvl="0"/>
            <a:r>
              <a:rPr lang="ru-RU" dirty="0"/>
              <a:t>к.т.н., доцент </a:t>
            </a:r>
          </a:p>
          <a:p>
            <a:pPr lvl="0"/>
            <a:r>
              <a:rPr lang="ru-RU" dirty="0"/>
              <a:t>Петров П.П.</a:t>
            </a:r>
          </a:p>
        </p:txBody>
      </p:sp>
    </p:spTree>
    <p:extLst>
      <p:ext uri="{BB962C8B-B14F-4D97-AF65-F5344CB8AC3E}">
        <p14:creationId xmlns:p14="http://schemas.microsoft.com/office/powerpoint/2010/main" val="343890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294" y="3435698"/>
            <a:ext cx="9144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239349" y="1132515"/>
            <a:ext cx="11952651" cy="1476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373270"/>
              </p:ext>
            </p:extLst>
          </p:nvPr>
        </p:nvGraphicFramePr>
        <p:xfrm>
          <a:off x="6341333" y="4581951"/>
          <a:ext cx="5796619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927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732692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3305360" y="2883132"/>
            <a:ext cx="527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Arial Black" panose="020B0A04020102020204" pitchFamily="34" charset="0"/>
              </a:rPr>
              <a:t>Научно-исследовательская 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20</a:t>
            </a:r>
            <a:r>
              <a:rPr lang="en-US" sz="1600" dirty="0"/>
              <a:t>21</a:t>
            </a:r>
            <a:endParaRPr lang="ru-RU" sz="1600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95618" y="-2691"/>
            <a:ext cx="115348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</a:t>
            </a:r>
            <a:r>
              <a:rPr lang="ru-RU" sz="16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ВЫСШЕГО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ОБРАЗОВАНИЯ РОССИЙСКОЙ  ФЕДЕРАЦИИ</a:t>
            </a:r>
          </a:p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9344867" y="4570806"/>
            <a:ext cx="236616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dirty="0"/>
              <a:t>Петров П.П.</a:t>
            </a:r>
          </a:p>
        </p:txBody>
      </p:sp>
      <p:sp>
        <p:nvSpPr>
          <p:cNvPr id="22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9344867" y="4925534"/>
            <a:ext cx="236616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dirty="0"/>
              <a:t>Петров П.П.</a:t>
            </a:r>
          </a:p>
        </p:txBody>
      </p:sp>
      <p:sp>
        <p:nvSpPr>
          <p:cNvPr id="23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9344867" y="5298218"/>
            <a:ext cx="2366164" cy="66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dirty="0"/>
              <a:t>к.т.н. доцент</a:t>
            </a:r>
          </a:p>
          <a:p>
            <a:pPr algn="l"/>
            <a:r>
              <a:rPr lang="ru-RU" sz="1600" dirty="0"/>
              <a:t>Петров П.П.</a:t>
            </a:r>
          </a:p>
        </p:txBody>
      </p:sp>
      <p:sp>
        <p:nvSpPr>
          <p:cNvPr id="24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6329492" y="2262494"/>
            <a:ext cx="425741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 algn="l"/>
            <a:r>
              <a:rPr lang="ru-RU" sz="1100" b="1" dirty="0"/>
              <a:t>09.03.04 ПРОГРАММНАЯ ИНЖЕНЕРИЯ</a:t>
            </a:r>
          </a:p>
        </p:txBody>
      </p:sp>
    </p:spTree>
    <p:extLst>
      <p:ext uri="{BB962C8B-B14F-4D97-AF65-F5344CB8AC3E}">
        <p14:creationId xmlns:p14="http://schemas.microsoft.com/office/powerpoint/2010/main" val="161156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294" y="3435698"/>
            <a:ext cx="9144001" cy="1055959"/>
          </a:xfrm>
        </p:spPr>
        <p:txBody>
          <a:bodyPr>
            <a:normAutofit/>
          </a:bodyPr>
          <a:lstStyle>
            <a:lvl1pPr algn="ctr">
              <a:defRPr sz="2400" b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выпускной квалификационной работы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8BA294C-FA03-47C5-8935-22C7E2097678}"/>
              </a:ext>
            </a:extLst>
          </p:cNvPr>
          <p:cNvSpPr txBox="1">
            <a:spLocks/>
          </p:cNvSpPr>
          <p:nvPr userDrawn="1"/>
        </p:nvSpPr>
        <p:spPr>
          <a:xfrm>
            <a:off x="239349" y="1132515"/>
            <a:ext cx="11952651" cy="1476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Институт интеллектуальных кибернетических систем</a:t>
            </a:r>
          </a:p>
          <a:p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 b="1" cap="all" dirty="0">
                <a:latin typeface="Arial" panose="020B0604020202020204" pitchFamily="34" charset="0"/>
                <a:cs typeface="Arial" panose="020B0604020202020204" pitchFamily="34" charset="0"/>
              </a:rPr>
              <a:t>Кафедра кибернетики (№ 22)</a:t>
            </a:r>
          </a:p>
          <a:p>
            <a:endParaRPr lang="ru-RU" sz="14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ru-RU" sz="1200" b="1" cap="all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</a:t>
            </a:r>
            <a:endParaRPr lang="ru-RU" sz="1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DF539C3-71FD-4AD6-B047-7E76B69B7F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5731786"/>
              </p:ext>
            </p:extLst>
          </p:nvPr>
        </p:nvGraphicFramePr>
        <p:xfrm>
          <a:off x="6341333" y="4581951"/>
          <a:ext cx="5796619" cy="1164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927">
                  <a:extLst>
                    <a:ext uri="{9D8B030D-6E8A-4147-A177-3AD203B41FA5}">
                      <a16:colId xmlns:a16="http://schemas.microsoft.com/office/drawing/2014/main" val="2990008635"/>
                    </a:ext>
                  </a:extLst>
                </a:gridCol>
                <a:gridCol w="2732692">
                  <a:extLst>
                    <a:ext uri="{9D8B030D-6E8A-4147-A177-3AD203B41FA5}">
                      <a16:colId xmlns:a16="http://schemas.microsoft.com/office/drawing/2014/main" val="279499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Студент: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033401391"/>
                  </a:ext>
                </a:extLst>
              </a:tr>
              <a:tr h="422516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Группа: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l"/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760998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Научный руководитель:</a:t>
                      </a:r>
                      <a:endParaRPr lang="ru-RU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622901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EDA9CA7-F8C9-483E-B140-3539B3573F9B}"/>
              </a:ext>
            </a:extLst>
          </p:cNvPr>
          <p:cNvSpPr txBox="1"/>
          <p:nvPr userDrawn="1"/>
        </p:nvSpPr>
        <p:spPr>
          <a:xfrm>
            <a:off x="3088154" y="2883132"/>
            <a:ext cx="5705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Arial Black" panose="020B0A04020102020204" pitchFamily="34" charset="0"/>
              </a:rPr>
              <a:t>Выпускная квалификационная работа на тему: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3A3257-1683-4003-B846-9F4AE6F29000}"/>
              </a:ext>
            </a:extLst>
          </p:cNvPr>
          <p:cNvSpPr txBox="1"/>
          <p:nvPr userDrawn="1"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Москва, 20</a:t>
            </a:r>
            <a:r>
              <a:rPr lang="en-US" sz="1600" dirty="0"/>
              <a:t>21</a:t>
            </a:r>
            <a:endParaRPr lang="ru-RU" sz="1600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95618" y="-2691"/>
            <a:ext cx="115348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</a:t>
            </a:r>
            <a:r>
              <a:rPr lang="ru-RU" sz="16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ВЫСШЕГО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ОБРАЗОВАНИЯ РОССИЙСКОЙ  ФЕДЕРАЦИИ</a:t>
            </a:r>
          </a:p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«Национальный исследовательский ядерный университет «МИФИ»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9344867" y="4570806"/>
            <a:ext cx="236616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dirty="0"/>
              <a:t>Петров П.П.</a:t>
            </a:r>
          </a:p>
        </p:txBody>
      </p:sp>
      <p:sp>
        <p:nvSpPr>
          <p:cNvPr id="22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9344867" y="4925534"/>
            <a:ext cx="236616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dirty="0"/>
              <a:t>Петров П.П.</a:t>
            </a:r>
          </a:p>
        </p:txBody>
      </p:sp>
      <p:sp>
        <p:nvSpPr>
          <p:cNvPr id="23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9344867" y="5298218"/>
            <a:ext cx="2366164" cy="66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ru-RU" sz="1600" dirty="0"/>
              <a:t>к.т.н. доцент</a:t>
            </a:r>
          </a:p>
          <a:p>
            <a:pPr algn="l"/>
            <a:r>
              <a:rPr lang="ru-RU" sz="1600" dirty="0"/>
              <a:t>Петров П.П.</a:t>
            </a:r>
          </a:p>
        </p:txBody>
      </p:sp>
      <p:sp>
        <p:nvSpPr>
          <p:cNvPr id="24" name="Заголовок 6">
            <a:extLst>
              <a:ext uri="{FF2B5EF4-FFF2-40B4-BE49-F238E27FC236}">
                <a16:creationId xmlns:a16="http://schemas.microsoft.com/office/drawing/2014/main" id="{D94F79F4-8908-47C1-815C-4C7976F1122E}"/>
              </a:ext>
            </a:extLst>
          </p:cNvPr>
          <p:cNvSpPr txBox="1">
            <a:spLocks/>
          </p:cNvSpPr>
          <p:nvPr userDrawn="1"/>
        </p:nvSpPr>
        <p:spPr>
          <a:xfrm>
            <a:off x="6329492" y="2262494"/>
            <a:ext cx="4257414" cy="354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92D0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 algn="l"/>
            <a:r>
              <a:rPr lang="ru-RU" sz="1100" b="1" dirty="0"/>
              <a:t>09.03.04 ПРОГРАММНАЯ ИНЖЕНЕРИЯ</a:t>
            </a:r>
          </a:p>
        </p:txBody>
      </p:sp>
    </p:spTree>
    <p:extLst>
      <p:ext uri="{BB962C8B-B14F-4D97-AF65-F5344CB8AC3E}">
        <p14:creationId xmlns:p14="http://schemas.microsoft.com/office/powerpoint/2010/main" val="263543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920368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омб 6">
            <a:extLst>
              <a:ext uri="{FF2B5EF4-FFF2-40B4-BE49-F238E27FC236}">
                <a16:creationId xmlns:a16="http://schemas.microsoft.com/office/drawing/2014/main" id="{E0218161-C0EB-4407-A3D2-FA3D746653AC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46566" y="6556718"/>
            <a:ext cx="698868" cy="365125"/>
          </a:xfrm>
        </p:spPr>
        <p:txBody>
          <a:bodyPr/>
          <a:lstStyle>
            <a:lvl1pPr>
              <a:defRPr>
                <a:ln w="9525"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394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17706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омб 9">
            <a:extLst>
              <a:ext uri="{FF2B5EF4-FFF2-40B4-BE49-F238E27FC236}">
                <a16:creationId xmlns:a16="http://schemas.microsoft.com/office/drawing/2014/main" id="{7EDB1B55-F3A6-41BC-A88D-E63FEFA11674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78365"/>
            <a:ext cx="5181600" cy="52985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78365"/>
            <a:ext cx="5181600" cy="52985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82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омб 11">
            <a:extLst>
              <a:ext uri="{FF2B5EF4-FFF2-40B4-BE49-F238E27FC236}">
                <a16:creationId xmlns:a16="http://schemas.microsoft.com/office/drawing/2014/main" id="{5D1C90CF-85AC-47BC-9D7D-A0597F9EE918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807"/>
            <a:ext cx="10515600" cy="76098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897402"/>
            <a:ext cx="5157787" cy="6656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563038"/>
            <a:ext cx="5157787" cy="4626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97402"/>
            <a:ext cx="5183188" cy="6656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63038"/>
            <a:ext cx="5183188" cy="4626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955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омб 7">
            <a:extLst>
              <a:ext uri="{FF2B5EF4-FFF2-40B4-BE49-F238E27FC236}">
                <a16:creationId xmlns:a16="http://schemas.microsoft.com/office/drawing/2014/main" id="{7245ACE8-F233-4C3C-B093-61C2E1ADC36B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135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омб 5">
            <a:extLst>
              <a:ext uri="{FF2B5EF4-FFF2-40B4-BE49-F238E27FC236}">
                <a16:creationId xmlns:a16="http://schemas.microsoft.com/office/drawing/2014/main" id="{B4529D8E-492E-4DF1-9A99-EFE7BBA2950B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624F360-E14E-42D7-A9DE-51BD9791ABEC}"/>
              </a:ext>
            </a:extLst>
          </p:cNvPr>
          <p:cNvCxnSpPr>
            <a:cxnSpLocks/>
          </p:cNvCxnSpPr>
          <p:nvPr userDrawn="1"/>
        </p:nvCxnSpPr>
        <p:spPr>
          <a:xfrm>
            <a:off x="838200" y="792626"/>
            <a:ext cx="105156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78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омб 7">
            <a:extLst>
              <a:ext uri="{FF2B5EF4-FFF2-40B4-BE49-F238E27FC236}">
                <a16:creationId xmlns:a16="http://schemas.microsoft.com/office/drawing/2014/main" id="{71099896-803D-47BA-8372-F1C371FD140E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84F9818-A89A-4D33-9A58-D447326E9AF2}"/>
              </a:ext>
            </a:extLst>
          </p:cNvPr>
          <p:cNvCxnSpPr>
            <a:cxnSpLocks/>
          </p:cNvCxnSpPr>
          <p:nvPr userDrawn="1"/>
        </p:nvCxnSpPr>
        <p:spPr>
          <a:xfrm>
            <a:off x="838200" y="792626"/>
            <a:ext cx="105156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25057DC-7649-4017-A665-16B7781E4B7A}"/>
              </a:ext>
            </a:extLst>
          </p:cNvPr>
          <p:cNvCxnSpPr>
            <a:cxnSpLocks/>
          </p:cNvCxnSpPr>
          <p:nvPr userDrawn="1"/>
        </p:nvCxnSpPr>
        <p:spPr>
          <a:xfrm>
            <a:off x="838200" y="887210"/>
            <a:ext cx="3933825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5210"/>
            <a:ext cx="3932237" cy="6984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5328" y="175210"/>
            <a:ext cx="6450060" cy="56858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905391"/>
            <a:ext cx="3932237" cy="4963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0587300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омб 7">
            <a:extLst>
              <a:ext uri="{FF2B5EF4-FFF2-40B4-BE49-F238E27FC236}">
                <a16:creationId xmlns:a16="http://schemas.microsoft.com/office/drawing/2014/main" id="{71099896-803D-47BA-8372-F1C371FD140E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84F9818-A89A-4D33-9A58-D447326E9AF2}"/>
              </a:ext>
            </a:extLst>
          </p:cNvPr>
          <p:cNvCxnSpPr>
            <a:cxnSpLocks/>
          </p:cNvCxnSpPr>
          <p:nvPr userDrawn="1"/>
        </p:nvCxnSpPr>
        <p:spPr>
          <a:xfrm>
            <a:off x="838200" y="792626"/>
            <a:ext cx="105156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25057DC-7649-4017-A665-16B7781E4B7A}"/>
              </a:ext>
            </a:extLst>
          </p:cNvPr>
          <p:cNvCxnSpPr>
            <a:cxnSpLocks/>
          </p:cNvCxnSpPr>
          <p:nvPr userDrawn="1"/>
        </p:nvCxnSpPr>
        <p:spPr>
          <a:xfrm>
            <a:off x="838200" y="887210"/>
            <a:ext cx="3530937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5210"/>
            <a:ext cx="3529512" cy="6984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0386" y="175210"/>
            <a:ext cx="3350123" cy="56858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5391"/>
            <a:ext cx="3529512" cy="49635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AD3CCCAD-200B-49FE-865E-2FD7F7F337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81594" y="175209"/>
            <a:ext cx="3353922" cy="568584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67BF306-9EF1-4C35-879A-73EB534CE43E}"/>
              </a:ext>
            </a:extLst>
          </p:cNvPr>
          <p:cNvCxnSpPr>
            <a:cxnSpLocks/>
          </p:cNvCxnSpPr>
          <p:nvPr userDrawn="1"/>
        </p:nvCxnSpPr>
        <p:spPr>
          <a:xfrm>
            <a:off x="4369137" y="175209"/>
            <a:ext cx="0" cy="72000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225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омб 7">
            <a:extLst>
              <a:ext uri="{FF2B5EF4-FFF2-40B4-BE49-F238E27FC236}">
                <a16:creationId xmlns:a16="http://schemas.microsoft.com/office/drawing/2014/main" id="{E4DEE836-15A5-4CE2-8F95-9CF75DF967B1}"/>
              </a:ext>
            </a:extLst>
          </p:cNvPr>
          <p:cNvSpPr/>
          <p:nvPr userDrawn="1"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DA7CC3B-6AE0-4933-BC40-3F3F34C12117}"/>
              </a:ext>
            </a:extLst>
          </p:cNvPr>
          <p:cNvCxnSpPr>
            <a:cxnSpLocks/>
          </p:cNvCxnSpPr>
          <p:nvPr userDrawn="1"/>
        </p:nvCxnSpPr>
        <p:spPr>
          <a:xfrm>
            <a:off x="838200" y="792626"/>
            <a:ext cx="105156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7007DC6-86B5-4BA8-85F8-142411533DCB}"/>
              </a:ext>
            </a:extLst>
          </p:cNvPr>
          <p:cNvCxnSpPr>
            <a:cxnSpLocks/>
          </p:cNvCxnSpPr>
          <p:nvPr userDrawn="1"/>
        </p:nvCxnSpPr>
        <p:spPr>
          <a:xfrm>
            <a:off x="838200" y="874800"/>
            <a:ext cx="3933825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6400"/>
            <a:ext cx="3932237" cy="698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6400"/>
            <a:ext cx="6172200" cy="56846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874801"/>
            <a:ext cx="3932237" cy="4994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578817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181722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411657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Ромб 7">
            <a:extLst>
              <a:ext uri="{FF2B5EF4-FFF2-40B4-BE49-F238E27FC236}">
                <a16:creationId xmlns:a16="http://schemas.microsoft.com/office/drawing/2014/main" id="{BAEF36E8-808B-4C41-A349-5DAE85BF6B11}"/>
              </a:ext>
            </a:extLst>
          </p:cNvPr>
          <p:cNvSpPr/>
          <p:nvPr userDrawn="1"/>
        </p:nvSpPr>
        <p:spPr>
          <a:xfrm>
            <a:off x="5789928" y="6599750"/>
            <a:ext cx="698869" cy="28080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800"/>
          </a:p>
        </p:txBody>
      </p:sp>
      <p:sp>
        <p:nvSpPr>
          <p:cNvPr id="9" name="Номер слайда 25">
            <a:extLst>
              <a:ext uri="{FF2B5EF4-FFF2-40B4-BE49-F238E27FC236}">
                <a16:creationId xmlns:a16="http://schemas.microsoft.com/office/drawing/2014/main" id="{45B6DAB1-A906-4CFB-8A5B-187F88188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46043" y="6591826"/>
            <a:ext cx="570000" cy="28710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199A7222-F73B-4B85-8114-99559142FB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903600"/>
            <a:ext cx="5181600" cy="5092330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5">
            <a:extLst>
              <a:ext uri="{FF2B5EF4-FFF2-40B4-BE49-F238E27FC236}">
                <a16:creationId xmlns:a16="http://schemas.microsoft.com/office/drawing/2014/main" id="{4469B468-9231-4A96-ABBB-527F4CF013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2200" y="903600"/>
            <a:ext cx="5181600" cy="509233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00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CBD9B29-410D-46F6-960D-5AD5C9689AC7}"/>
              </a:ext>
            </a:extLst>
          </p:cNvPr>
          <p:cNvSpPr/>
          <p:nvPr userDrawn="1"/>
        </p:nvSpPr>
        <p:spPr bwMode="auto">
          <a:xfrm rot="5400000">
            <a:off x="-3277366" y="3268602"/>
            <a:ext cx="6906537" cy="369332"/>
          </a:xfrm>
          <a:prstGeom prst="rect">
            <a:avLst/>
          </a:prstGeom>
          <a:solidFill>
            <a:srgbClr val="537599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08679F-CECF-44BF-80E0-1678357FC761}"/>
              </a:ext>
            </a:extLst>
          </p:cNvPr>
          <p:cNvSpPr txBox="1"/>
          <p:nvPr userDrawn="1"/>
        </p:nvSpPr>
        <p:spPr>
          <a:xfrm>
            <a:off x="-2880" y="8307"/>
            <a:ext cx="357238" cy="6740307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01010100010010010010101010101010000001010101011111101010101010111111111110010010010101000101001010101001010010101001010010000001000011</a:t>
            </a:r>
            <a:r>
              <a:rPr lang="en-US" sz="800" dirty="0">
                <a:solidFill>
                  <a:schemeClr val="tx1">
                    <a:alpha val="10000"/>
                  </a:schemeClr>
                </a:solidFill>
              </a:rPr>
              <a:t>100100100100001010000101111111111110101010100100101111110010001000101011111000000100101101010101010101000011110</a:t>
            </a: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00110000100101010010111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BD9B29-410D-46F6-960D-5AD5C9689AC7}"/>
              </a:ext>
            </a:extLst>
          </p:cNvPr>
          <p:cNvSpPr/>
          <p:nvPr userDrawn="1"/>
        </p:nvSpPr>
        <p:spPr bwMode="auto">
          <a:xfrm>
            <a:off x="0" y="6556718"/>
            <a:ext cx="12192000" cy="369332"/>
          </a:xfrm>
          <a:prstGeom prst="rect">
            <a:avLst/>
          </a:prstGeom>
          <a:solidFill>
            <a:srgbClr val="537599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6EDAB-8A5E-4B14-8406-D938A6CB06F2}"/>
              </a:ext>
            </a:extLst>
          </p:cNvPr>
          <p:cNvSpPr txBox="1"/>
          <p:nvPr userDrawn="1"/>
        </p:nvSpPr>
        <p:spPr>
          <a:xfrm>
            <a:off x="-8763" y="6562550"/>
            <a:ext cx="12195661" cy="377989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lang="en-US" sz="800" dirty="0">
                <a:solidFill>
                  <a:schemeClr val="tx1">
                    <a:alpha val="10000"/>
                  </a:schemeClr>
                </a:solidFill>
              </a:rPr>
              <a:t>000010010100100100100001010000101111111111110101010100100101111110010001000101011111000000100101101010101010101000011110</a:t>
            </a:r>
            <a:r>
              <a:rPr lang="ru-RU" sz="800" dirty="0">
                <a:solidFill>
                  <a:schemeClr val="tx1">
                    <a:alpha val="10000"/>
                  </a:schemeClr>
                </a:solidFill>
              </a:rPr>
              <a:t>00110000100101010010111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EA6C5-C223-44CD-BACB-35BE40DF2F41}"/>
              </a:ext>
            </a:extLst>
          </p:cNvPr>
          <p:cNvSpPr txBox="1"/>
          <p:nvPr userDrawn="1"/>
        </p:nvSpPr>
        <p:spPr>
          <a:xfrm>
            <a:off x="10351455" y="6541811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www.kaf22.ru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D8B6A-A1FC-43D2-9CAD-46DBFBC62F1A}"/>
              </a:ext>
            </a:extLst>
          </p:cNvPr>
          <p:cNvSpPr txBox="1"/>
          <p:nvPr userDrawn="1"/>
        </p:nvSpPr>
        <p:spPr>
          <a:xfrm>
            <a:off x="9489631" y="6355403"/>
            <a:ext cx="1827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rgbClr val="537599"/>
                </a:solidFill>
              </a:rPr>
              <a:t>Кафедра №22 «Кибернетика»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3239D52-DAEF-49D5-A48F-6A697FADB63B}"/>
              </a:ext>
            </a:extLst>
          </p:cNvPr>
          <p:cNvSpPr/>
          <p:nvPr userDrawn="1"/>
        </p:nvSpPr>
        <p:spPr bwMode="auto">
          <a:xfrm>
            <a:off x="16257" y="6006534"/>
            <a:ext cx="900000" cy="9000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31956A-E01B-44F9-8FB3-8AB5BC737A7F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8857" y="6021278"/>
            <a:ext cx="874800" cy="8730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46AF06-AE8D-48E1-B3F4-F3D3AC3E6B0D}"/>
              </a:ext>
            </a:extLst>
          </p:cNvPr>
          <p:cNvSpPr txBox="1"/>
          <p:nvPr userDrawn="1"/>
        </p:nvSpPr>
        <p:spPr>
          <a:xfrm>
            <a:off x="914728" y="6576252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n>
                  <a:noFill/>
                </a:ln>
                <a:solidFill>
                  <a:schemeClr val="bg1"/>
                </a:solidFill>
              </a:rPr>
              <a:t>www.mephi.ru</a:t>
            </a:r>
            <a:endParaRPr lang="ru-RU" sz="10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8D867D-B805-4A0C-BC2C-F6BD5A0DBFC4}"/>
              </a:ext>
            </a:extLst>
          </p:cNvPr>
          <p:cNvSpPr txBox="1"/>
          <p:nvPr userDrawn="1"/>
        </p:nvSpPr>
        <p:spPr>
          <a:xfrm>
            <a:off x="916191" y="6374510"/>
            <a:ext cx="875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rgbClr val="537599"/>
                </a:solidFill>
              </a:rPr>
              <a:t>НИЯУ МИФИ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ln>
                  <a:solidFill>
                    <a:srgbClr val="537599"/>
                  </a:solidFill>
                </a:ln>
                <a:solidFill>
                  <a:schemeClr val="bg1"/>
                </a:solidFill>
              </a:defRPr>
            </a:lvl1pPr>
          </a:lstStyle>
          <a:p>
            <a:fld id="{24882390-5E8C-4CFA-AF90-B2445B96FD8B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1185E3E-B341-4D49-9612-95D9E2E0F1C3}"/>
              </a:ext>
            </a:extLst>
          </p:cNvPr>
          <p:cNvCxnSpPr>
            <a:cxnSpLocks/>
          </p:cNvCxnSpPr>
          <p:nvPr userDrawn="1"/>
        </p:nvCxnSpPr>
        <p:spPr>
          <a:xfrm>
            <a:off x="838200" y="792626"/>
            <a:ext cx="10515600" cy="0"/>
          </a:xfrm>
          <a:prstGeom prst="line">
            <a:avLst/>
          </a:prstGeom>
          <a:ln w="22225">
            <a:solidFill>
              <a:srgbClr val="537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48587927-8E5A-4C33-B3B3-8CE6EF5C3A4C}"/>
              </a:ext>
            </a:extLst>
          </p:cNvPr>
          <p:cNvSpPr/>
          <p:nvPr userDrawn="1"/>
        </p:nvSpPr>
        <p:spPr bwMode="auto">
          <a:xfrm>
            <a:off x="11271693" y="6006534"/>
            <a:ext cx="900000" cy="9000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F0CFEF-DA1E-4462-9BEE-51B4D1D12CCA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244943" y="6021278"/>
            <a:ext cx="92675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5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684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82" r:id="rId12"/>
    <p:sldLayoutId id="2147483678" r:id="rId13"/>
    <p:sldLayoutId id="2147483679" r:id="rId14"/>
    <p:sldLayoutId id="2147483680" r:id="rId15"/>
    <p:sldLayoutId id="214748366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27DBD-F420-4EFA-8A1D-AF46055A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Методические указания к подготовке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DF998-F326-477A-B9A1-3F6A5A319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67" y="925885"/>
            <a:ext cx="10515600" cy="4814515"/>
          </a:xfrm>
        </p:spPr>
        <p:txBody>
          <a:bodyPr>
            <a:normAutofit fontScale="77500" lnSpcReduction="20000"/>
          </a:bodyPr>
          <a:lstStyle/>
          <a:p>
            <a:r>
              <a:rPr lang="ru-RU" i="1" dirty="0"/>
              <a:t>Общие требования: минимум текста, максимум табличной и графической информации. </a:t>
            </a:r>
          </a:p>
          <a:p>
            <a:r>
              <a:rPr lang="ru-RU" i="1" dirty="0"/>
              <a:t>Преимущественно текстовыми могут оставаться только слайды «титульный лист», «реферат», «цель», «задачи», «заключение», «список литературы» и «апробация».</a:t>
            </a:r>
          </a:p>
          <a:p>
            <a:r>
              <a:rPr lang="ru-RU" i="1" dirty="0"/>
              <a:t>Везде, где не указано иное, желательно посвятить вопросу один слайд.</a:t>
            </a:r>
          </a:p>
          <a:p>
            <a:r>
              <a:rPr lang="ru-RU" i="1" dirty="0"/>
              <a:t>Общий объем презентации: 15-20 слайдов.</a:t>
            </a:r>
          </a:p>
          <a:p>
            <a:r>
              <a:rPr lang="ru-RU" i="1" dirty="0"/>
              <a:t>Речь (выступление): 7-10 минут. Во время выступления зачитывать полностью текстовые слайды не следует. Имеющееся время лучше потратить на объяснение слайдов, содержащих модели, диаграммы, результаты реализации. </a:t>
            </a:r>
          </a:p>
          <a:p>
            <a:r>
              <a:rPr lang="ru-RU" i="1" dirty="0"/>
              <a:t>При оформлении презентации следует использовать имеющиеся макеты слайдов (Слайды -</a:t>
            </a:r>
            <a:r>
              <a:rPr lang="en-US" i="1" dirty="0"/>
              <a:t>&gt;</a:t>
            </a:r>
            <a:r>
              <a:rPr lang="ru-RU" i="1" dirty="0"/>
              <a:t> Макет -</a:t>
            </a:r>
            <a:r>
              <a:rPr lang="en-US" i="1" dirty="0"/>
              <a:t>&gt;</a:t>
            </a:r>
            <a:r>
              <a:rPr lang="ru-RU" i="1" dirty="0"/>
              <a:t> </a:t>
            </a:r>
            <a:r>
              <a:rPr lang="en-US" i="1" dirty="0"/>
              <a:t>[</a:t>
            </a:r>
            <a:r>
              <a:rPr lang="ru-RU" i="1" dirty="0"/>
              <a:t>выбираем макет</a:t>
            </a:r>
            <a:r>
              <a:rPr lang="en-US" i="1" dirty="0"/>
              <a:t>]</a:t>
            </a:r>
            <a:r>
              <a:rPr lang="ru-RU" i="1" dirty="0"/>
              <a:t>)</a:t>
            </a:r>
          </a:p>
          <a:p>
            <a:r>
              <a:rPr lang="ru-RU" i="1" dirty="0"/>
              <a:t>Презентация также должна быть распечатана в качестве раздаточного материала в количестве 5 экземпляров. </a:t>
            </a:r>
          </a:p>
          <a:p>
            <a:r>
              <a:rPr lang="ru-RU" i="1" dirty="0"/>
              <a:t>Предусмотрены 3 шаблона титульных слайдов: УИР, НИР, ВКР</a:t>
            </a:r>
          </a:p>
          <a:p>
            <a:endParaRPr lang="ru-RU" i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2D55BF-4B31-482A-B074-0F934A63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4709B5B-479C-49BA-BE13-FDE6A2B0C715}"/>
              </a:ext>
            </a:extLst>
          </p:cNvPr>
          <p:cNvSpPr txBox="1">
            <a:spLocks/>
          </p:cNvSpPr>
          <p:nvPr/>
        </p:nvSpPr>
        <p:spPr>
          <a:xfrm>
            <a:off x="2908491" y="5882869"/>
            <a:ext cx="6427582" cy="432048"/>
          </a:xfrm>
          <a:prstGeom prst="rect">
            <a:avLst/>
          </a:prstGeom>
        </p:spPr>
        <p:txBody>
          <a:bodyPr/>
          <a:lstStyle/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000" kern="0" dirty="0">
                <a:solidFill>
                  <a:srgbClr val="FF0000"/>
                </a:solidFill>
                <a:sym typeface="Arial" pitchFamily="34" charset="0"/>
              </a:rPr>
              <a:t>Служебный слайд. В итоговую презентацию НЕ включать</a:t>
            </a:r>
          </a:p>
        </p:txBody>
      </p:sp>
    </p:spTree>
    <p:extLst>
      <p:ext uri="{BB962C8B-B14F-4D97-AF65-F5344CB8AC3E}">
        <p14:creationId xmlns:p14="http://schemas.microsoft.com/office/powerpoint/2010/main" val="44113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53E7774-F920-4D35-A7E6-99596DC3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474" y="3435702"/>
            <a:ext cx="6858001" cy="1055959"/>
          </a:xfrm>
        </p:spPr>
        <p:txBody>
          <a:bodyPr>
            <a:normAutofit/>
          </a:bodyPr>
          <a:lstStyle/>
          <a:p>
            <a:r>
              <a:rPr lang="en-US" dirty="0"/>
              <a:t>[</a:t>
            </a:r>
            <a:r>
              <a:rPr lang="ru-RU" dirty="0"/>
              <a:t>Название выпускной квалификационной работы</a:t>
            </a:r>
            <a:r>
              <a:rPr lang="en-US" dirty="0"/>
              <a:t>]</a:t>
            </a:r>
            <a:endParaRPr lang="ru-RU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19658D75-2641-4B5D-B3A5-70609CFA5B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6113" y="4645757"/>
            <a:ext cx="2184400" cy="285274"/>
          </a:xfr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DCDDEB2-8327-47D7-951D-C855032C02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76113" y="5000563"/>
            <a:ext cx="2184400" cy="299561"/>
          </a:xfrm>
        </p:spPr>
        <p:txBody>
          <a:bodyPr>
            <a:noAutofit/>
          </a:bodyPr>
          <a:lstStyle/>
          <a:p>
            <a:endParaRPr lang="ru-RU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0C8FE417-43CE-4C21-91E5-DFEBDD4E42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1350" y="5466522"/>
            <a:ext cx="2184400" cy="589728"/>
          </a:xfrm>
        </p:spPr>
        <p:txBody>
          <a:bodyPr>
            <a:normAutofit/>
          </a:bodyPr>
          <a:lstStyle/>
          <a:p>
            <a:r>
              <a:rPr lang="ru-RU" dirty="0"/>
              <a:t>к.т.н., доцент</a:t>
            </a:r>
          </a:p>
          <a:p>
            <a:r>
              <a:rPr lang="ru-RU" dirty="0"/>
              <a:t>Петров П.П.</a:t>
            </a:r>
          </a:p>
        </p:txBody>
      </p:sp>
    </p:spTree>
    <p:extLst>
      <p:ext uri="{BB962C8B-B14F-4D97-AF65-F5344CB8AC3E}">
        <p14:creationId xmlns:p14="http://schemas.microsoft.com/office/powerpoint/2010/main" val="177869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02C55-90FC-4F03-9B69-0EB83398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Реферат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86C53B-B465-4F3B-B49B-55327FED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Количественные характеристики – структура работы, количество страниц, таблиц и рисунков, объём кода.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81C50F-E29F-4C4B-B814-44C06F43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3BA13BB-4CF1-4A5E-96D5-95CFC42C2018}"/>
              </a:ext>
            </a:extLst>
          </p:cNvPr>
          <p:cNvSpPr txBox="1">
            <a:spLocks/>
          </p:cNvSpPr>
          <p:nvPr/>
        </p:nvSpPr>
        <p:spPr>
          <a:xfrm>
            <a:off x="5517124" y="5686447"/>
            <a:ext cx="1210316" cy="517305"/>
          </a:xfrm>
          <a:prstGeom prst="rect">
            <a:avLst/>
          </a:prstGeom>
        </p:spPr>
        <p:txBody>
          <a:bodyPr/>
          <a:lstStyle/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 слайд</a:t>
            </a:r>
          </a:p>
        </p:txBody>
      </p:sp>
    </p:spTree>
    <p:extLst>
      <p:ext uri="{BB962C8B-B14F-4D97-AF65-F5344CB8AC3E}">
        <p14:creationId xmlns:p14="http://schemas.microsoft.com/office/powerpoint/2010/main" val="249073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96CDE-446F-4C6B-9F34-DB35333E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Актуальность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7D350E-1B79-49AD-B3E8-A1014B661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Описание предметной области, указание на ключевые нерешенные проблемы, имеющие существенное значение в настоящее время. Краткая история вопроса, результаты сравнительного анализа существующих наработок, доказательство потребности в разработке (потенциальное влияние на данную и другие предметные области).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821C45-0672-4067-B020-45CF2AE6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3906F34-FC1C-4028-A3AD-64C53522A3F2}"/>
              </a:ext>
            </a:extLst>
          </p:cNvPr>
          <p:cNvSpPr txBox="1">
            <a:spLocks/>
          </p:cNvSpPr>
          <p:nvPr/>
        </p:nvSpPr>
        <p:spPr>
          <a:xfrm>
            <a:off x="5258186" y="5628313"/>
            <a:ext cx="1728192" cy="504056"/>
          </a:xfrm>
          <a:prstGeom prst="rect">
            <a:avLst/>
          </a:prstGeom>
        </p:spPr>
        <p:txBody>
          <a:bodyPr/>
          <a:lstStyle/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1-2 слайда</a:t>
            </a: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856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FB7A8-1E1A-4244-806F-8D6E13DF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AFB75-0049-4183-BEAC-83102205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Приводится описание цели.</a:t>
            </a:r>
          </a:p>
          <a:p>
            <a:r>
              <a:rPr lang="ru-RU" sz="2000" dirty="0"/>
              <a:t>Работа может преследовать несколько целей (как независимых, так и взаимосвязанных). </a:t>
            </a:r>
          </a:p>
          <a:p>
            <a:r>
              <a:rPr lang="ru-RU" sz="2000" dirty="0"/>
              <a:t>Обычно целей не больше 3-х. </a:t>
            </a:r>
          </a:p>
          <a:p>
            <a:r>
              <a:rPr lang="ru-RU" sz="2000" dirty="0"/>
              <a:t>Следует описать все цели. </a:t>
            </a:r>
          </a:p>
          <a:p>
            <a:r>
              <a:rPr lang="ru-RU" sz="2000" dirty="0"/>
              <a:t>Цель – это, как правило, некоторый конкретный результат, которого хочется достичь. </a:t>
            </a:r>
          </a:p>
          <a:p>
            <a:r>
              <a:rPr lang="ru-RU" sz="2000" dirty="0"/>
              <a:t>Нередко, актуальность работы объясняет мотивацию, предпосылки, из которых вытекают цели.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9E31F2-6CA6-4B6F-B7C2-671F4B63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3ADA455-26B1-4730-88D4-E6FF849843EE}"/>
              </a:ext>
            </a:extLst>
          </p:cNvPr>
          <p:cNvSpPr txBox="1">
            <a:spLocks/>
          </p:cNvSpPr>
          <p:nvPr/>
        </p:nvSpPr>
        <p:spPr>
          <a:xfrm>
            <a:off x="5517124" y="5686447"/>
            <a:ext cx="1210316" cy="517305"/>
          </a:xfrm>
          <a:prstGeom prst="rect">
            <a:avLst/>
          </a:prstGeom>
        </p:spPr>
        <p:txBody>
          <a:bodyPr/>
          <a:lstStyle/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 слайд</a:t>
            </a:r>
          </a:p>
        </p:txBody>
      </p:sp>
    </p:spTree>
    <p:extLst>
      <p:ext uri="{BB962C8B-B14F-4D97-AF65-F5344CB8AC3E}">
        <p14:creationId xmlns:p14="http://schemas.microsoft.com/office/powerpoint/2010/main" val="46820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6B86B-2E03-4E69-8B67-B032F26E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анализа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E41414-A40E-44EC-8934-8552EE0BC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Анализ того, как озвученной цели можно достичь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8D9483-C3F0-4C92-8AEC-290F460D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79FE5DF-3455-432E-9EFF-0CAAC8811A55}"/>
              </a:ext>
            </a:extLst>
          </p:cNvPr>
          <p:cNvSpPr txBox="1">
            <a:spLocks/>
          </p:cNvSpPr>
          <p:nvPr/>
        </p:nvSpPr>
        <p:spPr>
          <a:xfrm>
            <a:off x="5303912" y="5445224"/>
            <a:ext cx="1728192" cy="648072"/>
          </a:xfrm>
          <a:prstGeom prst="rect">
            <a:avLst/>
          </a:prstGeom>
        </p:spPr>
        <p:txBody>
          <a:bodyPr/>
          <a:lstStyle/>
          <a:p>
            <a:pPr algn="ctr"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0 - 3 слайд</a:t>
            </a: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44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C1D19-330B-4CC1-918D-EC866EC4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DC5C4-F706-4886-AF63-489979282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 результатам анализа - сформулировать, какие задачи нужно решить, чтобы достичь заявленной цели</a:t>
            </a:r>
          </a:p>
          <a:p>
            <a:pPr marL="0">
              <a:buNone/>
            </a:pPr>
            <a:r>
              <a:rPr lang="ru-RU" sz="2000" dirty="0"/>
              <a:t>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FA2337-0BE5-47EC-8352-79BCEE0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A348EA1-4A1E-459F-BE44-5190153B3533}"/>
              </a:ext>
            </a:extLst>
          </p:cNvPr>
          <p:cNvSpPr txBox="1">
            <a:spLocks/>
          </p:cNvSpPr>
          <p:nvPr/>
        </p:nvSpPr>
        <p:spPr>
          <a:xfrm>
            <a:off x="5517124" y="5686447"/>
            <a:ext cx="1210316" cy="517305"/>
          </a:xfrm>
          <a:prstGeom prst="rect">
            <a:avLst/>
          </a:prstGeom>
        </p:spPr>
        <p:txBody>
          <a:bodyPr/>
          <a:lstStyle/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 слайд</a:t>
            </a:r>
          </a:p>
        </p:txBody>
      </p:sp>
    </p:spTree>
    <p:extLst>
      <p:ext uri="{BB962C8B-B14F-4D97-AF65-F5344CB8AC3E}">
        <p14:creationId xmlns:p14="http://schemas.microsoft.com/office/powerpoint/2010/main" val="18258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A2664-D692-4762-9A26-60AA777F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моделирования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7C90F9-5525-4510-83DB-99C627249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Результаты моделирования предметной области и протекающих в ней процессов – ответ на вопрос, что нужно заложить в будущую систему, в </a:t>
            </a:r>
            <a:r>
              <a:rPr lang="ru-RU" sz="2000" dirty="0" err="1"/>
              <a:t>т.ч</a:t>
            </a:r>
            <a:r>
              <a:rPr lang="ru-RU" sz="2000" dirty="0"/>
              <a:t>. какие функции.</a:t>
            </a:r>
          </a:p>
          <a:p>
            <a:r>
              <a:rPr lang="ru-RU" sz="2000" dirty="0"/>
              <a:t>В </a:t>
            </a:r>
            <a:r>
              <a:rPr lang="ru-RU" sz="2000" dirty="0" err="1"/>
              <a:t>т.ч</a:t>
            </a:r>
            <a:r>
              <a:rPr lang="ru-RU" sz="2000" dirty="0"/>
              <a:t>. модели взаимодействия пользователей с системой, диаграммы </a:t>
            </a:r>
            <a:r>
              <a:rPr lang="ru-RU" sz="2000" dirty="0" err="1"/>
              <a:t>Use-Case</a:t>
            </a:r>
            <a:r>
              <a:rPr lang="ru-RU" sz="2000" dirty="0"/>
              <a:t>, схемы алгоритмов, IDEFX…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84937D-9D75-4E06-A537-436E4EC1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DD8280-A2F7-43EB-9E84-F97D6F6C4369}"/>
              </a:ext>
            </a:extLst>
          </p:cNvPr>
          <p:cNvSpPr txBox="1">
            <a:spLocks/>
          </p:cNvSpPr>
          <p:nvPr/>
        </p:nvSpPr>
        <p:spPr>
          <a:xfrm>
            <a:off x="5258186" y="5449050"/>
            <a:ext cx="1728192" cy="648072"/>
          </a:xfrm>
          <a:prstGeom prst="rect">
            <a:avLst/>
          </a:prstGeom>
        </p:spPr>
        <p:txBody>
          <a:bodyPr/>
          <a:lstStyle/>
          <a:p>
            <a:pPr algn="ctr"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1 - 3 слайда</a:t>
            </a: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24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E7167-93AC-45B8-975E-EB300E4CD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проектирования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3B1AE-48EE-42FA-8989-E3E8AEFBF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Ответ на вопрос - КАК система будет устроена, как она будет выполнять функции, выявленные на этапе моделирования. </a:t>
            </a:r>
          </a:p>
          <a:p>
            <a:r>
              <a:rPr lang="ru-RU" sz="2000" dirty="0"/>
              <a:t>В </a:t>
            </a:r>
            <a:r>
              <a:rPr lang="ru-RU" sz="2000" dirty="0" err="1"/>
              <a:t>т.ч</a:t>
            </a:r>
            <a:r>
              <a:rPr lang="ru-RU" sz="2000" dirty="0"/>
              <a:t>. архитектура системы, диаграммы компонентов и классов, проектирование взаимодействия компонентов системы, модели баз данных, проектирование  интерфейса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626DD7-7A04-46BC-87B1-4C818B43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FC2D17C-2CCF-47AF-9964-17E9EB25CDC8}"/>
              </a:ext>
            </a:extLst>
          </p:cNvPr>
          <p:cNvSpPr txBox="1">
            <a:spLocks/>
          </p:cNvSpPr>
          <p:nvPr/>
        </p:nvSpPr>
        <p:spPr>
          <a:xfrm>
            <a:off x="5258186" y="5449050"/>
            <a:ext cx="1728192" cy="648072"/>
          </a:xfrm>
          <a:prstGeom prst="rect">
            <a:avLst/>
          </a:prstGeom>
        </p:spPr>
        <p:txBody>
          <a:bodyPr/>
          <a:lstStyle/>
          <a:p>
            <a:pPr algn="ctr"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1 - 3 слайда</a:t>
            </a: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19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859FE-0C84-474E-96A4-72A9CAF3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C92BAB-7D78-4BA9-A36B-A660F58C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Обоснование и выбор инструментальных средств реализации (исп. платформы, фреймворки, библиотеки и т.п., если соответствующего выбора не выполнялось в анализе)</a:t>
            </a:r>
          </a:p>
          <a:p>
            <a:r>
              <a:rPr lang="ru-RU" sz="2000" dirty="0"/>
              <a:t>Описание основных сценариев использования</a:t>
            </a:r>
          </a:p>
          <a:p>
            <a:r>
              <a:rPr lang="ru-RU" sz="2000" dirty="0"/>
              <a:t>Скриншоты разработанного приложения</a:t>
            </a:r>
          </a:p>
          <a:p>
            <a:r>
              <a:rPr lang="ru-RU" sz="2000" dirty="0"/>
              <a:t>Сравнение полученной реализации с известными аналогами</a:t>
            </a:r>
          </a:p>
          <a:p>
            <a:r>
              <a:rPr lang="ru-RU" sz="2000" dirty="0"/>
              <a:t>Описание методики тестирования (в </a:t>
            </a:r>
            <a:r>
              <a:rPr lang="ru-RU" sz="2000" dirty="0" err="1"/>
              <a:t>т.ч</a:t>
            </a:r>
            <a:r>
              <a:rPr lang="ru-RU" sz="2000" dirty="0"/>
              <a:t>. тест-план, либо фрагменты), результаты тестирования в соответствии с методикой – в табличном виде, в виде графиков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7AA394-B5C2-4F01-84A1-584E5DBA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B6906E3-E097-4CF7-87D0-6D930550C773}"/>
              </a:ext>
            </a:extLst>
          </p:cNvPr>
          <p:cNvSpPr txBox="1">
            <a:spLocks/>
          </p:cNvSpPr>
          <p:nvPr/>
        </p:nvSpPr>
        <p:spPr>
          <a:xfrm>
            <a:off x="5258186" y="5449050"/>
            <a:ext cx="1728192" cy="648072"/>
          </a:xfrm>
          <a:prstGeom prst="rect">
            <a:avLst/>
          </a:prstGeom>
        </p:spPr>
        <p:txBody>
          <a:bodyPr/>
          <a:lstStyle/>
          <a:p>
            <a:pPr algn="ctr"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2 - 4 слайда</a:t>
            </a: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056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70E8A-0BFF-40FC-AF15-C98AA812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34DA04-64EE-4D42-8E87-D1252CF2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Попунктно</a:t>
            </a:r>
            <a:r>
              <a:rPr lang="ru-RU" sz="2000" dirty="0"/>
              <a:t> – полученные результаты: достигнутая цель и решенные задачи.</a:t>
            </a:r>
          </a:p>
          <a:p>
            <a:r>
              <a:rPr lang="ru-RU" sz="2000" dirty="0"/>
              <a:t>Множество решенных задач должно содержать результаты решения поставленных задач в качестве подмножества  - иными словами все поставленные задачи должны быть решены (либо дано объяснение, почему их решить не удалось или невозможно).</a:t>
            </a:r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D75472-FE73-482B-BBF9-3BAD5BF4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256C0AA-381F-4CD8-8272-9300CB29FF4F}"/>
              </a:ext>
            </a:extLst>
          </p:cNvPr>
          <p:cNvSpPr txBox="1">
            <a:spLocks/>
          </p:cNvSpPr>
          <p:nvPr/>
        </p:nvSpPr>
        <p:spPr>
          <a:xfrm>
            <a:off x="5258186" y="5449050"/>
            <a:ext cx="1728192" cy="648072"/>
          </a:xfrm>
          <a:prstGeom prst="rect">
            <a:avLst/>
          </a:prstGeom>
        </p:spPr>
        <p:txBody>
          <a:bodyPr/>
          <a:lstStyle/>
          <a:p>
            <a:pPr algn="ctr"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1 - 2 слайда</a:t>
            </a: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ru-RU" sz="2400" kern="0" dirty="0">
              <a:solidFill>
                <a:srgbClr val="FF0000"/>
              </a:solidFill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04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73F24-EC6D-43D3-9B5C-77330BE4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BE0A13-EBBD-48DB-AF3F-8247DFA98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На слайд выносятся основные использованные источники.</a:t>
            </a:r>
          </a:p>
          <a:p>
            <a:r>
              <a:rPr lang="ru-RU" sz="2000" dirty="0"/>
              <a:t>Студент должен быть готов ответить на вопросы: как и зачем был использован тот или иной источник.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Иванов В.В. … / …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Петров П.П. … / …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…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6E03B-A1D1-49B5-9182-3A8C3716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D49DCC9-927F-4E34-948F-EBC14E4F9690}"/>
              </a:ext>
            </a:extLst>
          </p:cNvPr>
          <p:cNvSpPr txBox="1">
            <a:spLocks/>
          </p:cNvSpPr>
          <p:nvPr/>
        </p:nvSpPr>
        <p:spPr>
          <a:xfrm>
            <a:off x="3714354" y="5464354"/>
            <a:ext cx="4763297" cy="648072"/>
          </a:xfrm>
          <a:prstGeom prst="rect">
            <a:avLst/>
          </a:prstGeom>
        </p:spPr>
        <p:txBody>
          <a:bodyPr/>
          <a:lstStyle/>
          <a:p>
            <a:pPr defTabSz="449263" eaLnBrk="0" fontAlgn="base" hangingPunct="0">
              <a:lnSpc>
                <a:spcPct val="97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ru-RU" sz="2400" kern="0" dirty="0">
                <a:solidFill>
                  <a:srgbClr val="FF0000"/>
                </a:solidFill>
                <a:sym typeface="Arial" pitchFamily="34" charset="0"/>
              </a:rPr>
              <a:t>Обычно от 3-х до 10 источников</a:t>
            </a:r>
          </a:p>
        </p:txBody>
      </p:sp>
    </p:spTree>
    <p:extLst>
      <p:ext uri="{BB962C8B-B14F-4D97-AF65-F5344CB8AC3E}">
        <p14:creationId xmlns:p14="http://schemas.microsoft.com/office/powerpoint/2010/main" val="3922664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0CA07-1D16-4A41-9EF8-149DA7D7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Апробация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9459D-61F9-4B79-980B-0ECCD94E4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По теме работы опубликовано:</a:t>
            </a:r>
          </a:p>
          <a:p>
            <a:pPr lvl="1"/>
            <a:r>
              <a:rPr lang="ru-RU" sz="1600" dirty="0"/>
              <a:t>… статей в журналах рекомендованных ВАК</a:t>
            </a:r>
          </a:p>
          <a:p>
            <a:pPr lvl="1"/>
            <a:r>
              <a:rPr lang="ru-RU" sz="1600" dirty="0"/>
              <a:t>… статей в журналах, индексированных РИНЦ</a:t>
            </a:r>
          </a:p>
          <a:p>
            <a:pPr lvl="1"/>
            <a:r>
              <a:rPr lang="ru-RU" sz="1600" dirty="0"/>
              <a:t>… статей в журналах, индексированных SCOPUS, </a:t>
            </a:r>
            <a:r>
              <a:rPr lang="ru-RU" sz="1600" dirty="0" err="1"/>
              <a:t>Web</a:t>
            </a:r>
            <a:r>
              <a:rPr lang="ru-RU" sz="1600" dirty="0"/>
              <a:t> </a:t>
            </a:r>
            <a:r>
              <a:rPr lang="ru-RU" sz="1600" dirty="0" err="1"/>
              <a:t>of</a:t>
            </a:r>
            <a:r>
              <a:rPr lang="ru-RU" sz="1600" dirty="0"/>
              <a:t> </a:t>
            </a:r>
            <a:r>
              <a:rPr lang="ru-RU" sz="1600" dirty="0" err="1"/>
              <a:t>Science</a:t>
            </a:r>
            <a:r>
              <a:rPr lang="ru-RU" sz="1600" dirty="0"/>
              <a:t> …</a:t>
            </a:r>
          </a:p>
          <a:p>
            <a:r>
              <a:rPr lang="ru-RU" sz="2000" dirty="0"/>
              <a:t>Получены патенты, акты о внедрении ….</a:t>
            </a:r>
          </a:p>
          <a:p>
            <a:pPr lvl="1"/>
            <a:r>
              <a:rPr lang="ru-RU" sz="1600" dirty="0"/>
              <a:t>…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C36EC5-1543-4058-8B48-7393A832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003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9CC55E-4EB3-4177-9E4C-130DE6DB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82390-5E8C-4CFA-AF90-B2445B96FD8B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80691-F45F-44E0-BF8C-9C2D6234271D}"/>
              </a:ext>
            </a:extLst>
          </p:cNvPr>
          <p:cNvSpPr txBox="1"/>
          <p:nvPr/>
        </p:nvSpPr>
        <p:spPr>
          <a:xfrm>
            <a:off x="4228176" y="2739377"/>
            <a:ext cx="37882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Arial Black" panose="020B0A040201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40619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942</TotalTime>
  <Words>665</Words>
  <Application>Microsoft Office PowerPoint</Application>
  <PresentationFormat>Широкоэкранный</PresentationFormat>
  <Paragraphs>87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Методические указания к подготовке презентации</vt:lpstr>
      <vt:lpstr>[Название выпускной квалификационной работы]</vt:lpstr>
      <vt:lpstr>Реферат</vt:lpstr>
      <vt:lpstr>Актуальность работы</vt:lpstr>
      <vt:lpstr>Цель ВКР</vt:lpstr>
      <vt:lpstr>Результаты анализа</vt:lpstr>
      <vt:lpstr>Задачи ВКР</vt:lpstr>
      <vt:lpstr>Результаты моделирования</vt:lpstr>
      <vt:lpstr>Результаты проектирования</vt:lpstr>
      <vt:lpstr>Результаты реализации</vt:lpstr>
      <vt:lpstr>Заключение</vt:lpstr>
      <vt:lpstr>Список литературы</vt:lpstr>
      <vt:lpstr>Апробация результатов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V. R.</dc:creator>
  <cp:lastModifiedBy>V. R.</cp:lastModifiedBy>
  <cp:revision>14</cp:revision>
  <dcterms:created xsi:type="dcterms:W3CDTF">2017-09-30T21:27:42Z</dcterms:created>
  <dcterms:modified xsi:type="dcterms:W3CDTF">2021-05-14T07:08:22Z</dcterms:modified>
</cp:coreProperties>
</file>